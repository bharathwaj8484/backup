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7" r:id="rId2"/>
    <p:sldId id="262" r:id="rId3"/>
    <p:sldId id="259" r:id="rId4"/>
    <p:sldId id="260" r:id="rId5"/>
    <p:sldId id="258" r:id="rId6"/>
    <p:sldId id="265" r:id="rId7"/>
    <p:sldId id="264" r:id="rId8"/>
    <p:sldId id="263" r:id="rId9"/>
    <p:sldId id="267" r:id="rId10"/>
    <p:sldId id="266" r:id="rId11"/>
    <p:sldId id="268" r:id="rId12"/>
    <p:sldId id="283" r:id="rId13"/>
    <p:sldId id="270" r:id="rId14"/>
    <p:sldId id="271" r:id="rId15"/>
    <p:sldId id="269" r:id="rId16"/>
    <p:sldId id="284" r:id="rId17"/>
    <p:sldId id="272" r:id="rId18"/>
    <p:sldId id="273" r:id="rId19"/>
    <p:sldId id="274" r:id="rId20"/>
    <p:sldId id="275" r:id="rId21"/>
    <p:sldId id="285" r:id="rId22"/>
    <p:sldId id="276" r:id="rId23"/>
    <p:sldId id="282" r:id="rId24"/>
    <p:sldId id="286" r:id="rId25"/>
    <p:sldId id="278"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3746"/>
    <a:srgbClr val="D41ACB"/>
    <a:srgbClr val="E840E0"/>
    <a:srgbClr val="F6B644"/>
    <a:srgbClr val="EEEAE9"/>
    <a:srgbClr val="F3EFEE"/>
    <a:srgbClr val="EBE7E6"/>
    <a:srgbClr val="EFEBEA"/>
    <a:srgbClr val="E2DE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9" d="100"/>
          <a:sy n="89" d="100"/>
        </p:scale>
        <p:origin x="101"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7F8676-3EEA-4EFF-BFFF-4AE41E8070EA}" type="datetimeFigureOut">
              <a:rPr lang="en-IN" smtClean="0"/>
              <a:t>23-08-2024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9BAD8A-B40A-453C-A7D1-8E16A46A40DE}" type="slidenum">
              <a:rPr lang="en-IN" smtClean="0"/>
              <a:t>‹#›</a:t>
            </a:fld>
            <a:endParaRPr lang="en-IN"/>
          </a:p>
        </p:txBody>
      </p:sp>
    </p:spTree>
    <p:extLst>
      <p:ext uri="{BB962C8B-B14F-4D97-AF65-F5344CB8AC3E}">
        <p14:creationId xmlns:p14="http://schemas.microsoft.com/office/powerpoint/2010/main" val="1245204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79674-BB72-46C0-8CF4-D23F6DAB70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5885CED-518A-4D71-A28C-7AF6C5A33B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72772E7-4C24-4E55-92FF-B340B732E529}"/>
              </a:ext>
            </a:extLst>
          </p:cNvPr>
          <p:cNvSpPr>
            <a:spLocks noGrp="1"/>
          </p:cNvSpPr>
          <p:nvPr>
            <p:ph type="dt" sz="half" idx="10"/>
          </p:nvPr>
        </p:nvSpPr>
        <p:spPr/>
        <p:txBody>
          <a:bodyPr/>
          <a:lstStyle/>
          <a:p>
            <a:fld id="{0725D72F-F361-491D-BAB5-0978424D4F65}" type="datetimeFigureOut">
              <a:rPr lang="en-IN" smtClean="0"/>
              <a:t>23-08-2024</a:t>
            </a:fld>
            <a:endParaRPr lang="en-IN"/>
          </a:p>
        </p:txBody>
      </p:sp>
      <p:sp>
        <p:nvSpPr>
          <p:cNvPr id="5" name="Footer Placeholder 4">
            <a:extLst>
              <a:ext uri="{FF2B5EF4-FFF2-40B4-BE49-F238E27FC236}">
                <a16:creationId xmlns:a16="http://schemas.microsoft.com/office/drawing/2014/main" id="{5ED3D11B-5C08-405C-928E-EED5C0C479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44A649-E749-4F6C-8899-1D8B7A5AFC21}"/>
              </a:ext>
            </a:extLst>
          </p:cNvPr>
          <p:cNvSpPr>
            <a:spLocks noGrp="1"/>
          </p:cNvSpPr>
          <p:nvPr>
            <p:ph type="sldNum" sz="quarter" idx="12"/>
          </p:nvPr>
        </p:nvSpPr>
        <p:spPr/>
        <p:txBody>
          <a:bodyPr/>
          <a:lstStyle/>
          <a:p>
            <a:fld id="{A6BDB9BE-E0C7-4BF7-BC98-088C5E81E10F}" type="slidenum">
              <a:rPr lang="en-IN" smtClean="0"/>
              <a:t>‹#›</a:t>
            </a:fld>
            <a:endParaRPr lang="en-IN"/>
          </a:p>
        </p:txBody>
      </p:sp>
    </p:spTree>
    <p:extLst>
      <p:ext uri="{BB962C8B-B14F-4D97-AF65-F5344CB8AC3E}">
        <p14:creationId xmlns:p14="http://schemas.microsoft.com/office/powerpoint/2010/main" val="2534330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9CDFA-CA92-4E3A-9902-1EC076FD4E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BFB499-C72C-4C02-BD99-30FA64AAA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D7801-6651-4724-A6B6-2C2E7B13A6E5}"/>
              </a:ext>
            </a:extLst>
          </p:cNvPr>
          <p:cNvSpPr>
            <a:spLocks noGrp="1"/>
          </p:cNvSpPr>
          <p:nvPr>
            <p:ph type="dt" sz="half" idx="10"/>
          </p:nvPr>
        </p:nvSpPr>
        <p:spPr/>
        <p:txBody>
          <a:bodyPr/>
          <a:lstStyle/>
          <a:p>
            <a:fld id="{0725D72F-F361-491D-BAB5-0978424D4F65}" type="datetimeFigureOut">
              <a:rPr lang="en-IN" smtClean="0"/>
              <a:t>23-08-2024</a:t>
            </a:fld>
            <a:endParaRPr lang="en-IN"/>
          </a:p>
        </p:txBody>
      </p:sp>
      <p:sp>
        <p:nvSpPr>
          <p:cNvPr id="5" name="Footer Placeholder 4">
            <a:extLst>
              <a:ext uri="{FF2B5EF4-FFF2-40B4-BE49-F238E27FC236}">
                <a16:creationId xmlns:a16="http://schemas.microsoft.com/office/drawing/2014/main" id="{D38DF8E5-DE9C-4FFF-808C-224F1BF2A4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4B5284-6F5A-47AC-A60F-8C8FFC598E54}"/>
              </a:ext>
            </a:extLst>
          </p:cNvPr>
          <p:cNvSpPr>
            <a:spLocks noGrp="1"/>
          </p:cNvSpPr>
          <p:nvPr>
            <p:ph type="sldNum" sz="quarter" idx="12"/>
          </p:nvPr>
        </p:nvSpPr>
        <p:spPr/>
        <p:txBody>
          <a:bodyPr/>
          <a:lstStyle/>
          <a:p>
            <a:fld id="{A6BDB9BE-E0C7-4BF7-BC98-088C5E81E10F}" type="slidenum">
              <a:rPr lang="en-IN" smtClean="0"/>
              <a:t>‹#›</a:t>
            </a:fld>
            <a:endParaRPr lang="en-IN"/>
          </a:p>
        </p:txBody>
      </p:sp>
    </p:spTree>
    <p:extLst>
      <p:ext uri="{BB962C8B-B14F-4D97-AF65-F5344CB8AC3E}">
        <p14:creationId xmlns:p14="http://schemas.microsoft.com/office/powerpoint/2010/main" val="1622245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C0288-FA4F-4F33-B719-029FBB67E6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ED5079-9447-4289-9F20-B512FF55FB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91F3D9-94AD-4439-ACD6-FDC946D67BA6}"/>
              </a:ext>
            </a:extLst>
          </p:cNvPr>
          <p:cNvSpPr>
            <a:spLocks noGrp="1"/>
          </p:cNvSpPr>
          <p:nvPr>
            <p:ph type="dt" sz="half" idx="10"/>
          </p:nvPr>
        </p:nvSpPr>
        <p:spPr/>
        <p:txBody>
          <a:bodyPr/>
          <a:lstStyle/>
          <a:p>
            <a:fld id="{0725D72F-F361-491D-BAB5-0978424D4F65}" type="datetimeFigureOut">
              <a:rPr lang="en-IN" smtClean="0"/>
              <a:t>23-08-2024</a:t>
            </a:fld>
            <a:endParaRPr lang="en-IN"/>
          </a:p>
        </p:txBody>
      </p:sp>
      <p:sp>
        <p:nvSpPr>
          <p:cNvPr id="5" name="Footer Placeholder 4">
            <a:extLst>
              <a:ext uri="{FF2B5EF4-FFF2-40B4-BE49-F238E27FC236}">
                <a16:creationId xmlns:a16="http://schemas.microsoft.com/office/drawing/2014/main" id="{BF9BE4A6-E5BF-4C25-9266-D351C2CB7C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882B4E-B07B-4230-A7CA-9244C6C87F53}"/>
              </a:ext>
            </a:extLst>
          </p:cNvPr>
          <p:cNvSpPr>
            <a:spLocks noGrp="1"/>
          </p:cNvSpPr>
          <p:nvPr>
            <p:ph type="sldNum" sz="quarter" idx="12"/>
          </p:nvPr>
        </p:nvSpPr>
        <p:spPr/>
        <p:txBody>
          <a:bodyPr/>
          <a:lstStyle/>
          <a:p>
            <a:fld id="{A6BDB9BE-E0C7-4BF7-BC98-088C5E81E10F}" type="slidenum">
              <a:rPr lang="en-IN" smtClean="0"/>
              <a:t>‹#›</a:t>
            </a:fld>
            <a:endParaRPr lang="en-IN"/>
          </a:p>
        </p:txBody>
      </p:sp>
    </p:spTree>
    <p:extLst>
      <p:ext uri="{BB962C8B-B14F-4D97-AF65-F5344CB8AC3E}">
        <p14:creationId xmlns:p14="http://schemas.microsoft.com/office/powerpoint/2010/main" val="2015788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AAC94-6D87-46CA-8C3E-E2E544F1D36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8A2D0E-E6B6-4118-98F2-5B9B0274FC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4A34C74-3C90-4F55-818C-02255E6719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00ED3E9-3D96-4054-835D-51781A0AF25A}"/>
              </a:ext>
            </a:extLst>
          </p:cNvPr>
          <p:cNvSpPr>
            <a:spLocks noGrp="1"/>
          </p:cNvSpPr>
          <p:nvPr>
            <p:ph type="dt" sz="half" idx="10"/>
          </p:nvPr>
        </p:nvSpPr>
        <p:spPr/>
        <p:txBody>
          <a:bodyPr/>
          <a:lstStyle/>
          <a:p>
            <a:fld id="{0725D72F-F361-491D-BAB5-0978424D4F65}" type="datetimeFigureOut">
              <a:rPr lang="en-IN" smtClean="0"/>
              <a:t>23-08-2024</a:t>
            </a:fld>
            <a:endParaRPr lang="en-IN"/>
          </a:p>
        </p:txBody>
      </p:sp>
      <p:sp>
        <p:nvSpPr>
          <p:cNvPr id="6" name="Footer Placeholder 5">
            <a:extLst>
              <a:ext uri="{FF2B5EF4-FFF2-40B4-BE49-F238E27FC236}">
                <a16:creationId xmlns:a16="http://schemas.microsoft.com/office/drawing/2014/main" id="{02259CE1-2698-4438-81A1-F85E81637B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38EEAC-019B-4F21-8273-19DD674D198E}"/>
              </a:ext>
            </a:extLst>
          </p:cNvPr>
          <p:cNvSpPr>
            <a:spLocks noGrp="1"/>
          </p:cNvSpPr>
          <p:nvPr>
            <p:ph type="sldNum" sz="quarter" idx="12"/>
          </p:nvPr>
        </p:nvSpPr>
        <p:spPr/>
        <p:txBody>
          <a:bodyPr/>
          <a:lstStyle/>
          <a:p>
            <a:fld id="{A6BDB9BE-E0C7-4BF7-BC98-088C5E81E10F}" type="slidenum">
              <a:rPr lang="en-IN" smtClean="0"/>
              <a:t>‹#›</a:t>
            </a:fld>
            <a:endParaRPr lang="en-IN"/>
          </a:p>
        </p:txBody>
      </p:sp>
    </p:spTree>
    <p:extLst>
      <p:ext uri="{BB962C8B-B14F-4D97-AF65-F5344CB8AC3E}">
        <p14:creationId xmlns:p14="http://schemas.microsoft.com/office/powerpoint/2010/main" val="527738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84DAA-0688-48BF-8C2E-EE97E006C12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B628B29-CBC5-465C-8009-CD4D77D5B6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89DE2A-044F-4196-B435-812E6F4D42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6A0D08B-D4F4-43F2-9849-9D06223AAE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726030-E4F0-4A8F-9EE9-1120DA8897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885F56-07F8-4983-89B1-5C958C7511D5}"/>
              </a:ext>
            </a:extLst>
          </p:cNvPr>
          <p:cNvSpPr>
            <a:spLocks noGrp="1"/>
          </p:cNvSpPr>
          <p:nvPr>
            <p:ph type="dt" sz="half" idx="10"/>
          </p:nvPr>
        </p:nvSpPr>
        <p:spPr/>
        <p:txBody>
          <a:bodyPr/>
          <a:lstStyle/>
          <a:p>
            <a:fld id="{0725D72F-F361-491D-BAB5-0978424D4F65}" type="datetimeFigureOut">
              <a:rPr lang="en-IN" smtClean="0"/>
              <a:t>23-08-2024</a:t>
            </a:fld>
            <a:endParaRPr lang="en-IN"/>
          </a:p>
        </p:txBody>
      </p:sp>
      <p:sp>
        <p:nvSpPr>
          <p:cNvPr id="8" name="Footer Placeholder 7">
            <a:extLst>
              <a:ext uri="{FF2B5EF4-FFF2-40B4-BE49-F238E27FC236}">
                <a16:creationId xmlns:a16="http://schemas.microsoft.com/office/drawing/2014/main" id="{8EE47FEC-9475-4B9F-8C25-7A9983A752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41E1AD9-061F-4B24-9F51-5F665640E6E7}"/>
              </a:ext>
            </a:extLst>
          </p:cNvPr>
          <p:cNvSpPr>
            <a:spLocks noGrp="1"/>
          </p:cNvSpPr>
          <p:nvPr>
            <p:ph type="sldNum" sz="quarter" idx="12"/>
          </p:nvPr>
        </p:nvSpPr>
        <p:spPr/>
        <p:txBody>
          <a:bodyPr/>
          <a:lstStyle/>
          <a:p>
            <a:fld id="{A6BDB9BE-E0C7-4BF7-BC98-088C5E81E10F}" type="slidenum">
              <a:rPr lang="en-IN" smtClean="0"/>
              <a:t>‹#›</a:t>
            </a:fld>
            <a:endParaRPr lang="en-IN"/>
          </a:p>
        </p:txBody>
      </p:sp>
    </p:spTree>
    <p:extLst>
      <p:ext uri="{BB962C8B-B14F-4D97-AF65-F5344CB8AC3E}">
        <p14:creationId xmlns:p14="http://schemas.microsoft.com/office/powerpoint/2010/main" val="3074924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6B42-E81B-42D8-8709-82A42FC675B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A5E39DA-F729-4408-A0AA-D65FD88FDDD2}"/>
              </a:ext>
            </a:extLst>
          </p:cNvPr>
          <p:cNvSpPr>
            <a:spLocks noGrp="1"/>
          </p:cNvSpPr>
          <p:nvPr>
            <p:ph type="dt" sz="half" idx="10"/>
          </p:nvPr>
        </p:nvSpPr>
        <p:spPr/>
        <p:txBody>
          <a:bodyPr/>
          <a:lstStyle/>
          <a:p>
            <a:fld id="{0725D72F-F361-491D-BAB5-0978424D4F65}" type="datetimeFigureOut">
              <a:rPr lang="en-IN" smtClean="0"/>
              <a:t>23-08-2024</a:t>
            </a:fld>
            <a:endParaRPr lang="en-IN"/>
          </a:p>
        </p:txBody>
      </p:sp>
      <p:sp>
        <p:nvSpPr>
          <p:cNvPr id="4" name="Footer Placeholder 3">
            <a:extLst>
              <a:ext uri="{FF2B5EF4-FFF2-40B4-BE49-F238E27FC236}">
                <a16:creationId xmlns:a16="http://schemas.microsoft.com/office/drawing/2014/main" id="{C0DB00F3-374B-492D-982B-E216CD0D7B7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8FE2EC4-37A0-4A14-A0EB-38505E82BBF2}"/>
              </a:ext>
            </a:extLst>
          </p:cNvPr>
          <p:cNvSpPr>
            <a:spLocks noGrp="1"/>
          </p:cNvSpPr>
          <p:nvPr>
            <p:ph type="sldNum" sz="quarter" idx="12"/>
          </p:nvPr>
        </p:nvSpPr>
        <p:spPr/>
        <p:txBody>
          <a:bodyPr/>
          <a:lstStyle/>
          <a:p>
            <a:fld id="{A6BDB9BE-E0C7-4BF7-BC98-088C5E81E10F}" type="slidenum">
              <a:rPr lang="en-IN" smtClean="0"/>
              <a:t>‹#›</a:t>
            </a:fld>
            <a:endParaRPr lang="en-IN"/>
          </a:p>
        </p:txBody>
      </p:sp>
    </p:spTree>
    <p:extLst>
      <p:ext uri="{BB962C8B-B14F-4D97-AF65-F5344CB8AC3E}">
        <p14:creationId xmlns:p14="http://schemas.microsoft.com/office/powerpoint/2010/main" val="3440580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BFE993-EB9F-400E-B5D0-9C89E4F2C0FB}"/>
              </a:ext>
            </a:extLst>
          </p:cNvPr>
          <p:cNvSpPr>
            <a:spLocks noGrp="1"/>
          </p:cNvSpPr>
          <p:nvPr>
            <p:ph type="dt" sz="half" idx="10"/>
          </p:nvPr>
        </p:nvSpPr>
        <p:spPr/>
        <p:txBody>
          <a:bodyPr/>
          <a:lstStyle/>
          <a:p>
            <a:fld id="{0725D72F-F361-491D-BAB5-0978424D4F65}" type="datetimeFigureOut">
              <a:rPr lang="en-IN" smtClean="0"/>
              <a:t>23-08-2024</a:t>
            </a:fld>
            <a:endParaRPr lang="en-IN"/>
          </a:p>
        </p:txBody>
      </p:sp>
      <p:sp>
        <p:nvSpPr>
          <p:cNvPr id="3" name="Footer Placeholder 2">
            <a:extLst>
              <a:ext uri="{FF2B5EF4-FFF2-40B4-BE49-F238E27FC236}">
                <a16:creationId xmlns:a16="http://schemas.microsoft.com/office/drawing/2014/main" id="{97953B78-ADB1-4A02-8617-E5A3CD4BD57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F212ED6-5FF1-46DC-AA6C-1C3B59C21F40}"/>
              </a:ext>
            </a:extLst>
          </p:cNvPr>
          <p:cNvSpPr>
            <a:spLocks noGrp="1"/>
          </p:cNvSpPr>
          <p:nvPr>
            <p:ph type="sldNum" sz="quarter" idx="12"/>
          </p:nvPr>
        </p:nvSpPr>
        <p:spPr/>
        <p:txBody>
          <a:bodyPr/>
          <a:lstStyle/>
          <a:p>
            <a:fld id="{A6BDB9BE-E0C7-4BF7-BC98-088C5E81E10F}" type="slidenum">
              <a:rPr lang="en-IN" smtClean="0"/>
              <a:t>‹#›</a:t>
            </a:fld>
            <a:endParaRPr lang="en-IN"/>
          </a:p>
        </p:txBody>
      </p:sp>
    </p:spTree>
    <p:extLst>
      <p:ext uri="{BB962C8B-B14F-4D97-AF65-F5344CB8AC3E}">
        <p14:creationId xmlns:p14="http://schemas.microsoft.com/office/powerpoint/2010/main" val="2190272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C84F7-C44D-4D89-A2E7-6EB3792402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74FDF09-4AC6-4E25-95C6-FB190C5A5A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FCB628-3803-4D52-BB13-29B0E8E73E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E69D5D-AEDD-48ED-AB53-1CF35E720F08}"/>
              </a:ext>
            </a:extLst>
          </p:cNvPr>
          <p:cNvSpPr>
            <a:spLocks noGrp="1"/>
          </p:cNvSpPr>
          <p:nvPr>
            <p:ph type="dt" sz="half" idx="10"/>
          </p:nvPr>
        </p:nvSpPr>
        <p:spPr/>
        <p:txBody>
          <a:bodyPr/>
          <a:lstStyle/>
          <a:p>
            <a:fld id="{0725D72F-F361-491D-BAB5-0978424D4F65}" type="datetimeFigureOut">
              <a:rPr lang="en-IN" smtClean="0"/>
              <a:t>23-08-2024</a:t>
            </a:fld>
            <a:endParaRPr lang="en-IN"/>
          </a:p>
        </p:txBody>
      </p:sp>
      <p:sp>
        <p:nvSpPr>
          <p:cNvPr id="6" name="Footer Placeholder 5">
            <a:extLst>
              <a:ext uri="{FF2B5EF4-FFF2-40B4-BE49-F238E27FC236}">
                <a16:creationId xmlns:a16="http://schemas.microsoft.com/office/drawing/2014/main" id="{B51EE4F3-47E8-43AE-9D30-EEA90C22D5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7FE081-2EB7-4133-817A-16B1267B28D4}"/>
              </a:ext>
            </a:extLst>
          </p:cNvPr>
          <p:cNvSpPr>
            <a:spLocks noGrp="1"/>
          </p:cNvSpPr>
          <p:nvPr>
            <p:ph type="sldNum" sz="quarter" idx="12"/>
          </p:nvPr>
        </p:nvSpPr>
        <p:spPr/>
        <p:txBody>
          <a:bodyPr/>
          <a:lstStyle/>
          <a:p>
            <a:fld id="{A6BDB9BE-E0C7-4BF7-BC98-088C5E81E10F}" type="slidenum">
              <a:rPr lang="en-IN" smtClean="0"/>
              <a:t>‹#›</a:t>
            </a:fld>
            <a:endParaRPr lang="en-IN"/>
          </a:p>
        </p:txBody>
      </p:sp>
    </p:spTree>
    <p:extLst>
      <p:ext uri="{BB962C8B-B14F-4D97-AF65-F5344CB8AC3E}">
        <p14:creationId xmlns:p14="http://schemas.microsoft.com/office/powerpoint/2010/main" val="3390770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54EF6-56C6-4E9C-A2C1-66D6AFC60B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411284-26AF-4256-89B3-48841561FF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C3E85D-7CC9-4C42-A9C9-CD7919C48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CEC916-42B6-4EDF-A8A8-D07A70145691}"/>
              </a:ext>
            </a:extLst>
          </p:cNvPr>
          <p:cNvSpPr>
            <a:spLocks noGrp="1"/>
          </p:cNvSpPr>
          <p:nvPr>
            <p:ph type="dt" sz="half" idx="10"/>
          </p:nvPr>
        </p:nvSpPr>
        <p:spPr/>
        <p:txBody>
          <a:bodyPr/>
          <a:lstStyle/>
          <a:p>
            <a:fld id="{0725D72F-F361-491D-BAB5-0978424D4F65}" type="datetimeFigureOut">
              <a:rPr lang="en-IN" smtClean="0"/>
              <a:t>23-08-2024</a:t>
            </a:fld>
            <a:endParaRPr lang="en-IN"/>
          </a:p>
        </p:txBody>
      </p:sp>
      <p:sp>
        <p:nvSpPr>
          <p:cNvPr id="6" name="Footer Placeholder 5">
            <a:extLst>
              <a:ext uri="{FF2B5EF4-FFF2-40B4-BE49-F238E27FC236}">
                <a16:creationId xmlns:a16="http://schemas.microsoft.com/office/drawing/2014/main" id="{E02C9BA8-FB88-4A13-A88B-F85BD4300A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DB5F623-F648-46E1-8147-A8F38D9E3904}"/>
              </a:ext>
            </a:extLst>
          </p:cNvPr>
          <p:cNvSpPr>
            <a:spLocks noGrp="1"/>
          </p:cNvSpPr>
          <p:nvPr>
            <p:ph type="sldNum" sz="quarter" idx="12"/>
          </p:nvPr>
        </p:nvSpPr>
        <p:spPr/>
        <p:txBody>
          <a:bodyPr/>
          <a:lstStyle/>
          <a:p>
            <a:fld id="{A6BDB9BE-E0C7-4BF7-BC98-088C5E81E10F}" type="slidenum">
              <a:rPr lang="en-IN" smtClean="0"/>
              <a:t>‹#›</a:t>
            </a:fld>
            <a:endParaRPr lang="en-IN"/>
          </a:p>
        </p:txBody>
      </p:sp>
    </p:spTree>
    <p:extLst>
      <p:ext uri="{BB962C8B-B14F-4D97-AF65-F5344CB8AC3E}">
        <p14:creationId xmlns:p14="http://schemas.microsoft.com/office/powerpoint/2010/main" val="1020683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37ADF-9A12-4A00-BE5D-3194FCDB621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6A04AB-CF1F-4A8C-98DF-23AFBF7F21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29ED5B-C54E-468E-9DE8-439211845E72}"/>
              </a:ext>
            </a:extLst>
          </p:cNvPr>
          <p:cNvSpPr>
            <a:spLocks noGrp="1"/>
          </p:cNvSpPr>
          <p:nvPr>
            <p:ph type="dt" sz="half" idx="10"/>
          </p:nvPr>
        </p:nvSpPr>
        <p:spPr/>
        <p:txBody>
          <a:bodyPr/>
          <a:lstStyle/>
          <a:p>
            <a:fld id="{0725D72F-F361-491D-BAB5-0978424D4F65}" type="datetimeFigureOut">
              <a:rPr lang="en-IN" smtClean="0"/>
              <a:t>23-08-2024</a:t>
            </a:fld>
            <a:endParaRPr lang="en-IN"/>
          </a:p>
        </p:txBody>
      </p:sp>
      <p:sp>
        <p:nvSpPr>
          <p:cNvPr id="5" name="Footer Placeholder 4">
            <a:extLst>
              <a:ext uri="{FF2B5EF4-FFF2-40B4-BE49-F238E27FC236}">
                <a16:creationId xmlns:a16="http://schemas.microsoft.com/office/drawing/2014/main" id="{DA20CAA0-261F-4A32-887F-FD839042E5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A1D445-FAD5-4EF5-AAD3-3BCE30EAC3EC}"/>
              </a:ext>
            </a:extLst>
          </p:cNvPr>
          <p:cNvSpPr>
            <a:spLocks noGrp="1"/>
          </p:cNvSpPr>
          <p:nvPr>
            <p:ph type="sldNum" sz="quarter" idx="12"/>
          </p:nvPr>
        </p:nvSpPr>
        <p:spPr/>
        <p:txBody>
          <a:bodyPr/>
          <a:lstStyle/>
          <a:p>
            <a:fld id="{A6BDB9BE-E0C7-4BF7-BC98-088C5E81E10F}" type="slidenum">
              <a:rPr lang="en-IN" smtClean="0"/>
              <a:t>‹#›</a:t>
            </a:fld>
            <a:endParaRPr lang="en-IN"/>
          </a:p>
        </p:txBody>
      </p:sp>
    </p:spTree>
    <p:extLst>
      <p:ext uri="{BB962C8B-B14F-4D97-AF65-F5344CB8AC3E}">
        <p14:creationId xmlns:p14="http://schemas.microsoft.com/office/powerpoint/2010/main" val="1298309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927F40-F648-494C-B0AB-67B36F1800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924473-4F0A-4912-B033-34E766EC12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78278E-E540-46A2-ABB6-5C0F2C9CCA18}"/>
              </a:ext>
            </a:extLst>
          </p:cNvPr>
          <p:cNvSpPr>
            <a:spLocks noGrp="1"/>
          </p:cNvSpPr>
          <p:nvPr>
            <p:ph type="dt" sz="half" idx="10"/>
          </p:nvPr>
        </p:nvSpPr>
        <p:spPr/>
        <p:txBody>
          <a:bodyPr/>
          <a:lstStyle/>
          <a:p>
            <a:fld id="{0725D72F-F361-491D-BAB5-0978424D4F65}" type="datetimeFigureOut">
              <a:rPr lang="en-IN" smtClean="0"/>
              <a:t>23-08-2024</a:t>
            </a:fld>
            <a:endParaRPr lang="en-IN"/>
          </a:p>
        </p:txBody>
      </p:sp>
      <p:sp>
        <p:nvSpPr>
          <p:cNvPr id="5" name="Footer Placeholder 4">
            <a:extLst>
              <a:ext uri="{FF2B5EF4-FFF2-40B4-BE49-F238E27FC236}">
                <a16:creationId xmlns:a16="http://schemas.microsoft.com/office/drawing/2014/main" id="{40753770-77D6-4782-BFDF-39AB992304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17AE56-2A53-4333-BDDA-FC1DDD029CEE}"/>
              </a:ext>
            </a:extLst>
          </p:cNvPr>
          <p:cNvSpPr>
            <a:spLocks noGrp="1"/>
          </p:cNvSpPr>
          <p:nvPr>
            <p:ph type="sldNum" sz="quarter" idx="12"/>
          </p:nvPr>
        </p:nvSpPr>
        <p:spPr/>
        <p:txBody>
          <a:bodyPr/>
          <a:lstStyle/>
          <a:p>
            <a:fld id="{A6BDB9BE-E0C7-4BF7-BC98-088C5E81E10F}" type="slidenum">
              <a:rPr lang="en-IN" smtClean="0"/>
              <a:t>‹#›</a:t>
            </a:fld>
            <a:endParaRPr lang="en-IN"/>
          </a:p>
        </p:txBody>
      </p:sp>
    </p:spTree>
    <p:extLst>
      <p:ext uri="{BB962C8B-B14F-4D97-AF65-F5344CB8AC3E}">
        <p14:creationId xmlns:p14="http://schemas.microsoft.com/office/powerpoint/2010/main" val="1560067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76FA64-F105-48DB-B978-FBBF2EBA00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8B254D0-64D2-485C-B6F9-14930B4988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857C00-3D1F-4A23-9EA7-E8EDF19C5A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25D72F-F361-491D-BAB5-0978424D4F65}" type="datetimeFigureOut">
              <a:rPr lang="en-IN" smtClean="0"/>
              <a:t>23-08-2024</a:t>
            </a:fld>
            <a:endParaRPr lang="en-IN"/>
          </a:p>
        </p:txBody>
      </p:sp>
      <p:sp>
        <p:nvSpPr>
          <p:cNvPr id="5" name="Footer Placeholder 4">
            <a:extLst>
              <a:ext uri="{FF2B5EF4-FFF2-40B4-BE49-F238E27FC236}">
                <a16:creationId xmlns:a16="http://schemas.microsoft.com/office/drawing/2014/main" id="{A5CD684D-DF0D-4283-AE34-DCC519396A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028F208-144D-4619-93ED-56A6815265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BDB9BE-E0C7-4BF7-BC98-088C5E81E10F}" type="slidenum">
              <a:rPr lang="en-IN" smtClean="0"/>
              <a:t>‹#›</a:t>
            </a:fld>
            <a:endParaRPr lang="en-IN"/>
          </a:p>
        </p:txBody>
      </p:sp>
    </p:spTree>
    <p:extLst>
      <p:ext uri="{BB962C8B-B14F-4D97-AF65-F5344CB8AC3E}">
        <p14:creationId xmlns:p14="http://schemas.microsoft.com/office/powerpoint/2010/main" val="4185897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192124033.sse@saveetha.com"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hyperlink" Target="mailto:192124033.sse@saveetha.com"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7.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schemeClr>
            </a:gs>
            <a:gs pos="0">
              <a:schemeClr val="accent2">
                <a:lumMod val="60000"/>
                <a:lumOff val="40000"/>
              </a:schemeClr>
            </a:gs>
            <a:gs pos="100000">
              <a:srgbClr val="91420D"/>
            </a:gs>
            <a:gs pos="54000">
              <a:schemeClr val="accent2">
                <a:lumMod val="75000"/>
              </a:schemeClr>
            </a:gs>
            <a:gs pos="100000">
              <a:schemeClr val="accent2">
                <a:lumMod val="5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31721B46-2048-4D8C-A862-3DACCEEF2AB6}"/>
              </a:ext>
            </a:extLst>
          </p:cNvPr>
          <p:cNvSpPr txBox="1"/>
          <p:nvPr/>
        </p:nvSpPr>
        <p:spPr>
          <a:xfrm>
            <a:off x="182880" y="2529840"/>
            <a:ext cx="5120640" cy="2246769"/>
          </a:xfrm>
          <a:prstGeom prst="rect">
            <a:avLst/>
          </a:prstGeom>
          <a:noFill/>
        </p:spPr>
        <p:txBody>
          <a:bodyPr wrap="square" rtlCol="0">
            <a:spAutoFit/>
          </a:bodyPr>
          <a:lstStyle/>
          <a:p>
            <a:pPr lvl="1"/>
            <a:r>
              <a:rPr lang="en-US" sz="7000" dirty="0">
                <a:solidFill>
                  <a:schemeClr val="bg2"/>
                </a:solidFill>
                <a:effectLst>
                  <a:outerShdw blurRad="50800" dist="38100" dir="8100000" algn="tr" rotWithShape="0">
                    <a:prstClr val="black">
                      <a:alpha val="40000"/>
                    </a:prstClr>
                  </a:outerShdw>
                </a:effectLst>
                <a:latin typeface="Comic Sans MS" panose="030F0702030302020204" pitchFamily="66" charset="0"/>
              </a:rPr>
              <a:t>Welcome </a:t>
            </a:r>
          </a:p>
          <a:p>
            <a:pPr lvl="1"/>
            <a:r>
              <a:rPr lang="en-US" sz="7000" dirty="0">
                <a:solidFill>
                  <a:schemeClr val="bg2"/>
                </a:solidFill>
                <a:effectLst>
                  <a:outerShdw blurRad="50800" dist="38100" dir="8100000" algn="tr" rotWithShape="0">
                    <a:prstClr val="black">
                      <a:alpha val="40000"/>
                    </a:prstClr>
                  </a:outerShdw>
                </a:effectLst>
                <a:latin typeface="Comic Sans MS" panose="030F0702030302020204" pitchFamily="66" charset="0"/>
              </a:rPr>
              <a:t>Everyone!</a:t>
            </a:r>
            <a:endParaRPr lang="en-IN" sz="7000" dirty="0">
              <a:solidFill>
                <a:schemeClr val="bg2"/>
              </a:solidFill>
              <a:effectLst>
                <a:outerShdw blurRad="50800" dist="38100" dir="8100000" algn="tr" rotWithShape="0">
                  <a:prstClr val="black">
                    <a:alpha val="40000"/>
                  </a:prstClr>
                </a:outerShdw>
              </a:effectLst>
              <a:latin typeface="Comic Sans MS" panose="030F0702030302020204" pitchFamily="66" charset="0"/>
            </a:endParaRPr>
          </a:p>
        </p:txBody>
      </p:sp>
      <p:sp>
        <p:nvSpPr>
          <p:cNvPr id="40" name="Freeform: Shape 39">
            <a:extLst>
              <a:ext uri="{FF2B5EF4-FFF2-40B4-BE49-F238E27FC236}">
                <a16:creationId xmlns:a16="http://schemas.microsoft.com/office/drawing/2014/main" id="{6E7FDEB0-3CBA-41FC-B81E-113B89DD0B14}"/>
              </a:ext>
            </a:extLst>
          </p:cNvPr>
          <p:cNvSpPr/>
          <p:nvPr/>
        </p:nvSpPr>
        <p:spPr>
          <a:xfrm rot="5400000">
            <a:off x="4881615" y="-2028490"/>
            <a:ext cx="9688087" cy="8844277"/>
          </a:xfrm>
          <a:custGeom>
            <a:avLst/>
            <a:gdLst>
              <a:gd name="connsiteX0" fmla="*/ 6874552 w 9688087"/>
              <a:gd name="connsiteY0" fmla="*/ 1233030 h 8844277"/>
              <a:gd name="connsiteX1" fmla="*/ 7491067 w 9688087"/>
              <a:gd name="connsiteY1" fmla="*/ 0 h 8844277"/>
              <a:gd name="connsiteX2" fmla="*/ 9071572 w 9688087"/>
              <a:gd name="connsiteY2" fmla="*/ 0 h 8844277"/>
              <a:gd name="connsiteX3" fmla="*/ 9688087 w 9688087"/>
              <a:gd name="connsiteY3" fmla="*/ 1233030 h 8844277"/>
              <a:gd name="connsiteX4" fmla="*/ 9071572 w 9688087"/>
              <a:gd name="connsiteY4" fmla="*/ 2466058 h 8844277"/>
              <a:gd name="connsiteX5" fmla="*/ 7491067 w 9688087"/>
              <a:gd name="connsiteY5" fmla="*/ 2466058 h 8844277"/>
              <a:gd name="connsiteX6" fmla="*/ 6874552 w 9688087"/>
              <a:gd name="connsiteY6" fmla="*/ 3794972 h 8844277"/>
              <a:gd name="connsiteX7" fmla="*/ 7491067 w 9688087"/>
              <a:gd name="connsiteY7" fmla="*/ 2561942 h 8844277"/>
              <a:gd name="connsiteX8" fmla="*/ 9071572 w 9688087"/>
              <a:gd name="connsiteY8" fmla="*/ 2561942 h 8844277"/>
              <a:gd name="connsiteX9" fmla="*/ 9688087 w 9688087"/>
              <a:gd name="connsiteY9" fmla="*/ 3794972 h 8844277"/>
              <a:gd name="connsiteX10" fmla="*/ 9071572 w 9688087"/>
              <a:gd name="connsiteY10" fmla="*/ 5028000 h 8844277"/>
              <a:gd name="connsiteX11" fmla="*/ 7491067 w 9688087"/>
              <a:gd name="connsiteY11" fmla="*/ 5028000 h 8844277"/>
              <a:gd name="connsiteX12" fmla="*/ 6874552 w 9688087"/>
              <a:gd name="connsiteY12" fmla="*/ 6356914 h 8844277"/>
              <a:gd name="connsiteX13" fmla="*/ 7491067 w 9688087"/>
              <a:gd name="connsiteY13" fmla="*/ 5123884 h 8844277"/>
              <a:gd name="connsiteX14" fmla="*/ 9071572 w 9688087"/>
              <a:gd name="connsiteY14" fmla="*/ 5123884 h 8844277"/>
              <a:gd name="connsiteX15" fmla="*/ 9688087 w 9688087"/>
              <a:gd name="connsiteY15" fmla="*/ 6356914 h 8844277"/>
              <a:gd name="connsiteX16" fmla="*/ 9071571 w 9688087"/>
              <a:gd name="connsiteY16" fmla="*/ 7589943 h 8844277"/>
              <a:gd name="connsiteX17" fmla="*/ 7491066 w 9688087"/>
              <a:gd name="connsiteY17" fmla="*/ 7589943 h 8844277"/>
              <a:gd name="connsiteX18" fmla="*/ 4587241 w 9688087"/>
              <a:gd name="connsiteY18" fmla="*/ 2499572 h 8844277"/>
              <a:gd name="connsiteX19" fmla="*/ 5197651 w 9688087"/>
              <a:gd name="connsiteY19" fmla="*/ 1278751 h 8844277"/>
              <a:gd name="connsiteX20" fmla="*/ 6762507 w 9688087"/>
              <a:gd name="connsiteY20" fmla="*/ 1278751 h 8844277"/>
              <a:gd name="connsiteX21" fmla="*/ 7372918 w 9688087"/>
              <a:gd name="connsiteY21" fmla="*/ 2499572 h 8844277"/>
              <a:gd name="connsiteX22" fmla="*/ 6762507 w 9688087"/>
              <a:gd name="connsiteY22" fmla="*/ 3720393 h 8844277"/>
              <a:gd name="connsiteX23" fmla="*/ 5197651 w 9688087"/>
              <a:gd name="connsiteY23" fmla="*/ 3720393 h 8844277"/>
              <a:gd name="connsiteX24" fmla="*/ 4587241 w 9688087"/>
              <a:gd name="connsiteY24" fmla="*/ 5061514 h 8844277"/>
              <a:gd name="connsiteX25" fmla="*/ 5197651 w 9688087"/>
              <a:gd name="connsiteY25" fmla="*/ 3840693 h 8844277"/>
              <a:gd name="connsiteX26" fmla="*/ 6762507 w 9688087"/>
              <a:gd name="connsiteY26" fmla="*/ 3840693 h 8844277"/>
              <a:gd name="connsiteX27" fmla="*/ 7372918 w 9688087"/>
              <a:gd name="connsiteY27" fmla="*/ 5061514 h 8844277"/>
              <a:gd name="connsiteX28" fmla="*/ 6762507 w 9688087"/>
              <a:gd name="connsiteY28" fmla="*/ 6282335 h 8844277"/>
              <a:gd name="connsiteX29" fmla="*/ 5197651 w 9688087"/>
              <a:gd name="connsiteY29" fmla="*/ 6282335 h 8844277"/>
              <a:gd name="connsiteX30" fmla="*/ 4587240 w 9688087"/>
              <a:gd name="connsiteY30" fmla="*/ 7623456 h 8844277"/>
              <a:gd name="connsiteX31" fmla="*/ 5197651 w 9688087"/>
              <a:gd name="connsiteY31" fmla="*/ 6402635 h 8844277"/>
              <a:gd name="connsiteX32" fmla="*/ 6762507 w 9688087"/>
              <a:gd name="connsiteY32" fmla="*/ 6402635 h 8844277"/>
              <a:gd name="connsiteX33" fmla="*/ 7372918 w 9688087"/>
              <a:gd name="connsiteY33" fmla="*/ 7623456 h 8844277"/>
              <a:gd name="connsiteX34" fmla="*/ 6762507 w 9688087"/>
              <a:gd name="connsiteY34" fmla="*/ 8844277 h 8844277"/>
              <a:gd name="connsiteX35" fmla="*/ 5197651 w 9688087"/>
              <a:gd name="connsiteY35" fmla="*/ 8844277 h 8844277"/>
              <a:gd name="connsiteX36" fmla="*/ 2287312 w 9688087"/>
              <a:gd name="connsiteY36" fmla="*/ 3794972 h 8844277"/>
              <a:gd name="connsiteX37" fmla="*/ 2903827 w 9688087"/>
              <a:gd name="connsiteY37" fmla="*/ 2561942 h 8844277"/>
              <a:gd name="connsiteX38" fmla="*/ 4484332 w 9688087"/>
              <a:gd name="connsiteY38" fmla="*/ 2561942 h 8844277"/>
              <a:gd name="connsiteX39" fmla="*/ 5100846 w 9688087"/>
              <a:gd name="connsiteY39" fmla="*/ 3794972 h 8844277"/>
              <a:gd name="connsiteX40" fmla="*/ 4484332 w 9688087"/>
              <a:gd name="connsiteY40" fmla="*/ 5028000 h 8844277"/>
              <a:gd name="connsiteX41" fmla="*/ 2903827 w 9688087"/>
              <a:gd name="connsiteY41" fmla="*/ 5028000 h 8844277"/>
              <a:gd name="connsiteX42" fmla="*/ 2287312 w 9688087"/>
              <a:gd name="connsiteY42" fmla="*/ 6356914 h 8844277"/>
              <a:gd name="connsiteX43" fmla="*/ 2903827 w 9688087"/>
              <a:gd name="connsiteY43" fmla="*/ 5123884 h 8844277"/>
              <a:gd name="connsiteX44" fmla="*/ 4484332 w 9688087"/>
              <a:gd name="connsiteY44" fmla="*/ 5123884 h 8844277"/>
              <a:gd name="connsiteX45" fmla="*/ 5100846 w 9688087"/>
              <a:gd name="connsiteY45" fmla="*/ 6356914 h 8844277"/>
              <a:gd name="connsiteX46" fmla="*/ 4484332 w 9688087"/>
              <a:gd name="connsiteY46" fmla="*/ 7589943 h 8844277"/>
              <a:gd name="connsiteX47" fmla="*/ 2903827 w 9688087"/>
              <a:gd name="connsiteY47" fmla="*/ 7589943 h 8844277"/>
              <a:gd name="connsiteX48" fmla="*/ 2287312 w 9688087"/>
              <a:gd name="connsiteY48" fmla="*/ 1233030 h 8844277"/>
              <a:gd name="connsiteX49" fmla="*/ 2903827 w 9688087"/>
              <a:gd name="connsiteY49" fmla="*/ 0 h 8844277"/>
              <a:gd name="connsiteX50" fmla="*/ 4484332 w 9688087"/>
              <a:gd name="connsiteY50" fmla="*/ 0 h 8844277"/>
              <a:gd name="connsiteX51" fmla="*/ 5100847 w 9688087"/>
              <a:gd name="connsiteY51" fmla="*/ 1233030 h 8844277"/>
              <a:gd name="connsiteX52" fmla="*/ 4484332 w 9688087"/>
              <a:gd name="connsiteY52" fmla="*/ 2466058 h 8844277"/>
              <a:gd name="connsiteX53" fmla="*/ 2903827 w 9688087"/>
              <a:gd name="connsiteY53" fmla="*/ 2466058 h 8844277"/>
              <a:gd name="connsiteX54" fmla="*/ 1 w 9688087"/>
              <a:gd name="connsiteY54" fmla="*/ 5061514 h 8844277"/>
              <a:gd name="connsiteX55" fmla="*/ 610412 w 9688087"/>
              <a:gd name="connsiteY55" fmla="*/ 3840693 h 8844277"/>
              <a:gd name="connsiteX56" fmla="*/ 2175268 w 9688087"/>
              <a:gd name="connsiteY56" fmla="*/ 3840693 h 8844277"/>
              <a:gd name="connsiteX57" fmla="*/ 2785679 w 9688087"/>
              <a:gd name="connsiteY57" fmla="*/ 5061514 h 8844277"/>
              <a:gd name="connsiteX58" fmla="*/ 2175268 w 9688087"/>
              <a:gd name="connsiteY58" fmla="*/ 6282335 h 8844277"/>
              <a:gd name="connsiteX59" fmla="*/ 610412 w 9688087"/>
              <a:gd name="connsiteY59" fmla="*/ 6282335 h 8844277"/>
              <a:gd name="connsiteX60" fmla="*/ 1 w 9688087"/>
              <a:gd name="connsiteY60" fmla="*/ 7623456 h 8844277"/>
              <a:gd name="connsiteX61" fmla="*/ 610412 w 9688087"/>
              <a:gd name="connsiteY61" fmla="*/ 6402635 h 8844277"/>
              <a:gd name="connsiteX62" fmla="*/ 2175268 w 9688087"/>
              <a:gd name="connsiteY62" fmla="*/ 6402635 h 8844277"/>
              <a:gd name="connsiteX63" fmla="*/ 2785679 w 9688087"/>
              <a:gd name="connsiteY63" fmla="*/ 7623456 h 8844277"/>
              <a:gd name="connsiteX64" fmla="*/ 2175268 w 9688087"/>
              <a:gd name="connsiteY64" fmla="*/ 8844277 h 8844277"/>
              <a:gd name="connsiteX65" fmla="*/ 610412 w 9688087"/>
              <a:gd name="connsiteY65" fmla="*/ 8844277 h 8844277"/>
              <a:gd name="connsiteX66" fmla="*/ 0 w 9688087"/>
              <a:gd name="connsiteY66" fmla="*/ 2499572 h 8844277"/>
              <a:gd name="connsiteX67" fmla="*/ 610412 w 9688087"/>
              <a:gd name="connsiteY67" fmla="*/ 1278751 h 8844277"/>
              <a:gd name="connsiteX68" fmla="*/ 2175268 w 9688087"/>
              <a:gd name="connsiteY68" fmla="*/ 1278751 h 8844277"/>
              <a:gd name="connsiteX69" fmla="*/ 2785679 w 9688087"/>
              <a:gd name="connsiteY69" fmla="*/ 2499572 h 8844277"/>
              <a:gd name="connsiteX70" fmla="*/ 2175268 w 9688087"/>
              <a:gd name="connsiteY70" fmla="*/ 3720393 h 8844277"/>
              <a:gd name="connsiteX71" fmla="*/ 610412 w 9688087"/>
              <a:gd name="connsiteY71" fmla="*/ 3720393 h 8844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688087" h="8844277">
                <a:moveTo>
                  <a:pt x="6874552" y="1233030"/>
                </a:moveTo>
                <a:lnTo>
                  <a:pt x="7491067" y="0"/>
                </a:lnTo>
                <a:lnTo>
                  <a:pt x="9071572" y="0"/>
                </a:lnTo>
                <a:lnTo>
                  <a:pt x="9688087" y="1233030"/>
                </a:lnTo>
                <a:lnTo>
                  <a:pt x="9071572" y="2466058"/>
                </a:lnTo>
                <a:lnTo>
                  <a:pt x="7491067" y="2466058"/>
                </a:lnTo>
                <a:close/>
                <a:moveTo>
                  <a:pt x="6874552" y="3794972"/>
                </a:moveTo>
                <a:lnTo>
                  <a:pt x="7491067" y="2561942"/>
                </a:lnTo>
                <a:lnTo>
                  <a:pt x="9071572" y="2561942"/>
                </a:lnTo>
                <a:lnTo>
                  <a:pt x="9688087" y="3794972"/>
                </a:lnTo>
                <a:lnTo>
                  <a:pt x="9071572" y="5028000"/>
                </a:lnTo>
                <a:lnTo>
                  <a:pt x="7491067" y="5028000"/>
                </a:lnTo>
                <a:close/>
                <a:moveTo>
                  <a:pt x="6874552" y="6356914"/>
                </a:moveTo>
                <a:lnTo>
                  <a:pt x="7491067" y="5123884"/>
                </a:lnTo>
                <a:lnTo>
                  <a:pt x="9071572" y="5123884"/>
                </a:lnTo>
                <a:lnTo>
                  <a:pt x="9688087" y="6356914"/>
                </a:lnTo>
                <a:lnTo>
                  <a:pt x="9071571" y="7589943"/>
                </a:lnTo>
                <a:lnTo>
                  <a:pt x="7491066" y="7589943"/>
                </a:lnTo>
                <a:close/>
                <a:moveTo>
                  <a:pt x="4587241" y="2499572"/>
                </a:moveTo>
                <a:lnTo>
                  <a:pt x="5197651" y="1278751"/>
                </a:lnTo>
                <a:lnTo>
                  <a:pt x="6762507" y="1278751"/>
                </a:lnTo>
                <a:lnTo>
                  <a:pt x="7372918" y="2499572"/>
                </a:lnTo>
                <a:lnTo>
                  <a:pt x="6762507" y="3720393"/>
                </a:lnTo>
                <a:lnTo>
                  <a:pt x="5197651" y="3720393"/>
                </a:lnTo>
                <a:close/>
                <a:moveTo>
                  <a:pt x="4587241" y="5061514"/>
                </a:moveTo>
                <a:lnTo>
                  <a:pt x="5197651" y="3840693"/>
                </a:lnTo>
                <a:lnTo>
                  <a:pt x="6762507" y="3840693"/>
                </a:lnTo>
                <a:lnTo>
                  <a:pt x="7372918" y="5061514"/>
                </a:lnTo>
                <a:lnTo>
                  <a:pt x="6762507" y="6282335"/>
                </a:lnTo>
                <a:lnTo>
                  <a:pt x="5197651" y="6282335"/>
                </a:lnTo>
                <a:close/>
                <a:moveTo>
                  <a:pt x="4587240" y="7623456"/>
                </a:moveTo>
                <a:lnTo>
                  <a:pt x="5197651" y="6402635"/>
                </a:lnTo>
                <a:lnTo>
                  <a:pt x="6762507" y="6402635"/>
                </a:lnTo>
                <a:lnTo>
                  <a:pt x="7372918" y="7623456"/>
                </a:lnTo>
                <a:lnTo>
                  <a:pt x="6762507" y="8844277"/>
                </a:lnTo>
                <a:lnTo>
                  <a:pt x="5197651" y="8844277"/>
                </a:lnTo>
                <a:close/>
                <a:moveTo>
                  <a:pt x="2287312" y="3794972"/>
                </a:moveTo>
                <a:lnTo>
                  <a:pt x="2903827" y="2561942"/>
                </a:lnTo>
                <a:lnTo>
                  <a:pt x="4484332" y="2561942"/>
                </a:lnTo>
                <a:lnTo>
                  <a:pt x="5100846" y="3794972"/>
                </a:lnTo>
                <a:lnTo>
                  <a:pt x="4484332" y="5028000"/>
                </a:lnTo>
                <a:lnTo>
                  <a:pt x="2903827" y="5028000"/>
                </a:lnTo>
                <a:close/>
                <a:moveTo>
                  <a:pt x="2287312" y="6356914"/>
                </a:moveTo>
                <a:lnTo>
                  <a:pt x="2903827" y="5123884"/>
                </a:lnTo>
                <a:lnTo>
                  <a:pt x="4484332" y="5123884"/>
                </a:lnTo>
                <a:lnTo>
                  <a:pt x="5100846" y="6356914"/>
                </a:lnTo>
                <a:lnTo>
                  <a:pt x="4484332" y="7589943"/>
                </a:lnTo>
                <a:lnTo>
                  <a:pt x="2903827" y="7589943"/>
                </a:lnTo>
                <a:close/>
                <a:moveTo>
                  <a:pt x="2287312" y="1233030"/>
                </a:moveTo>
                <a:lnTo>
                  <a:pt x="2903827" y="0"/>
                </a:lnTo>
                <a:lnTo>
                  <a:pt x="4484332" y="0"/>
                </a:lnTo>
                <a:lnTo>
                  <a:pt x="5100847" y="1233030"/>
                </a:lnTo>
                <a:lnTo>
                  <a:pt x="4484332" y="2466058"/>
                </a:lnTo>
                <a:lnTo>
                  <a:pt x="2903827" y="2466058"/>
                </a:lnTo>
                <a:close/>
                <a:moveTo>
                  <a:pt x="1" y="5061514"/>
                </a:moveTo>
                <a:lnTo>
                  <a:pt x="610412" y="3840693"/>
                </a:lnTo>
                <a:lnTo>
                  <a:pt x="2175268" y="3840693"/>
                </a:lnTo>
                <a:lnTo>
                  <a:pt x="2785679" y="5061514"/>
                </a:lnTo>
                <a:lnTo>
                  <a:pt x="2175268" y="6282335"/>
                </a:lnTo>
                <a:lnTo>
                  <a:pt x="610412" y="6282335"/>
                </a:lnTo>
                <a:close/>
                <a:moveTo>
                  <a:pt x="1" y="7623456"/>
                </a:moveTo>
                <a:lnTo>
                  <a:pt x="610412" y="6402635"/>
                </a:lnTo>
                <a:lnTo>
                  <a:pt x="2175268" y="6402635"/>
                </a:lnTo>
                <a:lnTo>
                  <a:pt x="2785679" y="7623456"/>
                </a:lnTo>
                <a:lnTo>
                  <a:pt x="2175268" y="8844277"/>
                </a:lnTo>
                <a:lnTo>
                  <a:pt x="610412" y="8844277"/>
                </a:lnTo>
                <a:close/>
                <a:moveTo>
                  <a:pt x="0" y="2499572"/>
                </a:moveTo>
                <a:lnTo>
                  <a:pt x="610412" y="1278751"/>
                </a:lnTo>
                <a:lnTo>
                  <a:pt x="2175268" y="1278751"/>
                </a:lnTo>
                <a:lnTo>
                  <a:pt x="2785679" y="2499572"/>
                </a:lnTo>
                <a:lnTo>
                  <a:pt x="2175268" y="3720393"/>
                </a:lnTo>
                <a:lnTo>
                  <a:pt x="610412" y="3720393"/>
                </a:lnTo>
                <a:close/>
              </a:path>
            </a:pathLst>
          </a:custGeom>
          <a:blipFill dpi="0" rotWithShape="0">
            <a:blip r:embed="rId2"/>
            <a:srcRect/>
            <a:stretch>
              <a:fillRect/>
            </a:stretch>
          </a:blip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8" name="TextBox 47">
            <a:extLst>
              <a:ext uri="{FF2B5EF4-FFF2-40B4-BE49-F238E27FC236}">
                <a16:creationId xmlns:a16="http://schemas.microsoft.com/office/drawing/2014/main" id="{21704B83-7E02-47F4-B779-7962EEEE2EB1}"/>
              </a:ext>
            </a:extLst>
          </p:cNvPr>
          <p:cNvSpPr txBox="1"/>
          <p:nvPr/>
        </p:nvSpPr>
        <p:spPr>
          <a:xfrm>
            <a:off x="-91440" y="6858000"/>
            <a:ext cx="6187440" cy="5632311"/>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MV Boli" panose="02000500030200090000" pitchFamily="2" charset="0"/>
                <a:ea typeface="+mn-ea"/>
                <a:cs typeface="MV Boli" panose="02000500030200090000" pitchFamily="2" charset="0"/>
              </a:rPr>
              <a:t>A Legal Prediction Model using</a:t>
            </a:r>
            <a:br>
              <a:rPr kumimoji="0" lang="en-US" sz="4000" b="0" i="0" u="none" strike="noStrike" kern="1200" cap="none" spc="0" normalizeH="0" baseline="0" noProof="0" dirty="0">
                <a:ln>
                  <a:noFill/>
                </a:ln>
                <a:solidFill>
                  <a:srgbClr val="E7E6E6"/>
                </a:solidFill>
                <a:effectLst/>
                <a:uLnTx/>
                <a:uFillTx/>
                <a:latin typeface="MV Boli" panose="02000500030200090000" pitchFamily="2" charset="0"/>
                <a:ea typeface="+mn-ea"/>
                <a:cs typeface="MV Boli" panose="02000500030200090000" pitchFamily="2" charset="0"/>
              </a:rPr>
            </a:br>
            <a:r>
              <a:rPr kumimoji="0" lang="en-US" sz="4000" b="0" i="0" u="none" strike="noStrike" kern="1200" cap="none" spc="0" normalizeH="0" baseline="0" noProof="0" dirty="0">
                <a:ln>
                  <a:noFill/>
                </a:ln>
                <a:solidFill>
                  <a:srgbClr val="E7E6E6"/>
                </a:solidFill>
                <a:effectLst/>
                <a:uLnTx/>
                <a:uFillTx/>
                <a:latin typeface="MV Boli" panose="02000500030200090000" pitchFamily="2" charset="0"/>
                <a:ea typeface="+mn-ea"/>
                <a:cs typeface="MV Boli" panose="02000500030200090000" pitchFamily="2" charset="0"/>
              </a:rPr>
              <a:t>Support Vector Machine and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MV Boli" panose="02000500030200090000" pitchFamily="2" charset="0"/>
                <a:ea typeface="+mn-ea"/>
                <a:cs typeface="MV Boli" panose="02000500030200090000" pitchFamily="2" charset="0"/>
              </a:rPr>
              <a:t>K-means Clustering Algorithm for Predicting</a:t>
            </a:r>
            <a:br>
              <a:rPr kumimoji="0" lang="en-US" sz="4000" b="0" i="0" u="none" strike="noStrike" kern="1200" cap="none" spc="0" normalizeH="0" baseline="0" noProof="0" dirty="0">
                <a:ln>
                  <a:noFill/>
                </a:ln>
                <a:solidFill>
                  <a:srgbClr val="E7E6E6"/>
                </a:solidFill>
                <a:effectLst/>
                <a:uLnTx/>
                <a:uFillTx/>
                <a:latin typeface="MV Boli" panose="02000500030200090000" pitchFamily="2" charset="0"/>
                <a:ea typeface="+mn-ea"/>
                <a:cs typeface="MV Boli" panose="02000500030200090000" pitchFamily="2" charset="0"/>
              </a:rPr>
            </a:br>
            <a:r>
              <a:rPr kumimoji="0" lang="en-US" sz="4000" b="0" i="0" u="none" strike="noStrike" kern="1200" cap="none" spc="0" normalizeH="0" baseline="0" noProof="0" dirty="0">
                <a:ln>
                  <a:noFill/>
                </a:ln>
                <a:solidFill>
                  <a:srgbClr val="E7E6E6"/>
                </a:solidFill>
                <a:effectLst/>
                <a:uLnTx/>
                <a:uFillTx/>
                <a:latin typeface="MV Boli" panose="02000500030200090000" pitchFamily="2" charset="0"/>
                <a:ea typeface="+mn-ea"/>
                <a:cs typeface="MV Boli" panose="02000500030200090000" pitchFamily="2" charset="0"/>
              </a:rPr>
              <a:t>Judgements and Making Decisions</a:t>
            </a:r>
            <a:endParaRPr kumimoji="0" lang="en-IN" sz="4000" b="0" i="0" u="none" strike="noStrike" kern="1200" cap="none" spc="0" normalizeH="0" baseline="0" noProof="0" dirty="0">
              <a:ln>
                <a:noFill/>
              </a:ln>
              <a:solidFill>
                <a:srgbClr val="E7E6E6"/>
              </a:solidFill>
              <a:effectLst/>
              <a:uLnTx/>
              <a:uFillTx/>
              <a:latin typeface="MV Boli" panose="02000500030200090000" pitchFamily="2" charset="0"/>
              <a:ea typeface="+mn-ea"/>
              <a:cs typeface="MV Boli" panose="02000500030200090000" pitchFamily="2" charset="0"/>
            </a:endParaRPr>
          </a:p>
        </p:txBody>
      </p:sp>
    </p:spTree>
    <p:extLst>
      <p:ext uri="{BB962C8B-B14F-4D97-AF65-F5344CB8AC3E}">
        <p14:creationId xmlns:p14="http://schemas.microsoft.com/office/powerpoint/2010/main" val="834526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schemeClr>
            </a:gs>
            <a:gs pos="0">
              <a:schemeClr val="accent2">
                <a:lumMod val="60000"/>
                <a:lumOff val="40000"/>
              </a:schemeClr>
            </a:gs>
            <a:gs pos="100000">
              <a:srgbClr val="91420D"/>
            </a:gs>
            <a:gs pos="54000">
              <a:schemeClr val="accent2">
                <a:lumMod val="75000"/>
              </a:schemeClr>
            </a:gs>
            <a:gs pos="100000">
              <a:schemeClr val="accent2">
                <a:lumMod val="5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31721B46-2048-4D8C-A862-3DACCEEF2AB6}"/>
              </a:ext>
            </a:extLst>
          </p:cNvPr>
          <p:cNvSpPr txBox="1"/>
          <p:nvPr/>
        </p:nvSpPr>
        <p:spPr>
          <a:xfrm>
            <a:off x="-106680" y="487680"/>
            <a:ext cx="5273040" cy="5632311"/>
          </a:xfrm>
          <a:prstGeom prst="rect">
            <a:avLst/>
          </a:prstGeom>
          <a:noFill/>
        </p:spPr>
        <p:txBody>
          <a:bodyPr wrap="square" rtlCol="0">
            <a:spAutoFit/>
          </a:bodyPr>
          <a:lstStyle/>
          <a:p>
            <a:pPr lvl="1"/>
            <a:r>
              <a:rPr lang="en-US" sz="4000" b="0" i="0" dirty="0">
                <a:solidFill>
                  <a:schemeClr val="bg2"/>
                </a:solidFill>
                <a:effectLst/>
                <a:latin typeface="MV Boli" panose="02000500030200090000" pitchFamily="2" charset="0"/>
                <a:cs typeface="MV Boli" panose="02000500030200090000" pitchFamily="2" charset="0"/>
              </a:rPr>
              <a:t>A Legal Prediction Model using</a:t>
            </a:r>
            <a:br>
              <a:rPr lang="en-US" sz="4000" dirty="0">
                <a:solidFill>
                  <a:schemeClr val="bg2"/>
                </a:solidFill>
                <a:latin typeface="MV Boli" panose="02000500030200090000" pitchFamily="2" charset="0"/>
                <a:cs typeface="MV Boli" panose="02000500030200090000" pitchFamily="2" charset="0"/>
              </a:rPr>
            </a:br>
            <a:r>
              <a:rPr lang="en-US" sz="4000" b="0" i="0" dirty="0">
                <a:solidFill>
                  <a:schemeClr val="bg2"/>
                </a:solidFill>
                <a:effectLst/>
                <a:latin typeface="MV Boli" panose="02000500030200090000" pitchFamily="2" charset="0"/>
                <a:cs typeface="MV Boli" panose="02000500030200090000" pitchFamily="2" charset="0"/>
              </a:rPr>
              <a:t>Support Vector Machine and </a:t>
            </a:r>
          </a:p>
          <a:p>
            <a:pPr lvl="1"/>
            <a:r>
              <a:rPr lang="en-US" sz="4000" b="0" i="0" dirty="0">
                <a:solidFill>
                  <a:schemeClr val="bg2"/>
                </a:solidFill>
                <a:effectLst/>
                <a:latin typeface="MV Boli" panose="02000500030200090000" pitchFamily="2" charset="0"/>
                <a:cs typeface="MV Boli" panose="02000500030200090000" pitchFamily="2" charset="0"/>
              </a:rPr>
              <a:t>K-means Clustering Algorithm for Predicting</a:t>
            </a:r>
            <a:br>
              <a:rPr lang="en-US" sz="4000" dirty="0">
                <a:solidFill>
                  <a:schemeClr val="bg2"/>
                </a:solidFill>
                <a:latin typeface="MV Boli" panose="02000500030200090000" pitchFamily="2" charset="0"/>
                <a:cs typeface="MV Boli" panose="02000500030200090000" pitchFamily="2" charset="0"/>
              </a:rPr>
            </a:br>
            <a:r>
              <a:rPr lang="en-US" sz="4000" b="0" i="0" dirty="0">
                <a:solidFill>
                  <a:schemeClr val="bg2"/>
                </a:solidFill>
                <a:effectLst/>
                <a:latin typeface="MV Boli" panose="02000500030200090000" pitchFamily="2" charset="0"/>
                <a:cs typeface="MV Boli" panose="02000500030200090000" pitchFamily="2" charset="0"/>
              </a:rPr>
              <a:t>Judgements and Making Decisions</a:t>
            </a:r>
            <a:endParaRPr lang="en-IN" sz="4000" dirty="0">
              <a:solidFill>
                <a:schemeClr val="bg2"/>
              </a:solidFill>
              <a:latin typeface="MV Boli" panose="02000500030200090000" pitchFamily="2" charset="0"/>
              <a:cs typeface="MV Boli" panose="02000500030200090000" pitchFamily="2" charset="0"/>
            </a:endParaRPr>
          </a:p>
        </p:txBody>
      </p:sp>
      <p:sp>
        <p:nvSpPr>
          <p:cNvPr id="40" name="Freeform: Shape 39">
            <a:extLst>
              <a:ext uri="{FF2B5EF4-FFF2-40B4-BE49-F238E27FC236}">
                <a16:creationId xmlns:a16="http://schemas.microsoft.com/office/drawing/2014/main" id="{6E7FDEB0-3CBA-41FC-B81E-113B89DD0B14}"/>
              </a:ext>
            </a:extLst>
          </p:cNvPr>
          <p:cNvSpPr/>
          <p:nvPr/>
        </p:nvSpPr>
        <p:spPr>
          <a:xfrm rot="5400000">
            <a:off x="4957815" y="-5175373"/>
            <a:ext cx="9688087" cy="8844277"/>
          </a:xfrm>
          <a:custGeom>
            <a:avLst/>
            <a:gdLst>
              <a:gd name="connsiteX0" fmla="*/ 6874552 w 9688087"/>
              <a:gd name="connsiteY0" fmla="*/ 1233030 h 8844277"/>
              <a:gd name="connsiteX1" fmla="*/ 7491067 w 9688087"/>
              <a:gd name="connsiteY1" fmla="*/ 0 h 8844277"/>
              <a:gd name="connsiteX2" fmla="*/ 9071572 w 9688087"/>
              <a:gd name="connsiteY2" fmla="*/ 0 h 8844277"/>
              <a:gd name="connsiteX3" fmla="*/ 9688087 w 9688087"/>
              <a:gd name="connsiteY3" fmla="*/ 1233030 h 8844277"/>
              <a:gd name="connsiteX4" fmla="*/ 9071572 w 9688087"/>
              <a:gd name="connsiteY4" fmla="*/ 2466058 h 8844277"/>
              <a:gd name="connsiteX5" fmla="*/ 7491067 w 9688087"/>
              <a:gd name="connsiteY5" fmla="*/ 2466058 h 8844277"/>
              <a:gd name="connsiteX6" fmla="*/ 6874552 w 9688087"/>
              <a:gd name="connsiteY6" fmla="*/ 3794972 h 8844277"/>
              <a:gd name="connsiteX7" fmla="*/ 7491067 w 9688087"/>
              <a:gd name="connsiteY7" fmla="*/ 2561942 h 8844277"/>
              <a:gd name="connsiteX8" fmla="*/ 9071572 w 9688087"/>
              <a:gd name="connsiteY8" fmla="*/ 2561942 h 8844277"/>
              <a:gd name="connsiteX9" fmla="*/ 9688087 w 9688087"/>
              <a:gd name="connsiteY9" fmla="*/ 3794972 h 8844277"/>
              <a:gd name="connsiteX10" fmla="*/ 9071572 w 9688087"/>
              <a:gd name="connsiteY10" fmla="*/ 5028000 h 8844277"/>
              <a:gd name="connsiteX11" fmla="*/ 7491067 w 9688087"/>
              <a:gd name="connsiteY11" fmla="*/ 5028000 h 8844277"/>
              <a:gd name="connsiteX12" fmla="*/ 6874552 w 9688087"/>
              <a:gd name="connsiteY12" fmla="*/ 6356914 h 8844277"/>
              <a:gd name="connsiteX13" fmla="*/ 7491067 w 9688087"/>
              <a:gd name="connsiteY13" fmla="*/ 5123884 h 8844277"/>
              <a:gd name="connsiteX14" fmla="*/ 9071572 w 9688087"/>
              <a:gd name="connsiteY14" fmla="*/ 5123884 h 8844277"/>
              <a:gd name="connsiteX15" fmla="*/ 9688087 w 9688087"/>
              <a:gd name="connsiteY15" fmla="*/ 6356914 h 8844277"/>
              <a:gd name="connsiteX16" fmla="*/ 9071571 w 9688087"/>
              <a:gd name="connsiteY16" fmla="*/ 7589943 h 8844277"/>
              <a:gd name="connsiteX17" fmla="*/ 7491066 w 9688087"/>
              <a:gd name="connsiteY17" fmla="*/ 7589943 h 8844277"/>
              <a:gd name="connsiteX18" fmla="*/ 4587241 w 9688087"/>
              <a:gd name="connsiteY18" fmla="*/ 2499572 h 8844277"/>
              <a:gd name="connsiteX19" fmla="*/ 5197651 w 9688087"/>
              <a:gd name="connsiteY19" fmla="*/ 1278751 h 8844277"/>
              <a:gd name="connsiteX20" fmla="*/ 6762507 w 9688087"/>
              <a:gd name="connsiteY20" fmla="*/ 1278751 h 8844277"/>
              <a:gd name="connsiteX21" fmla="*/ 7372918 w 9688087"/>
              <a:gd name="connsiteY21" fmla="*/ 2499572 h 8844277"/>
              <a:gd name="connsiteX22" fmla="*/ 6762507 w 9688087"/>
              <a:gd name="connsiteY22" fmla="*/ 3720393 h 8844277"/>
              <a:gd name="connsiteX23" fmla="*/ 5197651 w 9688087"/>
              <a:gd name="connsiteY23" fmla="*/ 3720393 h 8844277"/>
              <a:gd name="connsiteX24" fmla="*/ 4587241 w 9688087"/>
              <a:gd name="connsiteY24" fmla="*/ 5061514 h 8844277"/>
              <a:gd name="connsiteX25" fmla="*/ 5197651 w 9688087"/>
              <a:gd name="connsiteY25" fmla="*/ 3840693 h 8844277"/>
              <a:gd name="connsiteX26" fmla="*/ 6762507 w 9688087"/>
              <a:gd name="connsiteY26" fmla="*/ 3840693 h 8844277"/>
              <a:gd name="connsiteX27" fmla="*/ 7372918 w 9688087"/>
              <a:gd name="connsiteY27" fmla="*/ 5061514 h 8844277"/>
              <a:gd name="connsiteX28" fmla="*/ 6762507 w 9688087"/>
              <a:gd name="connsiteY28" fmla="*/ 6282335 h 8844277"/>
              <a:gd name="connsiteX29" fmla="*/ 5197651 w 9688087"/>
              <a:gd name="connsiteY29" fmla="*/ 6282335 h 8844277"/>
              <a:gd name="connsiteX30" fmla="*/ 4587240 w 9688087"/>
              <a:gd name="connsiteY30" fmla="*/ 7623456 h 8844277"/>
              <a:gd name="connsiteX31" fmla="*/ 5197651 w 9688087"/>
              <a:gd name="connsiteY31" fmla="*/ 6402635 h 8844277"/>
              <a:gd name="connsiteX32" fmla="*/ 6762507 w 9688087"/>
              <a:gd name="connsiteY32" fmla="*/ 6402635 h 8844277"/>
              <a:gd name="connsiteX33" fmla="*/ 7372918 w 9688087"/>
              <a:gd name="connsiteY33" fmla="*/ 7623456 h 8844277"/>
              <a:gd name="connsiteX34" fmla="*/ 6762507 w 9688087"/>
              <a:gd name="connsiteY34" fmla="*/ 8844277 h 8844277"/>
              <a:gd name="connsiteX35" fmla="*/ 5197651 w 9688087"/>
              <a:gd name="connsiteY35" fmla="*/ 8844277 h 8844277"/>
              <a:gd name="connsiteX36" fmla="*/ 2287312 w 9688087"/>
              <a:gd name="connsiteY36" fmla="*/ 3794972 h 8844277"/>
              <a:gd name="connsiteX37" fmla="*/ 2903827 w 9688087"/>
              <a:gd name="connsiteY37" fmla="*/ 2561942 h 8844277"/>
              <a:gd name="connsiteX38" fmla="*/ 4484332 w 9688087"/>
              <a:gd name="connsiteY38" fmla="*/ 2561942 h 8844277"/>
              <a:gd name="connsiteX39" fmla="*/ 5100846 w 9688087"/>
              <a:gd name="connsiteY39" fmla="*/ 3794972 h 8844277"/>
              <a:gd name="connsiteX40" fmla="*/ 4484332 w 9688087"/>
              <a:gd name="connsiteY40" fmla="*/ 5028000 h 8844277"/>
              <a:gd name="connsiteX41" fmla="*/ 2903827 w 9688087"/>
              <a:gd name="connsiteY41" fmla="*/ 5028000 h 8844277"/>
              <a:gd name="connsiteX42" fmla="*/ 2287312 w 9688087"/>
              <a:gd name="connsiteY42" fmla="*/ 6356914 h 8844277"/>
              <a:gd name="connsiteX43" fmla="*/ 2903827 w 9688087"/>
              <a:gd name="connsiteY43" fmla="*/ 5123884 h 8844277"/>
              <a:gd name="connsiteX44" fmla="*/ 4484332 w 9688087"/>
              <a:gd name="connsiteY44" fmla="*/ 5123884 h 8844277"/>
              <a:gd name="connsiteX45" fmla="*/ 5100846 w 9688087"/>
              <a:gd name="connsiteY45" fmla="*/ 6356914 h 8844277"/>
              <a:gd name="connsiteX46" fmla="*/ 4484332 w 9688087"/>
              <a:gd name="connsiteY46" fmla="*/ 7589943 h 8844277"/>
              <a:gd name="connsiteX47" fmla="*/ 2903827 w 9688087"/>
              <a:gd name="connsiteY47" fmla="*/ 7589943 h 8844277"/>
              <a:gd name="connsiteX48" fmla="*/ 2287312 w 9688087"/>
              <a:gd name="connsiteY48" fmla="*/ 1233030 h 8844277"/>
              <a:gd name="connsiteX49" fmla="*/ 2903827 w 9688087"/>
              <a:gd name="connsiteY49" fmla="*/ 0 h 8844277"/>
              <a:gd name="connsiteX50" fmla="*/ 4484332 w 9688087"/>
              <a:gd name="connsiteY50" fmla="*/ 0 h 8844277"/>
              <a:gd name="connsiteX51" fmla="*/ 5100847 w 9688087"/>
              <a:gd name="connsiteY51" fmla="*/ 1233030 h 8844277"/>
              <a:gd name="connsiteX52" fmla="*/ 4484332 w 9688087"/>
              <a:gd name="connsiteY52" fmla="*/ 2466058 h 8844277"/>
              <a:gd name="connsiteX53" fmla="*/ 2903827 w 9688087"/>
              <a:gd name="connsiteY53" fmla="*/ 2466058 h 8844277"/>
              <a:gd name="connsiteX54" fmla="*/ 1 w 9688087"/>
              <a:gd name="connsiteY54" fmla="*/ 5061514 h 8844277"/>
              <a:gd name="connsiteX55" fmla="*/ 610412 w 9688087"/>
              <a:gd name="connsiteY55" fmla="*/ 3840693 h 8844277"/>
              <a:gd name="connsiteX56" fmla="*/ 2175268 w 9688087"/>
              <a:gd name="connsiteY56" fmla="*/ 3840693 h 8844277"/>
              <a:gd name="connsiteX57" fmla="*/ 2785679 w 9688087"/>
              <a:gd name="connsiteY57" fmla="*/ 5061514 h 8844277"/>
              <a:gd name="connsiteX58" fmla="*/ 2175268 w 9688087"/>
              <a:gd name="connsiteY58" fmla="*/ 6282335 h 8844277"/>
              <a:gd name="connsiteX59" fmla="*/ 610412 w 9688087"/>
              <a:gd name="connsiteY59" fmla="*/ 6282335 h 8844277"/>
              <a:gd name="connsiteX60" fmla="*/ 1 w 9688087"/>
              <a:gd name="connsiteY60" fmla="*/ 7623456 h 8844277"/>
              <a:gd name="connsiteX61" fmla="*/ 610412 w 9688087"/>
              <a:gd name="connsiteY61" fmla="*/ 6402635 h 8844277"/>
              <a:gd name="connsiteX62" fmla="*/ 2175268 w 9688087"/>
              <a:gd name="connsiteY62" fmla="*/ 6402635 h 8844277"/>
              <a:gd name="connsiteX63" fmla="*/ 2785679 w 9688087"/>
              <a:gd name="connsiteY63" fmla="*/ 7623456 h 8844277"/>
              <a:gd name="connsiteX64" fmla="*/ 2175268 w 9688087"/>
              <a:gd name="connsiteY64" fmla="*/ 8844277 h 8844277"/>
              <a:gd name="connsiteX65" fmla="*/ 610412 w 9688087"/>
              <a:gd name="connsiteY65" fmla="*/ 8844277 h 8844277"/>
              <a:gd name="connsiteX66" fmla="*/ 0 w 9688087"/>
              <a:gd name="connsiteY66" fmla="*/ 2499572 h 8844277"/>
              <a:gd name="connsiteX67" fmla="*/ 610412 w 9688087"/>
              <a:gd name="connsiteY67" fmla="*/ 1278751 h 8844277"/>
              <a:gd name="connsiteX68" fmla="*/ 2175268 w 9688087"/>
              <a:gd name="connsiteY68" fmla="*/ 1278751 h 8844277"/>
              <a:gd name="connsiteX69" fmla="*/ 2785679 w 9688087"/>
              <a:gd name="connsiteY69" fmla="*/ 2499572 h 8844277"/>
              <a:gd name="connsiteX70" fmla="*/ 2175268 w 9688087"/>
              <a:gd name="connsiteY70" fmla="*/ 3720393 h 8844277"/>
              <a:gd name="connsiteX71" fmla="*/ 610412 w 9688087"/>
              <a:gd name="connsiteY71" fmla="*/ 3720393 h 8844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688087" h="8844277">
                <a:moveTo>
                  <a:pt x="6874552" y="1233030"/>
                </a:moveTo>
                <a:lnTo>
                  <a:pt x="7491067" y="0"/>
                </a:lnTo>
                <a:lnTo>
                  <a:pt x="9071572" y="0"/>
                </a:lnTo>
                <a:lnTo>
                  <a:pt x="9688087" y="1233030"/>
                </a:lnTo>
                <a:lnTo>
                  <a:pt x="9071572" y="2466058"/>
                </a:lnTo>
                <a:lnTo>
                  <a:pt x="7491067" y="2466058"/>
                </a:lnTo>
                <a:close/>
                <a:moveTo>
                  <a:pt x="6874552" y="3794972"/>
                </a:moveTo>
                <a:lnTo>
                  <a:pt x="7491067" y="2561942"/>
                </a:lnTo>
                <a:lnTo>
                  <a:pt x="9071572" y="2561942"/>
                </a:lnTo>
                <a:lnTo>
                  <a:pt x="9688087" y="3794972"/>
                </a:lnTo>
                <a:lnTo>
                  <a:pt x="9071572" y="5028000"/>
                </a:lnTo>
                <a:lnTo>
                  <a:pt x="7491067" y="5028000"/>
                </a:lnTo>
                <a:close/>
                <a:moveTo>
                  <a:pt x="6874552" y="6356914"/>
                </a:moveTo>
                <a:lnTo>
                  <a:pt x="7491067" y="5123884"/>
                </a:lnTo>
                <a:lnTo>
                  <a:pt x="9071572" y="5123884"/>
                </a:lnTo>
                <a:lnTo>
                  <a:pt x="9688087" y="6356914"/>
                </a:lnTo>
                <a:lnTo>
                  <a:pt x="9071571" y="7589943"/>
                </a:lnTo>
                <a:lnTo>
                  <a:pt x="7491066" y="7589943"/>
                </a:lnTo>
                <a:close/>
                <a:moveTo>
                  <a:pt x="4587241" y="2499572"/>
                </a:moveTo>
                <a:lnTo>
                  <a:pt x="5197651" y="1278751"/>
                </a:lnTo>
                <a:lnTo>
                  <a:pt x="6762507" y="1278751"/>
                </a:lnTo>
                <a:lnTo>
                  <a:pt x="7372918" y="2499572"/>
                </a:lnTo>
                <a:lnTo>
                  <a:pt x="6762507" y="3720393"/>
                </a:lnTo>
                <a:lnTo>
                  <a:pt x="5197651" y="3720393"/>
                </a:lnTo>
                <a:close/>
                <a:moveTo>
                  <a:pt x="4587241" y="5061514"/>
                </a:moveTo>
                <a:lnTo>
                  <a:pt x="5197651" y="3840693"/>
                </a:lnTo>
                <a:lnTo>
                  <a:pt x="6762507" y="3840693"/>
                </a:lnTo>
                <a:lnTo>
                  <a:pt x="7372918" y="5061514"/>
                </a:lnTo>
                <a:lnTo>
                  <a:pt x="6762507" y="6282335"/>
                </a:lnTo>
                <a:lnTo>
                  <a:pt x="5197651" y="6282335"/>
                </a:lnTo>
                <a:close/>
                <a:moveTo>
                  <a:pt x="4587240" y="7623456"/>
                </a:moveTo>
                <a:lnTo>
                  <a:pt x="5197651" y="6402635"/>
                </a:lnTo>
                <a:lnTo>
                  <a:pt x="6762507" y="6402635"/>
                </a:lnTo>
                <a:lnTo>
                  <a:pt x="7372918" y="7623456"/>
                </a:lnTo>
                <a:lnTo>
                  <a:pt x="6762507" y="8844277"/>
                </a:lnTo>
                <a:lnTo>
                  <a:pt x="5197651" y="8844277"/>
                </a:lnTo>
                <a:close/>
                <a:moveTo>
                  <a:pt x="2287312" y="3794972"/>
                </a:moveTo>
                <a:lnTo>
                  <a:pt x="2903827" y="2561942"/>
                </a:lnTo>
                <a:lnTo>
                  <a:pt x="4484332" y="2561942"/>
                </a:lnTo>
                <a:lnTo>
                  <a:pt x="5100846" y="3794972"/>
                </a:lnTo>
                <a:lnTo>
                  <a:pt x="4484332" y="5028000"/>
                </a:lnTo>
                <a:lnTo>
                  <a:pt x="2903827" y="5028000"/>
                </a:lnTo>
                <a:close/>
                <a:moveTo>
                  <a:pt x="2287312" y="6356914"/>
                </a:moveTo>
                <a:lnTo>
                  <a:pt x="2903827" y="5123884"/>
                </a:lnTo>
                <a:lnTo>
                  <a:pt x="4484332" y="5123884"/>
                </a:lnTo>
                <a:lnTo>
                  <a:pt x="5100846" y="6356914"/>
                </a:lnTo>
                <a:lnTo>
                  <a:pt x="4484332" y="7589943"/>
                </a:lnTo>
                <a:lnTo>
                  <a:pt x="2903827" y="7589943"/>
                </a:lnTo>
                <a:close/>
                <a:moveTo>
                  <a:pt x="2287312" y="1233030"/>
                </a:moveTo>
                <a:lnTo>
                  <a:pt x="2903827" y="0"/>
                </a:lnTo>
                <a:lnTo>
                  <a:pt x="4484332" y="0"/>
                </a:lnTo>
                <a:lnTo>
                  <a:pt x="5100847" y="1233030"/>
                </a:lnTo>
                <a:lnTo>
                  <a:pt x="4484332" y="2466058"/>
                </a:lnTo>
                <a:lnTo>
                  <a:pt x="2903827" y="2466058"/>
                </a:lnTo>
                <a:close/>
                <a:moveTo>
                  <a:pt x="1" y="5061514"/>
                </a:moveTo>
                <a:lnTo>
                  <a:pt x="610412" y="3840693"/>
                </a:lnTo>
                <a:lnTo>
                  <a:pt x="2175268" y="3840693"/>
                </a:lnTo>
                <a:lnTo>
                  <a:pt x="2785679" y="5061514"/>
                </a:lnTo>
                <a:lnTo>
                  <a:pt x="2175268" y="6282335"/>
                </a:lnTo>
                <a:lnTo>
                  <a:pt x="610412" y="6282335"/>
                </a:lnTo>
                <a:close/>
                <a:moveTo>
                  <a:pt x="1" y="7623456"/>
                </a:moveTo>
                <a:lnTo>
                  <a:pt x="610412" y="6402635"/>
                </a:lnTo>
                <a:lnTo>
                  <a:pt x="2175268" y="6402635"/>
                </a:lnTo>
                <a:lnTo>
                  <a:pt x="2785679" y="7623456"/>
                </a:lnTo>
                <a:lnTo>
                  <a:pt x="2175268" y="8844277"/>
                </a:lnTo>
                <a:lnTo>
                  <a:pt x="610412" y="8844277"/>
                </a:lnTo>
                <a:close/>
                <a:moveTo>
                  <a:pt x="0" y="2499572"/>
                </a:moveTo>
                <a:lnTo>
                  <a:pt x="610412" y="1278751"/>
                </a:lnTo>
                <a:lnTo>
                  <a:pt x="2175268" y="1278751"/>
                </a:lnTo>
                <a:lnTo>
                  <a:pt x="2785679" y="2499572"/>
                </a:lnTo>
                <a:lnTo>
                  <a:pt x="2175268" y="3720393"/>
                </a:lnTo>
                <a:lnTo>
                  <a:pt x="610412" y="3720393"/>
                </a:lnTo>
                <a:close/>
              </a:path>
            </a:pathLst>
          </a:custGeom>
          <a:blipFill dpi="0" rotWithShape="0">
            <a:blip r:embed="rId2"/>
            <a:srcRect/>
            <a:stretch>
              <a:fillRect/>
            </a:stretch>
          </a:blip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1" name="TextBox 10">
            <a:extLst>
              <a:ext uri="{FF2B5EF4-FFF2-40B4-BE49-F238E27FC236}">
                <a16:creationId xmlns:a16="http://schemas.microsoft.com/office/drawing/2014/main" id="{A19109E7-48C9-401E-A3C7-A107541A6C35}"/>
              </a:ext>
            </a:extLst>
          </p:cNvPr>
          <p:cNvSpPr txBox="1"/>
          <p:nvPr/>
        </p:nvSpPr>
        <p:spPr>
          <a:xfrm>
            <a:off x="243840" y="-2246769"/>
            <a:ext cx="7162800" cy="2246769"/>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7000" b="0" i="0" u="none" strike="noStrike" kern="1200" cap="none" spc="0" normalizeH="0" baseline="0" noProof="0" dirty="0">
                <a:ln>
                  <a:noFill/>
                </a:ln>
                <a:solidFill>
                  <a:srgbClr val="E7E6E6"/>
                </a:solidFill>
                <a:effectLst/>
                <a:uLnTx/>
                <a:uFillTx/>
                <a:latin typeface="Comic Sans MS" panose="030F0702030302020204" pitchFamily="66" charset="0"/>
                <a:ea typeface="+mn-ea"/>
                <a:cs typeface="+mn-cs"/>
              </a:rPr>
              <a:t>Welcome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7000" b="0" i="0" u="none" strike="noStrike" kern="1200" cap="none" spc="0" normalizeH="0" baseline="0" noProof="0" dirty="0">
                <a:ln>
                  <a:noFill/>
                </a:ln>
                <a:solidFill>
                  <a:srgbClr val="E7E6E6"/>
                </a:solidFill>
                <a:effectLst/>
                <a:uLnTx/>
                <a:uFillTx/>
                <a:latin typeface="Comic Sans MS" panose="030F0702030302020204" pitchFamily="66" charset="0"/>
                <a:ea typeface="+mn-ea"/>
                <a:cs typeface="+mn-cs"/>
              </a:rPr>
              <a:t>Everyone!</a:t>
            </a:r>
            <a:endParaRPr kumimoji="0" lang="en-IN" sz="7000" b="0" i="0" u="none" strike="noStrike" kern="1200" cap="none" spc="0" normalizeH="0" baseline="0" noProof="0" dirty="0">
              <a:ln>
                <a:noFill/>
              </a:ln>
              <a:solidFill>
                <a:srgbClr val="E7E6E6"/>
              </a:solidFill>
              <a:effectLst/>
              <a:uLnTx/>
              <a:uFillTx/>
              <a:latin typeface="Comic Sans MS" panose="030F0702030302020204" pitchFamily="66" charset="0"/>
              <a:ea typeface="+mn-ea"/>
              <a:cs typeface="+mn-cs"/>
            </a:endParaRPr>
          </a:p>
        </p:txBody>
      </p:sp>
    </p:spTree>
    <p:extLst>
      <p:ext uri="{BB962C8B-B14F-4D97-AF65-F5344CB8AC3E}">
        <p14:creationId xmlns:p14="http://schemas.microsoft.com/office/powerpoint/2010/main" val="3184006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31721B46-2048-4D8C-A862-3DACCEEF2AB6}"/>
              </a:ext>
            </a:extLst>
          </p:cNvPr>
          <p:cNvSpPr txBox="1"/>
          <p:nvPr/>
        </p:nvSpPr>
        <p:spPr>
          <a:xfrm>
            <a:off x="0" y="-5471160"/>
            <a:ext cx="5273040" cy="5632311"/>
          </a:xfrm>
          <a:prstGeom prst="rect">
            <a:avLst/>
          </a:prstGeom>
          <a:noFill/>
        </p:spPr>
        <p:txBody>
          <a:bodyPr wrap="square" rtlCol="0">
            <a:spAutoFit/>
          </a:bodyPr>
          <a:lstStyle/>
          <a:p>
            <a:pPr lvl="1"/>
            <a:r>
              <a:rPr lang="en-US" sz="4000" b="0" i="0" dirty="0">
                <a:solidFill>
                  <a:schemeClr val="bg2"/>
                </a:solidFill>
                <a:effectLst/>
                <a:latin typeface="MV Boli" panose="02000500030200090000" pitchFamily="2" charset="0"/>
                <a:cs typeface="MV Boli" panose="02000500030200090000" pitchFamily="2" charset="0"/>
              </a:rPr>
              <a:t>A Legal Prediction Model using</a:t>
            </a:r>
            <a:br>
              <a:rPr lang="en-US" sz="4000" dirty="0">
                <a:solidFill>
                  <a:schemeClr val="bg2"/>
                </a:solidFill>
                <a:latin typeface="MV Boli" panose="02000500030200090000" pitchFamily="2" charset="0"/>
                <a:cs typeface="MV Boli" panose="02000500030200090000" pitchFamily="2" charset="0"/>
              </a:rPr>
            </a:br>
            <a:r>
              <a:rPr lang="en-US" sz="4000" b="0" i="0" dirty="0">
                <a:solidFill>
                  <a:schemeClr val="bg2"/>
                </a:solidFill>
                <a:effectLst/>
                <a:latin typeface="MV Boli" panose="02000500030200090000" pitchFamily="2" charset="0"/>
                <a:cs typeface="MV Boli" panose="02000500030200090000" pitchFamily="2" charset="0"/>
              </a:rPr>
              <a:t>Support Vector Machine and </a:t>
            </a:r>
          </a:p>
          <a:p>
            <a:pPr lvl="1"/>
            <a:r>
              <a:rPr lang="en-US" sz="4000" b="0" i="0" dirty="0">
                <a:solidFill>
                  <a:schemeClr val="bg2"/>
                </a:solidFill>
                <a:effectLst/>
                <a:latin typeface="MV Boli" panose="02000500030200090000" pitchFamily="2" charset="0"/>
                <a:cs typeface="MV Boli" panose="02000500030200090000" pitchFamily="2" charset="0"/>
              </a:rPr>
              <a:t>K-means Clustering Algorithm for Predicting</a:t>
            </a:r>
            <a:br>
              <a:rPr lang="en-US" sz="4000" dirty="0">
                <a:solidFill>
                  <a:schemeClr val="bg2"/>
                </a:solidFill>
                <a:latin typeface="MV Boli" panose="02000500030200090000" pitchFamily="2" charset="0"/>
                <a:cs typeface="MV Boli" panose="02000500030200090000" pitchFamily="2" charset="0"/>
              </a:rPr>
            </a:br>
            <a:r>
              <a:rPr lang="en-US" sz="4000" b="0" i="0" dirty="0">
                <a:solidFill>
                  <a:schemeClr val="bg2"/>
                </a:solidFill>
                <a:effectLst/>
                <a:latin typeface="MV Boli" panose="02000500030200090000" pitchFamily="2" charset="0"/>
                <a:cs typeface="MV Boli" panose="02000500030200090000" pitchFamily="2" charset="0"/>
              </a:rPr>
              <a:t>Judgements and Making Decisions</a:t>
            </a:r>
            <a:endParaRPr lang="en-IN" sz="4000" dirty="0">
              <a:solidFill>
                <a:schemeClr val="bg2"/>
              </a:solidFill>
              <a:latin typeface="MV Boli" panose="02000500030200090000" pitchFamily="2" charset="0"/>
              <a:cs typeface="MV Boli" panose="02000500030200090000" pitchFamily="2" charset="0"/>
            </a:endParaRPr>
          </a:p>
        </p:txBody>
      </p:sp>
      <p:sp>
        <p:nvSpPr>
          <p:cNvPr id="40" name="Freeform: Shape 39">
            <a:extLst>
              <a:ext uri="{FF2B5EF4-FFF2-40B4-BE49-F238E27FC236}">
                <a16:creationId xmlns:a16="http://schemas.microsoft.com/office/drawing/2014/main" id="{6E7FDEB0-3CBA-41FC-B81E-113B89DD0B14}"/>
              </a:ext>
            </a:extLst>
          </p:cNvPr>
          <p:cNvSpPr/>
          <p:nvPr/>
        </p:nvSpPr>
        <p:spPr>
          <a:xfrm rot="5400000">
            <a:off x="4957815" y="-9473053"/>
            <a:ext cx="9688087" cy="8844277"/>
          </a:xfrm>
          <a:custGeom>
            <a:avLst/>
            <a:gdLst>
              <a:gd name="connsiteX0" fmla="*/ 6874552 w 9688087"/>
              <a:gd name="connsiteY0" fmla="*/ 1233030 h 8844277"/>
              <a:gd name="connsiteX1" fmla="*/ 7491067 w 9688087"/>
              <a:gd name="connsiteY1" fmla="*/ 0 h 8844277"/>
              <a:gd name="connsiteX2" fmla="*/ 9071572 w 9688087"/>
              <a:gd name="connsiteY2" fmla="*/ 0 h 8844277"/>
              <a:gd name="connsiteX3" fmla="*/ 9688087 w 9688087"/>
              <a:gd name="connsiteY3" fmla="*/ 1233030 h 8844277"/>
              <a:gd name="connsiteX4" fmla="*/ 9071572 w 9688087"/>
              <a:gd name="connsiteY4" fmla="*/ 2466058 h 8844277"/>
              <a:gd name="connsiteX5" fmla="*/ 7491067 w 9688087"/>
              <a:gd name="connsiteY5" fmla="*/ 2466058 h 8844277"/>
              <a:gd name="connsiteX6" fmla="*/ 6874552 w 9688087"/>
              <a:gd name="connsiteY6" fmla="*/ 3794972 h 8844277"/>
              <a:gd name="connsiteX7" fmla="*/ 7491067 w 9688087"/>
              <a:gd name="connsiteY7" fmla="*/ 2561942 h 8844277"/>
              <a:gd name="connsiteX8" fmla="*/ 9071572 w 9688087"/>
              <a:gd name="connsiteY8" fmla="*/ 2561942 h 8844277"/>
              <a:gd name="connsiteX9" fmla="*/ 9688087 w 9688087"/>
              <a:gd name="connsiteY9" fmla="*/ 3794972 h 8844277"/>
              <a:gd name="connsiteX10" fmla="*/ 9071572 w 9688087"/>
              <a:gd name="connsiteY10" fmla="*/ 5028000 h 8844277"/>
              <a:gd name="connsiteX11" fmla="*/ 7491067 w 9688087"/>
              <a:gd name="connsiteY11" fmla="*/ 5028000 h 8844277"/>
              <a:gd name="connsiteX12" fmla="*/ 6874552 w 9688087"/>
              <a:gd name="connsiteY12" fmla="*/ 6356914 h 8844277"/>
              <a:gd name="connsiteX13" fmla="*/ 7491067 w 9688087"/>
              <a:gd name="connsiteY13" fmla="*/ 5123884 h 8844277"/>
              <a:gd name="connsiteX14" fmla="*/ 9071572 w 9688087"/>
              <a:gd name="connsiteY14" fmla="*/ 5123884 h 8844277"/>
              <a:gd name="connsiteX15" fmla="*/ 9688087 w 9688087"/>
              <a:gd name="connsiteY15" fmla="*/ 6356914 h 8844277"/>
              <a:gd name="connsiteX16" fmla="*/ 9071571 w 9688087"/>
              <a:gd name="connsiteY16" fmla="*/ 7589943 h 8844277"/>
              <a:gd name="connsiteX17" fmla="*/ 7491066 w 9688087"/>
              <a:gd name="connsiteY17" fmla="*/ 7589943 h 8844277"/>
              <a:gd name="connsiteX18" fmla="*/ 4587241 w 9688087"/>
              <a:gd name="connsiteY18" fmla="*/ 2499572 h 8844277"/>
              <a:gd name="connsiteX19" fmla="*/ 5197651 w 9688087"/>
              <a:gd name="connsiteY19" fmla="*/ 1278751 h 8844277"/>
              <a:gd name="connsiteX20" fmla="*/ 6762507 w 9688087"/>
              <a:gd name="connsiteY20" fmla="*/ 1278751 h 8844277"/>
              <a:gd name="connsiteX21" fmla="*/ 7372918 w 9688087"/>
              <a:gd name="connsiteY21" fmla="*/ 2499572 h 8844277"/>
              <a:gd name="connsiteX22" fmla="*/ 6762507 w 9688087"/>
              <a:gd name="connsiteY22" fmla="*/ 3720393 h 8844277"/>
              <a:gd name="connsiteX23" fmla="*/ 5197651 w 9688087"/>
              <a:gd name="connsiteY23" fmla="*/ 3720393 h 8844277"/>
              <a:gd name="connsiteX24" fmla="*/ 4587241 w 9688087"/>
              <a:gd name="connsiteY24" fmla="*/ 5061514 h 8844277"/>
              <a:gd name="connsiteX25" fmla="*/ 5197651 w 9688087"/>
              <a:gd name="connsiteY25" fmla="*/ 3840693 h 8844277"/>
              <a:gd name="connsiteX26" fmla="*/ 6762507 w 9688087"/>
              <a:gd name="connsiteY26" fmla="*/ 3840693 h 8844277"/>
              <a:gd name="connsiteX27" fmla="*/ 7372918 w 9688087"/>
              <a:gd name="connsiteY27" fmla="*/ 5061514 h 8844277"/>
              <a:gd name="connsiteX28" fmla="*/ 6762507 w 9688087"/>
              <a:gd name="connsiteY28" fmla="*/ 6282335 h 8844277"/>
              <a:gd name="connsiteX29" fmla="*/ 5197651 w 9688087"/>
              <a:gd name="connsiteY29" fmla="*/ 6282335 h 8844277"/>
              <a:gd name="connsiteX30" fmla="*/ 4587240 w 9688087"/>
              <a:gd name="connsiteY30" fmla="*/ 7623456 h 8844277"/>
              <a:gd name="connsiteX31" fmla="*/ 5197651 w 9688087"/>
              <a:gd name="connsiteY31" fmla="*/ 6402635 h 8844277"/>
              <a:gd name="connsiteX32" fmla="*/ 6762507 w 9688087"/>
              <a:gd name="connsiteY32" fmla="*/ 6402635 h 8844277"/>
              <a:gd name="connsiteX33" fmla="*/ 7372918 w 9688087"/>
              <a:gd name="connsiteY33" fmla="*/ 7623456 h 8844277"/>
              <a:gd name="connsiteX34" fmla="*/ 6762507 w 9688087"/>
              <a:gd name="connsiteY34" fmla="*/ 8844277 h 8844277"/>
              <a:gd name="connsiteX35" fmla="*/ 5197651 w 9688087"/>
              <a:gd name="connsiteY35" fmla="*/ 8844277 h 8844277"/>
              <a:gd name="connsiteX36" fmla="*/ 2287312 w 9688087"/>
              <a:gd name="connsiteY36" fmla="*/ 3794972 h 8844277"/>
              <a:gd name="connsiteX37" fmla="*/ 2903827 w 9688087"/>
              <a:gd name="connsiteY37" fmla="*/ 2561942 h 8844277"/>
              <a:gd name="connsiteX38" fmla="*/ 4484332 w 9688087"/>
              <a:gd name="connsiteY38" fmla="*/ 2561942 h 8844277"/>
              <a:gd name="connsiteX39" fmla="*/ 5100846 w 9688087"/>
              <a:gd name="connsiteY39" fmla="*/ 3794972 h 8844277"/>
              <a:gd name="connsiteX40" fmla="*/ 4484332 w 9688087"/>
              <a:gd name="connsiteY40" fmla="*/ 5028000 h 8844277"/>
              <a:gd name="connsiteX41" fmla="*/ 2903827 w 9688087"/>
              <a:gd name="connsiteY41" fmla="*/ 5028000 h 8844277"/>
              <a:gd name="connsiteX42" fmla="*/ 2287312 w 9688087"/>
              <a:gd name="connsiteY42" fmla="*/ 6356914 h 8844277"/>
              <a:gd name="connsiteX43" fmla="*/ 2903827 w 9688087"/>
              <a:gd name="connsiteY43" fmla="*/ 5123884 h 8844277"/>
              <a:gd name="connsiteX44" fmla="*/ 4484332 w 9688087"/>
              <a:gd name="connsiteY44" fmla="*/ 5123884 h 8844277"/>
              <a:gd name="connsiteX45" fmla="*/ 5100846 w 9688087"/>
              <a:gd name="connsiteY45" fmla="*/ 6356914 h 8844277"/>
              <a:gd name="connsiteX46" fmla="*/ 4484332 w 9688087"/>
              <a:gd name="connsiteY46" fmla="*/ 7589943 h 8844277"/>
              <a:gd name="connsiteX47" fmla="*/ 2903827 w 9688087"/>
              <a:gd name="connsiteY47" fmla="*/ 7589943 h 8844277"/>
              <a:gd name="connsiteX48" fmla="*/ 2287312 w 9688087"/>
              <a:gd name="connsiteY48" fmla="*/ 1233030 h 8844277"/>
              <a:gd name="connsiteX49" fmla="*/ 2903827 w 9688087"/>
              <a:gd name="connsiteY49" fmla="*/ 0 h 8844277"/>
              <a:gd name="connsiteX50" fmla="*/ 4484332 w 9688087"/>
              <a:gd name="connsiteY50" fmla="*/ 0 h 8844277"/>
              <a:gd name="connsiteX51" fmla="*/ 5100847 w 9688087"/>
              <a:gd name="connsiteY51" fmla="*/ 1233030 h 8844277"/>
              <a:gd name="connsiteX52" fmla="*/ 4484332 w 9688087"/>
              <a:gd name="connsiteY52" fmla="*/ 2466058 h 8844277"/>
              <a:gd name="connsiteX53" fmla="*/ 2903827 w 9688087"/>
              <a:gd name="connsiteY53" fmla="*/ 2466058 h 8844277"/>
              <a:gd name="connsiteX54" fmla="*/ 1 w 9688087"/>
              <a:gd name="connsiteY54" fmla="*/ 5061514 h 8844277"/>
              <a:gd name="connsiteX55" fmla="*/ 610412 w 9688087"/>
              <a:gd name="connsiteY55" fmla="*/ 3840693 h 8844277"/>
              <a:gd name="connsiteX56" fmla="*/ 2175268 w 9688087"/>
              <a:gd name="connsiteY56" fmla="*/ 3840693 h 8844277"/>
              <a:gd name="connsiteX57" fmla="*/ 2785679 w 9688087"/>
              <a:gd name="connsiteY57" fmla="*/ 5061514 h 8844277"/>
              <a:gd name="connsiteX58" fmla="*/ 2175268 w 9688087"/>
              <a:gd name="connsiteY58" fmla="*/ 6282335 h 8844277"/>
              <a:gd name="connsiteX59" fmla="*/ 610412 w 9688087"/>
              <a:gd name="connsiteY59" fmla="*/ 6282335 h 8844277"/>
              <a:gd name="connsiteX60" fmla="*/ 1 w 9688087"/>
              <a:gd name="connsiteY60" fmla="*/ 7623456 h 8844277"/>
              <a:gd name="connsiteX61" fmla="*/ 610412 w 9688087"/>
              <a:gd name="connsiteY61" fmla="*/ 6402635 h 8844277"/>
              <a:gd name="connsiteX62" fmla="*/ 2175268 w 9688087"/>
              <a:gd name="connsiteY62" fmla="*/ 6402635 h 8844277"/>
              <a:gd name="connsiteX63" fmla="*/ 2785679 w 9688087"/>
              <a:gd name="connsiteY63" fmla="*/ 7623456 h 8844277"/>
              <a:gd name="connsiteX64" fmla="*/ 2175268 w 9688087"/>
              <a:gd name="connsiteY64" fmla="*/ 8844277 h 8844277"/>
              <a:gd name="connsiteX65" fmla="*/ 610412 w 9688087"/>
              <a:gd name="connsiteY65" fmla="*/ 8844277 h 8844277"/>
              <a:gd name="connsiteX66" fmla="*/ 0 w 9688087"/>
              <a:gd name="connsiteY66" fmla="*/ 2499572 h 8844277"/>
              <a:gd name="connsiteX67" fmla="*/ 610412 w 9688087"/>
              <a:gd name="connsiteY67" fmla="*/ 1278751 h 8844277"/>
              <a:gd name="connsiteX68" fmla="*/ 2175268 w 9688087"/>
              <a:gd name="connsiteY68" fmla="*/ 1278751 h 8844277"/>
              <a:gd name="connsiteX69" fmla="*/ 2785679 w 9688087"/>
              <a:gd name="connsiteY69" fmla="*/ 2499572 h 8844277"/>
              <a:gd name="connsiteX70" fmla="*/ 2175268 w 9688087"/>
              <a:gd name="connsiteY70" fmla="*/ 3720393 h 8844277"/>
              <a:gd name="connsiteX71" fmla="*/ 610412 w 9688087"/>
              <a:gd name="connsiteY71" fmla="*/ 3720393 h 8844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688087" h="8844277">
                <a:moveTo>
                  <a:pt x="6874552" y="1233030"/>
                </a:moveTo>
                <a:lnTo>
                  <a:pt x="7491067" y="0"/>
                </a:lnTo>
                <a:lnTo>
                  <a:pt x="9071572" y="0"/>
                </a:lnTo>
                <a:lnTo>
                  <a:pt x="9688087" y="1233030"/>
                </a:lnTo>
                <a:lnTo>
                  <a:pt x="9071572" y="2466058"/>
                </a:lnTo>
                <a:lnTo>
                  <a:pt x="7491067" y="2466058"/>
                </a:lnTo>
                <a:close/>
                <a:moveTo>
                  <a:pt x="6874552" y="3794972"/>
                </a:moveTo>
                <a:lnTo>
                  <a:pt x="7491067" y="2561942"/>
                </a:lnTo>
                <a:lnTo>
                  <a:pt x="9071572" y="2561942"/>
                </a:lnTo>
                <a:lnTo>
                  <a:pt x="9688087" y="3794972"/>
                </a:lnTo>
                <a:lnTo>
                  <a:pt x="9071572" y="5028000"/>
                </a:lnTo>
                <a:lnTo>
                  <a:pt x="7491067" y="5028000"/>
                </a:lnTo>
                <a:close/>
                <a:moveTo>
                  <a:pt x="6874552" y="6356914"/>
                </a:moveTo>
                <a:lnTo>
                  <a:pt x="7491067" y="5123884"/>
                </a:lnTo>
                <a:lnTo>
                  <a:pt x="9071572" y="5123884"/>
                </a:lnTo>
                <a:lnTo>
                  <a:pt x="9688087" y="6356914"/>
                </a:lnTo>
                <a:lnTo>
                  <a:pt x="9071571" y="7589943"/>
                </a:lnTo>
                <a:lnTo>
                  <a:pt x="7491066" y="7589943"/>
                </a:lnTo>
                <a:close/>
                <a:moveTo>
                  <a:pt x="4587241" y="2499572"/>
                </a:moveTo>
                <a:lnTo>
                  <a:pt x="5197651" y="1278751"/>
                </a:lnTo>
                <a:lnTo>
                  <a:pt x="6762507" y="1278751"/>
                </a:lnTo>
                <a:lnTo>
                  <a:pt x="7372918" y="2499572"/>
                </a:lnTo>
                <a:lnTo>
                  <a:pt x="6762507" y="3720393"/>
                </a:lnTo>
                <a:lnTo>
                  <a:pt x="5197651" y="3720393"/>
                </a:lnTo>
                <a:close/>
                <a:moveTo>
                  <a:pt x="4587241" y="5061514"/>
                </a:moveTo>
                <a:lnTo>
                  <a:pt x="5197651" y="3840693"/>
                </a:lnTo>
                <a:lnTo>
                  <a:pt x="6762507" y="3840693"/>
                </a:lnTo>
                <a:lnTo>
                  <a:pt x="7372918" y="5061514"/>
                </a:lnTo>
                <a:lnTo>
                  <a:pt x="6762507" y="6282335"/>
                </a:lnTo>
                <a:lnTo>
                  <a:pt x="5197651" y="6282335"/>
                </a:lnTo>
                <a:close/>
                <a:moveTo>
                  <a:pt x="4587240" y="7623456"/>
                </a:moveTo>
                <a:lnTo>
                  <a:pt x="5197651" y="6402635"/>
                </a:lnTo>
                <a:lnTo>
                  <a:pt x="6762507" y="6402635"/>
                </a:lnTo>
                <a:lnTo>
                  <a:pt x="7372918" y="7623456"/>
                </a:lnTo>
                <a:lnTo>
                  <a:pt x="6762507" y="8844277"/>
                </a:lnTo>
                <a:lnTo>
                  <a:pt x="5197651" y="8844277"/>
                </a:lnTo>
                <a:close/>
                <a:moveTo>
                  <a:pt x="2287312" y="3794972"/>
                </a:moveTo>
                <a:lnTo>
                  <a:pt x="2903827" y="2561942"/>
                </a:lnTo>
                <a:lnTo>
                  <a:pt x="4484332" y="2561942"/>
                </a:lnTo>
                <a:lnTo>
                  <a:pt x="5100846" y="3794972"/>
                </a:lnTo>
                <a:lnTo>
                  <a:pt x="4484332" y="5028000"/>
                </a:lnTo>
                <a:lnTo>
                  <a:pt x="2903827" y="5028000"/>
                </a:lnTo>
                <a:close/>
                <a:moveTo>
                  <a:pt x="2287312" y="6356914"/>
                </a:moveTo>
                <a:lnTo>
                  <a:pt x="2903827" y="5123884"/>
                </a:lnTo>
                <a:lnTo>
                  <a:pt x="4484332" y="5123884"/>
                </a:lnTo>
                <a:lnTo>
                  <a:pt x="5100846" y="6356914"/>
                </a:lnTo>
                <a:lnTo>
                  <a:pt x="4484332" y="7589943"/>
                </a:lnTo>
                <a:lnTo>
                  <a:pt x="2903827" y="7589943"/>
                </a:lnTo>
                <a:close/>
                <a:moveTo>
                  <a:pt x="2287312" y="1233030"/>
                </a:moveTo>
                <a:lnTo>
                  <a:pt x="2903827" y="0"/>
                </a:lnTo>
                <a:lnTo>
                  <a:pt x="4484332" y="0"/>
                </a:lnTo>
                <a:lnTo>
                  <a:pt x="5100847" y="1233030"/>
                </a:lnTo>
                <a:lnTo>
                  <a:pt x="4484332" y="2466058"/>
                </a:lnTo>
                <a:lnTo>
                  <a:pt x="2903827" y="2466058"/>
                </a:lnTo>
                <a:close/>
                <a:moveTo>
                  <a:pt x="1" y="5061514"/>
                </a:moveTo>
                <a:lnTo>
                  <a:pt x="610412" y="3840693"/>
                </a:lnTo>
                <a:lnTo>
                  <a:pt x="2175268" y="3840693"/>
                </a:lnTo>
                <a:lnTo>
                  <a:pt x="2785679" y="5061514"/>
                </a:lnTo>
                <a:lnTo>
                  <a:pt x="2175268" y="6282335"/>
                </a:lnTo>
                <a:lnTo>
                  <a:pt x="610412" y="6282335"/>
                </a:lnTo>
                <a:close/>
                <a:moveTo>
                  <a:pt x="1" y="7623456"/>
                </a:moveTo>
                <a:lnTo>
                  <a:pt x="610412" y="6402635"/>
                </a:lnTo>
                <a:lnTo>
                  <a:pt x="2175268" y="6402635"/>
                </a:lnTo>
                <a:lnTo>
                  <a:pt x="2785679" y="7623456"/>
                </a:lnTo>
                <a:lnTo>
                  <a:pt x="2175268" y="8844277"/>
                </a:lnTo>
                <a:lnTo>
                  <a:pt x="610412" y="8844277"/>
                </a:lnTo>
                <a:close/>
                <a:moveTo>
                  <a:pt x="0" y="2499572"/>
                </a:moveTo>
                <a:lnTo>
                  <a:pt x="610412" y="1278751"/>
                </a:lnTo>
                <a:lnTo>
                  <a:pt x="2175268" y="1278751"/>
                </a:lnTo>
                <a:lnTo>
                  <a:pt x="2785679" y="2499572"/>
                </a:lnTo>
                <a:lnTo>
                  <a:pt x="2175268" y="3720393"/>
                </a:lnTo>
                <a:lnTo>
                  <a:pt x="610412" y="3720393"/>
                </a:lnTo>
                <a:close/>
              </a:path>
            </a:pathLst>
          </a:custGeom>
          <a:blipFill dpi="0" rotWithShape="0">
            <a:blip r:embed="rId2"/>
            <a:srcRect/>
            <a:stretch>
              <a:fillRect/>
            </a:stretch>
          </a:blip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 name="Rectangle: Rounded Corners 2">
            <a:extLst>
              <a:ext uri="{FF2B5EF4-FFF2-40B4-BE49-F238E27FC236}">
                <a16:creationId xmlns:a16="http://schemas.microsoft.com/office/drawing/2014/main" id="{86B1FBEF-AEC0-489E-9380-B2298481B4AE}"/>
              </a:ext>
            </a:extLst>
          </p:cNvPr>
          <p:cNvSpPr/>
          <p:nvPr/>
        </p:nvSpPr>
        <p:spPr>
          <a:xfrm>
            <a:off x="1456798" y="2406950"/>
            <a:ext cx="3816242" cy="3989631"/>
          </a:xfrm>
          <a:prstGeom prst="roundRect">
            <a:avLst/>
          </a:prstGeom>
          <a:gradFill flip="none" rotWithShape="1">
            <a:gsLst>
              <a:gs pos="65000">
                <a:srgbClr val="F6B644"/>
              </a:gs>
              <a:gs pos="94000">
                <a:schemeClr val="accent2">
                  <a:lumMod val="50000"/>
                </a:schemeClr>
              </a:gs>
              <a:gs pos="0">
                <a:schemeClr val="accent2">
                  <a:lumMod val="50000"/>
                </a:schemeClr>
              </a:gs>
              <a:gs pos="22000">
                <a:schemeClr val="accent2">
                  <a:lumMod val="75000"/>
                </a:schemeClr>
              </a:gs>
            </a:gsLst>
            <a:path path="circle">
              <a:fillToRect l="100000" t="100000"/>
            </a:path>
            <a:tileRect r="-100000" b="-100000"/>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2">
                  <a:lumMod val="50000"/>
                </a:schemeClr>
              </a:solidFill>
            </a:endParaRPr>
          </a:p>
        </p:txBody>
      </p:sp>
      <p:sp>
        <p:nvSpPr>
          <p:cNvPr id="5" name="TextBox 4">
            <a:extLst>
              <a:ext uri="{FF2B5EF4-FFF2-40B4-BE49-F238E27FC236}">
                <a16:creationId xmlns:a16="http://schemas.microsoft.com/office/drawing/2014/main" id="{60603B6F-1127-4BF6-BB13-4B4AECA5766C}"/>
              </a:ext>
            </a:extLst>
          </p:cNvPr>
          <p:cNvSpPr txBox="1"/>
          <p:nvPr/>
        </p:nvSpPr>
        <p:spPr>
          <a:xfrm>
            <a:off x="1770019" y="3613819"/>
            <a:ext cx="3503021" cy="1754326"/>
          </a:xfrm>
          <a:prstGeom prst="rect">
            <a:avLst/>
          </a:prstGeom>
          <a:noFill/>
        </p:spPr>
        <p:txBody>
          <a:bodyPr wrap="square" rtlCol="0">
            <a:spAutoFit/>
          </a:bodyPr>
          <a:lstStyle/>
          <a:p>
            <a:r>
              <a:rPr lang="en-IN" dirty="0"/>
              <a:t>Author/Student:-</a:t>
            </a:r>
          </a:p>
          <a:p>
            <a:r>
              <a:rPr lang="en-IN" dirty="0"/>
              <a:t>Bharathwaj.K.S</a:t>
            </a:r>
          </a:p>
          <a:p>
            <a:r>
              <a:rPr lang="en-IN" dirty="0"/>
              <a:t>Saveetha school of engineering,</a:t>
            </a:r>
          </a:p>
          <a:p>
            <a:r>
              <a:rPr lang="en-IN" dirty="0"/>
              <a:t>Saveetha University </a:t>
            </a:r>
          </a:p>
          <a:p>
            <a:r>
              <a:rPr lang="en-IN" dirty="0">
                <a:hlinkClick r:id="rId3">
                  <a:extLst>
                    <a:ext uri="{A12FA001-AC4F-418D-AE19-62706E023703}">
                      <ahyp:hlinkClr xmlns:ahyp="http://schemas.microsoft.com/office/drawing/2018/hyperlinkcolor" val="tx"/>
                    </a:ext>
                  </a:extLst>
                </a:hlinkClick>
              </a:rPr>
              <a:t>192124033.sse@saveetha.com</a:t>
            </a:r>
            <a:endParaRPr lang="en-IN" dirty="0"/>
          </a:p>
          <a:p>
            <a:endParaRPr lang="en-IN" dirty="0"/>
          </a:p>
        </p:txBody>
      </p:sp>
      <p:sp>
        <p:nvSpPr>
          <p:cNvPr id="12" name="TextBox 11">
            <a:extLst>
              <a:ext uri="{FF2B5EF4-FFF2-40B4-BE49-F238E27FC236}">
                <a16:creationId xmlns:a16="http://schemas.microsoft.com/office/drawing/2014/main" id="{57705BA8-478C-4C67-93F1-13358537E20A}"/>
              </a:ext>
            </a:extLst>
          </p:cNvPr>
          <p:cNvSpPr txBox="1"/>
          <p:nvPr/>
        </p:nvSpPr>
        <p:spPr>
          <a:xfrm>
            <a:off x="6314861" y="3613819"/>
            <a:ext cx="4113190" cy="1754326"/>
          </a:xfrm>
          <a:prstGeom prst="rect">
            <a:avLst/>
          </a:prstGeom>
          <a:noFill/>
        </p:spPr>
        <p:txBody>
          <a:bodyPr wrap="square">
            <a:spAutoFit/>
          </a:bodyPr>
          <a:lstStyle/>
          <a:p>
            <a:r>
              <a:rPr lang="en-IN" dirty="0"/>
              <a:t>Guide:-</a:t>
            </a:r>
          </a:p>
          <a:p>
            <a:r>
              <a:rPr lang="en-IN" dirty="0"/>
              <a:t>Jaya Mabel Rani A</a:t>
            </a:r>
          </a:p>
          <a:p>
            <a:r>
              <a:rPr lang="en-IN" dirty="0"/>
              <a:t>Saveetha school of engineering,</a:t>
            </a:r>
          </a:p>
          <a:p>
            <a:r>
              <a:rPr lang="en-IN" dirty="0"/>
              <a:t>Saveetha University </a:t>
            </a:r>
          </a:p>
          <a:p>
            <a:r>
              <a:rPr lang="en-IN" dirty="0">
                <a:hlinkClick r:id="rId3">
                  <a:extLst>
                    <a:ext uri="{A12FA001-AC4F-418D-AE19-62706E023703}">
                      <ahyp:hlinkClr xmlns:ahyp="http://schemas.microsoft.com/office/drawing/2018/hyperlinkcolor" val="tx"/>
                    </a:ext>
                  </a:extLst>
                </a:hlinkClick>
              </a:rPr>
              <a:t>192124033.sse@saveetha.com</a:t>
            </a:r>
            <a:endParaRPr lang="en-IN" dirty="0"/>
          </a:p>
          <a:p>
            <a:endParaRPr lang="en-IN" dirty="0"/>
          </a:p>
        </p:txBody>
      </p:sp>
      <p:pic>
        <p:nvPicPr>
          <p:cNvPr id="13" name="Picture 12">
            <a:extLst>
              <a:ext uri="{FF2B5EF4-FFF2-40B4-BE49-F238E27FC236}">
                <a16:creationId xmlns:a16="http://schemas.microsoft.com/office/drawing/2014/main" id="{7173F057-A15C-4EDB-8ED4-5809FA9654F3}"/>
              </a:ext>
            </a:extLst>
          </p:cNvPr>
          <p:cNvPicPr>
            <a:picLocks noChangeAspect="1"/>
          </p:cNvPicPr>
          <p:nvPr/>
        </p:nvPicPr>
        <p:blipFill>
          <a:blip r:embed="rId4"/>
          <a:stretch>
            <a:fillRect/>
          </a:stretch>
        </p:blipFill>
        <p:spPr>
          <a:xfrm>
            <a:off x="210297" y="273165"/>
            <a:ext cx="5444200" cy="2133785"/>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5017084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31721B46-2048-4D8C-A862-3DACCEEF2AB6}"/>
              </a:ext>
            </a:extLst>
          </p:cNvPr>
          <p:cNvSpPr txBox="1"/>
          <p:nvPr/>
        </p:nvSpPr>
        <p:spPr>
          <a:xfrm>
            <a:off x="0" y="-5471160"/>
            <a:ext cx="5273040" cy="5632311"/>
          </a:xfrm>
          <a:prstGeom prst="rect">
            <a:avLst/>
          </a:prstGeom>
          <a:noFill/>
        </p:spPr>
        <p:txBody>
          <a:bodyPr wrap="square" rtlCol="0">
            <a:spAutoFit/>
          </a:bodyPr>
          <a:lstStyle/>
          <a:p>
            <a:pPr lvl="1"/>
            <a:r>
              <a:rPr lang="en-US" sz="4000" b="0" i="0" dirty="0">
                <a:solidFill>
                  <a:schemeClr val="bg2"/>
                </a:solidFill>
                <a:effectLst/>
                <a:latin typeface="MV Boli" panose="02000500030200090000" pitchFamily="2" charset="0"/>
                <a:cs typeface="MV Boli" panose="02000500030200090000" pitchFamily="2" charset="0"/>
              </a:rPr>
              <a:t>A Legal Prediction Model using</a:t>
            </a:r>
            <a:br>
              <a:rPr lang="en-US" sz="4000" dirty="0">
                <a:solidFill>
                  <a:schemeClr val="bg2"/>
                </a:solidFill>
                <a:latin typeface="MV Boli" panose="02000500030200090000" pitchFamily="2" charset="0"/>
                <a:cs typeface="MV Boli" panose="02000500030200090000" pitchFamily="2" charset="0"/>
              </a:rPr>
            </a:br>
            <a:r>
              <a:rPr lang="en-US" sz="4000" b="0" i="0" dirty="0">
                <a:solidFill>
                  <a:schemeClr val="bg2"/>
                </a:solidFill>
                <a:effectLst/>
                <a:latin typeface="MV Boli" panose="02000500030200090000" pitchFamily="2" charset="0"/>
                <a:cs typeface="MV Boli" panose="02000500030200090000" pitchFamily="2" charset="0"/>
              </a:rPr>
              <a:t>Support Vector Machine and </a:t>
            </a:r>
          </a:p>
          <a:p>
            <a:pPr lvl="1"/>
            <a:r>
              <a:rPr lang="en-US" sz="4000" b="0" i="0" dirty="0">
                <a:solidFill>
                  <a:schemeClr val="bg2"/>
                </a:solidFill>
                <a:effectLst/>
                <a:latin typeface="MV Boli" panose="02000500030200090000" pitchFamily="2" charset="0"/>
                <a:cs typeface="MV Boli" panose="02000500030200090000" pitchFamily="2" charset="0"/>
              </a:rPr>
              <a:t>K-means Clustering Algorithm for Predicting</a:t>
            </a:r>
            <a:br>
              <a:rPr lang="en-US" sz="4000" dirty="0">
                <a:solidFill>
                  <a:schemeClr val="bg2"/>
                </a:solidFill>
                <a:latin typeface="MV Boli" panose="02000500030200090000" pitchFamily="2" charset="0"/>
                <a:cs typeface="MV Boli" panose="02000500030200090000" pitchFamily="2" charset="0"/>
              </a:rPr>
            </a:br>
            <a:r>
              <a:rPr lang="en-US" sz="4000" b="0" i="0" dirty="0">
                <a:solidFill>
                  <a:schemeClr val="bg2"/>
                </a:solidFill>
                <a:effectLst/>
                <a:latin typeface="MV Boli" panose="02000500030200090000" pitchFamily="2" charset="0"/>
                <a:cs typeface="MV Boli" panose="02000500030200090000" pitchFamily="2" charset="0"/>
              </a:rPr>
              <a:t>Judgements and Making Decisions</a:t>
            </a:r>
            <a:endParaRPr lang="en-IN" sz="4000" dirty="0">
              <a:solidFill>
                <a:schemeClr val="bg2"/>
              </a:solidFill>
              <a:latin typeface="MV Boli" panose="02000500030200090000" pitchFamily="2" charset="0"/>
              <a:cs typeface="MV Boli" panose="02000500030200090000" pitchFamily="2" charset="0"/>
            </a:endParaRPr>
          </a:p>
        </p:txBody>
      </p:sp>
      <p:sp>
        <p:nvSpPr>
          <p:cNvPr id="40" name="Freeform: Shape 39">
            <a:extLst>
              <a:ext uri="{FF2B5EF4-FFF2-40B4-BE49-F238E27FC236}">
                <a16:creationId xmlns:a16="http://schemas.microsoft.com/office/drawing/2014/main" id="{6E7FDEB0-3CBA-41FC-B81E-113B89DD0B14}"/>
              </a:ext>
            </a:extLst>
          </p:cNvPr>
          <p:cNvSpPr/>
          <p:nvPr/>
        </p:nvSpPr>
        <p:spPr>
          <a:xfrm rot="5400000">
            <a:off x="4957815" y="-9473053"/>
            <a:ext cx="9688087" cy="8844277"/>
          </a:xfrm>
          <a:custGeom>
            <a:avLst/>
            <a:gdLst>
              <a:gd name="connsiteX0" fmla="*/ 6874552 w 9688087"/>
              <a:gd name="connsiteY0" fmla="*/ 1233030 h 8844277"/>
              <a:gd name="connsiteX1" fmla="*/ 7491067 w 9688087"/>
              <a:gd name="connsiteY1" fmla="*/ 0 h 8844277"/>
              <a:gd name="connsiteX2" fmla="*/ 9071572 w 9688087"/>
              <a:gd name="connsiteY2" fmla="*/ 0 h 8844277"/>
              <a:gd name="connsiteX3" fmla="*/ 9688087 w 9688087"/>
              <a:gd name="connsiteY3" fmla="*/ 1233030 h 8844277"/>
              <a:gd name="connsiteX4" fmla="*/ 9071572 w 9688087"/>
              <a:gd name="connsiteY4" fmla="*/ 2466058 h 8844277"/>
              <a:gd name="connsiteX5" fmla="*/ 7491067 w 9688087"/>
              <a:gd name="connsiteY5" fmla="*/ 2466058 h 8844277"/>
              <a:gd name="connsiteX6" fmla="*/ 6874552 w 9688087"/>
              <a:gd name="connsiteY6" fmla="*/ 3794972 h 8844277"/>
              <a:gd name="connsiteX7" fmla="*/ 7491067 w 9688087"/>
              <a:gd name="connsiteY7" fmla="*/ 2561942 h 8844277"/>
              <a:gd name="connsiteX8" fmla="*/ 9071572 w 9688087"/>
              <a:gd name="connsiteY8" fmla="*/ 2561942 h 8844277"/>
              <a:gd name="connsiteX9" fmla="*/ 9688087 w 9688087"/>
              <a:gd name="connsiteY9" fmla="*/ 3794972 h 8844277"/>
              <a:gd name="connsiteX10" fmla="*/ 9071572 w 9688087"/>
              <a:gd name="connsiteY10" fmla="*/ 5028000 h 8844277"/>
              <a:gd name="connsiteX11" fmla="*/ 7491067 w 9688087"/>
              <a:gd name="connsiteY11" fmla="*/ 5028000 h 8844277"/>
              <a:gd name="connsiteX12" fmla="*/ 6874552 w 9688087"/>
              <a:gd name="connsiteY12" fmla="*/ 6356914 h 8844277"/>
              <a:gd name="connsiteX13" fmla="*/ 7491067 w 9688087"/>
              <a:gd name="connsiteY13" fmla="*/ 5123884 h 8844277"/>
              <a:gd name="connsiteX14" fmla="*/ 9071572 w 9688087"/>
              <a:gd name="connsiteY14" fmla="*/ 5123884 h 8844277"/>
              <a:gd name="connsiteX15" fmla="*/ 9688087 w 9688087"/>
              <a:gd name="connsiteY15" fmla="*/ 6356914 h 8844277"/>
              <a:gd name="connsiteX16" fmla="*/ 9071571 w 9688087"/>
              <a:gd name="connsiteY16" fmla="*/ 7589943 h 8844277"/>
              <a:gd name="connsiteX17" fmla="*/ 7491066 w 9688087"/>
              <a:gd name="connsiteY17" fmla="*/ 7589943 h 8844277"/>
              <a:gd name="connsiteX18" fmla="*/ 4587241 w 9688087"/>
              <a:gd name="connsiteY18" fmla="*/ 2499572 h 8844277"/>
              <a:gd name="connsiteX19" fmla="*/ 5197651 w 9688087"/>
              <a:gd name="connsiteY19" fmla="*/ 1278751 h 8844277"/>
              <a:gd name="connsiteX20" fmla="*/ 6762507 w 9688087"/>
              <a:gd name="connsiteY20" fmla="*/ 1278751 h 8844277"/>
              <a:gd name="connsiteX21" fmla="*/ 7372918 w 9688087"/>
              <a:gd name="connsiteY21" fmla="*/ 2499572 h 8844277"/>
              <a:gd name="connsiteX22" fmla="*/ 6762507 w 9688087"/>
              <a:gd name="connsiteY22" fmla="*/ 3720393 h 8844277"/>
              <a:gd name="connsiteX23" fmla="*/ 5197651 w 9688087"/>
              <a:gd name="connsiteY23" fmla="*/ 3720393 h 8844277"/>
              <a:gd name="connsiteX24" fmla="*/ 4587241 w 9688087"/>
              <a:gd name="connsiteY24" fmla="*/ 5061514 h 8844277"/>
              <a:gd name="connsiteX25" fmla="*/ 5197651 w 9688087"/>
              <a:gd name="connsiteY25" fmla="*/ 3840693 h 8844277"/>
              <a:gd name="connsiteX26" fmla="*/ 6762507 w 9688087"/>
              <a:gd name="connsiteY26" fmla="*/ 3840693 h 8844277"/>
              <a:gd name="connsiteX27" fmla="*/ 7372918 w 9688087"/>
              <a:gd name="connsiteY27" fmla="*/ 5061514 h 8844277"/>
              <a:gd name="connsiteX28" fmla="*/ 6762507 w 9688087"/>
              <a:gd name="connsiteY28" fmla="*/ 6282335 h 8844277"/>
              <a:gd name="connsiteX29" fmla="*/ 5197651 w 9688087"/>
              <a:gd name="connsiteY29" fmla="*/ 6282335 h 8844277"/>
              <a:gd name="connsiteX30" fmla="*/ 4587240 w 9688087"/>
              <a:gd name="connsiteY30" fmla="*/ 7623456 h 8844277"/>
              <a:gd name="connsiteX31" fmla="*/ 5197651 w 9688087"/>
              <a:gd name="connsiteY31" fmla="*/ 6402635 h 8844277"/>
              <a:gd name="connsiteX32" fmla="*/ 6762507 w 9688087"/>
              <a:gd name="connsiteY32" fmla="*/ 6402635 h 8844277"/>
              <a:gd name="connsiteX33" fmla="*/ 7372918 w 9688087"/>
              <a:gd name="connsiteY33" fmla="*/ 7623456 h 8844277"/>
              <a:gd name="connsiteX34" fmla="*/ 6762507 w 9688087"/>
              <a:gd name="connsiteY34" fmla="*/ 8844277 h 8844277"/>
              <a:gd name="connsiteX35" fmla="*/ 5197651 w 9688087"/>
              <a:gd name="connsiteY35" fmla="*/ 8844277 h 8844277"/>
              <a:gd name="connsiteX36" fmla="*/ 2287312 w 9688087"/>
              <a:gd name="connsiteY36" fmla="*/ 3794972 h 8844277"/>
              <a:gd name="connsiteX37" fmla="*/ 2903827 w 9688087"/>
              <a:gd name="connsiteY37" fmla="*/ 2561942 h 8844277"/>
              <a:gd name="connsiteX38" fmla="*/ 4484332 w 9688087"/>
              <a:gd name="connsiteY38" fmla="*/ 2561942 h 8844277"/>
              <a:gd name="connsiteX39" fmla="*/ 5100846 w 9688087"/>
              <a:gd name="connsiteY39" fmla="*/ 3794972 h 8844277"/>
              <a:gd name="connsiteX40" fmla="*/ 4484332 w 9688087"/>
              <a:gd name="connsiteY40" fmla="*/ 5028000 h 8844277"/>
              <a:gd name="connsiteX41" fmla="*/ 2903827 w 9688087"/>
              <a:gd name="connsiteY41" fmla="*/ 5028000 h 8844277"/>
              <a:gd name="connsiteX42" fmla="*/ 2287312 w 9688087"/>
              <a:gd name="connsiteY42" fmla="*/ 6356914 h 8844277"/>
              <a:gd name="connsiteX43" fmla="*/ 2903827 w 9688087"/>
              <a:gd name="connsiteY43" fmla="*/ 5123884 h 8844277"/>
              <a:gd name="connsiteX44" fmla="*/ 4484332 w 9688087"/>
              <a:gd name="connsiteY44" fmla="*/ 5123884 h 8844277"/>
              <a:gd name="connsiteX45" fmla="*/ 5100846 w 9688087"/>
              <a:gd name="connsiteY45" fmla="*/ 6356914 h 8844277"/>
              <a:gd name="connsiteX46" fmla="*/ 4484332 w 9688087"/>
              <a:gd name="connsiteY46" fmla="*/ 7589943 h 8844277"/>
              <a:gd name="connsiteX47" fmla="*/ 2903827 w 9688087"/>
              <a:gd name="connsiteY47" fmla="*/ 7589943 h 8844277"/>
              <a:gd name="connsiteX48" fmla="*/ 2287312 w 9688087"/>
              <a:gd name="connsiteY48" fmla="*/ 1233030 h 8844277"/>
              <a:gd name="connsiteX49" fmla="*/ 2903827 w 9688087"/>
              <a:gd name="connsiteY49" fmla="*/ 0 h 8844277"/>
              <a:gd name="connsiteX50" fmla="*/ 4484332 w 9688087"/>
              <a:gd name="connsiteY50" fmla="*/ 0 h 8844277"/>
              <a:gd name="connsiteX51" fmla="*/ 5100847 w 9688087"/>
              <a:gd name="connsiteY51" fmla="*/ 1233030 h 8844277"/>
              <a:gd name="connsiteX52" fmla="*/ 4484332 w 9688087"/>
              <a:gd name="connsiteY52" fmla="*/ 2466058 h 8844277"/>
              <a:gd name="connsiteX53" fmla="*/ 2903827 w 9688087"/>
              <a:gd name="connsiteY53" fmla="*/ 2466058 h 8844277"/>
              <a:gd name="connsiteX54" fmla="*/ 1 w 9688087"/>
              <a:gd name="connsiteY54" fmla="*/ 5061514 h 8844277"/>
              <a:gd name="connsiteX55" fmla="*/ 610412 w 9688087"/>
              <a:gd name="connsiteY55" fmla="*/ 3840693 h 8844277"/>
              <a:gd name="connsiteX56" fmla="*/ 2175268 w 9688087"/>
              <a:gd name="connsiteY56" fmla="*/ 3840693 h 8844277"/>
              <a:gd name="connsiteX57" fmla="*/ 2785679 w 9688087"/>
              <a:gd name="connsiteY57" fmla="*/ 5061514 h 8844277"/>
              <a:gd name="connsiteX58" fmla="*/ 2175268 w 9688087"/>
              <a:gd name="connsiteY58" fmla="*/ 6282335 h 8844277"/>
              <a:gd name="connsiteX59" fmla="*/ 610412 w 9688087"/>
              <a:gd name="connsiteY59" fmla="*/ 6282335 h 8844277"/>
              <a:gd name="connsiteX60" fmla="*/ 1 w 9688087"/>
              <a:gd name="connsiteY60" fmla="*/ 7623456 h 8844277"/>
              <a:gd name="connsiteX61" fmla="*/ 610412 w 9688087"/>
              <a:gd name="connsiteY61" fmla="*/ 6402635 h 8844277"/>
              <a:gd name="connsiteX62" fmla="*/ 2175268 w 9688087"/>
              <a:gd name="connsiteY62" fmla="*/ 6402635 h 8844277"/>
              <a:gd name="connsiteX63" fmla="*/ 2785679 w 9688087"/>
              <a:gd name="connsiteY63" fmla="*/ 7623456 h 8844277"/>
              <a:gd name="connsiteX64" fmla="*/ 2175268 w 9688087"/>
              <a:gd name="connsiteY64" fmla="*/ 8844277 h 8844277"/>
              <a:gd name="connsiteX65" fmla="*/ 610412 w 9688087"/>
              <a:gd name="connsiteY65" fmla="*/ 8844277 h 8844277"/>
              <a:gd name="connsiteX66" fmla="*/ 0 w 9688087"/>
              <a:gd name="connsiteY66" fmla="*/ 2499572 h 8844277"/>
              <a:gd name="connsiteX67" fmla="*/ 610412 w 9688087"/>
              <a:gd name="connsiteY67" fmla="*/ 1278751 h 8844277"/>
              <a:gd name="connsiteX68" fmla="*/ 2175268 w 9688087"/>
              <a:gd name="connsiteY68" fmla="*/ 1278751 h 8844277"/>
              <a:gd name="connsiteX69" fmla="*/ 2785679 w 9688087"/>
              <a:gd name="connsiteY69" fmla="*/ 2499572 h 8844277"/>
              <a:gd name="connsiteX70" fmla="*/ 2175268 w 9688087"/>
              <a:gd name="connsiteY70" fmla="*/ 3720393 h 8844277"/>
              <a:gd name="connsiteX71" fmla="*/ 610412 w 9688087"/>
              <a:gd name="connsiteY71" fmla="*/ 3720393 h 8844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688087" h="8844277">
                <a:moveTo>
                  <a:pt x="6874552" y="1233030"/>
                </a:moveTo>
                <a:lnTo>
                  <a:pt x="7491067" y="0"/>
                </a:lnTo>
                <a:lnTo>
                  <a:pt x="9071572" y="0"/>
                </a:lnTo>
                <a:lnTo>
                  <a:pt x="9688087" y="1233030"/>
                </a:lnTo>
                <a:lnTo>
                  <a:pt x="9071572" y="2466058"/>
                </a:lnTo>
                <a:lnTo>
                  <a:pt x="7491067" y="2466058"/>
                </a:lnTo>
                <a:close/>
                <a:moveTo>
                  <a:pt x="6874552" y="3794972"/>
                </a:moveTo>
                <a:lnTo>
                  <a:pt x="7491067" y="2561942"/>
                </a:lnTo>
                <a:lnTo>
                  <a:pt x="9071572" y="2561942"/>
                </a:lnTo>
                <a:lnTo>
                  <a:pt x="9688087" y="3794972"/>
                </a:lnTo>
                <a:lnTo>
                  <a:pt x="9071572" y="5028000"/>
                </a:lnTo>
                <a:lnTo>
                  <a:pt x="7491067" y="5028000"/>
                </a:lnTo>
                <a:close/>
                <a:moveTo>
                  <a:pt x="6874552" y="6356914"/>
                </a:moveTo>
                <a:lnTo>
                  <a:pt x="7491067" y="5123884"/>
                </a:lnTo>
                <a:lnTo>
                  <a:pt x="9071572" y="5123884"/>
                </a:lnTo>
                <a:lnTo>
                  <a:pt x="9688087" y="6356914"/>
                </a:lnTo>
                <a:lnTo>
                  <a:pt x="9071571" y="7589943"/>
                </a:lnTo>
                <a:lnTo>
                  <a:pt x="7491066" y="7589943"/>
                </a:lnTo>
                <a:close/>
                <a:moveTo>
                  <a:pt x="4587241" y="2499572"/>
                </a:moveTo>
                <a:lnTo>
                  <a:pt x="5197651" y="1278751"/>
                </a:lnTo>
                <a:lnTo>
                  <a:pt x="6762507" y="1278751"/>
                </a:lnTo>
                <a:lnTo>
                  <a:pt x="7372918" y="2499572"/>
                </a:lnTo>
                <a:lnTo>
                  <a:pt x="6762507" y="3720393"/>
                </a:lnTo>
                <a:lnTo>
                  <a:pt x="5197651" y="3720393"/>
                </a:lnTo>
                <a:close/>
                <a:moveTo>
                  <a:pt x="4587241" y="5061514"/>
                </a:moveTo>
                <a:lnTo>
                  <a:pt x="5197651" y="3840693"/>
                </a:lnTo>
                <a:lnTo>
                  <a:pt x="6762507" y="3840693"/>
                </a:lnTo>
                <a:lnTo>
                  <a:pt x="7372918" y="5061514"/>
                </a:lnTo>
                <a:lnTo>
                  <a:pt x="6762507" y="6282335"/>
                </a:lnTo>
                <a:lnTo>
                  <a:pt x="5197651" y="6282335"/>
                </a:lnTo>
                <a:close/>
                <a:moveTo>
                  <a:pt x="4587240" y="7623456"/>
                </a:moveTo>
                <a:lnTo>
                  <a:pt x="5197651" y="6402635"/>
                </a:lnTo>
                <a:lnTo>
                  <a:pt x="6762507" y="6402635"/>
                </a:lnTo>
                <a:lnTo>
                  <a:pt x="7372918" y="7623456"/>
                </a:lnTo>
                <a:lnTo>
                  <a:pt x="6762507" y="8844277"/>
                </a:lnTo>
                <a:lnTo>
                  <a:pt x="5197651" y="8844277"/>
                </a:lnTo>
                <a:close/>
                <a:moveTo>
                  <a:pt x="2287312" y="3794972"/>
                </a:moveTo>
                <a:lnTo>
                  <a:pt x="2903827" y="2561942"/>
                </a:lnTo>
                <a:lnTo>
                  <a:pt x="4484332" y="2561942"/>
                </a:lnTo>
                <a:lnTo>
                  <a:pt x="5100846" y="3794972"/>
                </a:lnTo>
                <a:lnTo>
                  <a:pt x="4484332" y="5028000"/>
                </a:lnTo>
                <a:lnTo>
                  <a:pt x="2903827" y="5028000"/>
                </a:lnTo>
                <a:close/>
                <a:moveTo>
                  <a:pt x="2287312" y="6356914"/>
                </a:moveTo>
                <a:lnTo>
                  <a:pt x="2903827" y="5123884"/>
                </a:lnTo>
                <a:lnTo>
                  <a:pt x="4484332" y="5123884"/>
                </a:lnTo>
                <a:lnTo>
                  <a:pt x="5100846" y="6356914"/>
                </a:lnTo>
                <a:lnTo>
                  <a:pt x="4484332" y="7589943"/>
                </a:lnTo>
                <a:lnTo>
                  <a:pt x="2903827" y="7589943"/>
                </a:lnTo>
                <a:close/>
                <a:moveTo>
                  <a:pt x="2287312" y="1233030"/>
                </a:moveTo>
                <a:lnTo>
                  <a:pt x="2903827" y="0"/>
                </a:lnTo>
                <a:lnTo>
                  <a:pt x="4484332" y="0"/>
                </a:lnTo>
                <a:lnTo>
                  <a:pt x="5100847" y="1233030"/>
                </a:lnTo>
                <a:lnTo>
                  <a:pt x="4484332" y="2466058"/>
                </a:lnTo>
                <a:lnTo>
                  <a:pt x="2903827" y="2466058"/>
                </a:lnTo>
                <a:close/>
                <a:moveTo>
                  <a:pt x="1" y="5061514"/>
                </a:moveTo>
                <a:lnTo>
                  <a:pt x="610412" y="3840693"/>
                </a:lnTo>
                <a:lnTo>
                  <a:pt x="2175268" y="3840693"/>
                </a:lnTo>
                <a:lnTo>
                  <a:pt x="2785679" y="5061514"/>
                </a:lnTo>
                <a:lnTo>
                  <a:pt x="2175268" y="6282335"/>
                </a:lnTo>
                <a:lnTo>
                  <a:pt x="610412" y="6282335"/>
                </a:lnTo>
                <a:close/>
                <a:moveTo>
                  <a:pt x="1" y="7623456"/>
                </a:moveTo>
                <a:lnTo>
                  <a:pt x="610412" y="6402635"/>
                </a:lnTo>
                <a:lnTo>
                  <a:pt x="2175268" y="6402635"/>
                </a:lnTo>
                <a:lnTo>
                  <a:pt x="2785679" y="7623456"/>
                </a:lnTo>
                <a:lnTo>
                  <a:pt x="2175268" y="8844277"/>
                </a:lnTo>
                <a:lnTo>
                  <a:pt x="610412" y="8844277"/>
                </a:lnTo>
                <a:close/>
                <a:moveTo>
                  <a:pt x="0" y="2499572"/>
                </a:moveTo>
                <a:lnTo>
                  <a:pt x="610412" y="1278751"/>
                </a:lnTo>
                <a:lnTo>
                  <a:pt x="2175268" y="1278751"/>
                </a:lnTo>
                <a:lnTo>
                  <a:pt x="2785679" y="2499572"/>
                </a:lnTo>
                <a:lnTo>
                  <a:pt x="2175268" y="3720393"/>
                </a:lnTo>
                <a:lnTo>
                  <a:pt x="610412" y="3720393"/>
                </a:lnTo>
                <a:close/>
              </a:path>
            </a:pathLst>
          </a:custGeom>
          <a:blipFill dpi="0" rotWithShape="0">
            <a:blip r:embed="rId2"/>
            <a:srcRect/>
            <a:stretch>
              <a:fillRect/>
            </a:stretch>
          </a:blip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 name="Rectangle: Rounded Corners 2">
            <a:extLst>
              <a:ext uri="{FF2B5EF4-FFF2-40B4-BE49-F238E27FC236}">
                <a16:creationId xmlns:a16="http://schemas.microsoft.com/office/drawing/2014/main" id="{86B1FBEF-AEC0-489E-9380-B2298481B4AE}"/>
              </a:ext>
            </a:extLst>
          </p:cNvPr>
          <p:cNvSpPr/>
          <p:nvPr/>
        </p:nvSpPr>
        <p:spPr>
          <a:xfrm>
            <a:off x="6891389" y="2406950"/>
            <a:ext cx="3816242" cy="3989631"/>
          </a:xfrm>
          <a:prstGeom prst="roundRect">
            <a:avLst/>
          </a:prstGeom>
          <a:gradFill flip="none" rotWithShape="1">
            <a:gsLst>
              <a:gs pos="81000">
                <a:srgbClr val="E840E0"/>
              </a:gs>
              <a:gs pos="82000">
                <a:srgbClr val="D41ACB"/>
              </a:gs>
              <a:gs pos="6000">
                <a:srgbClr val="E840E0"/>
              </a:gs>
              <a:gs pos="58000">
                <a:srgbClr val="E840E0"/>
              </a:gs>
              <a:gs pos="21000">
                <a:srgbClr val="D41ACB"/>
              </a:gs>
            </a:gsLst>
            <a:path path="circle">
              <a:fillToRect l="100000" t="100000"/>
            </a:path>
            <a:tileRect r="-100000" b="-100000"/>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2">
                  <a:lumMod val="50000"/>
                </a:schemeClr>
              </a:solidFill>
            </a:endParaRPr>
          </a:p>
        </p:txBody>
      </p:sp>
      <p:sp>
        <p:nvSpPr>
          <p:cNvPr id="5" name="TextBox 4">
            <a:extLst>
              <a:ext uri="{FF2B5EF4-FFF2-40B4-BE49-F238E27FC236}">
                <a16:creationId xmlns:a16="http://schemas.microsoft.com/office/drawing/2014/main" id="{60603B6F-1127-4BF6-BB13-4B4AECA5766C}"/>
              </a:ext>
            </a:extLst>
          </p:cNvPr>
          <p:cNvSpPr txBox="1"/>
          <p:nvPr/>
        </p:nvSpPr>
        <p:spPr>
          <a:xfrm>
            <a:off x="1680118" y="3573888"/>
            <a:ext cx="3503021" cy="1754326"/>
          </a:xfrm>
          <a:prstGeom prst="rect">
            <a:avLst/>
          </a:prstGeom>
          <a:noFill/>
        </p:spPr>
        <p:txBody>
          <a:bodyPr wrap="square" rtlCol="0">
            <a:spAutoFit/>
          </a:bodyPr>
          <a:lstStyle/>
          <a:p>
            <a:r>
              <a:rPr lang="en-IN" dirty="0">
                <a:solidFill>
                  <a:schemeClr val="bg1"/>
                </a:solidFill>
              </a:rPr>
              <a:t>Author/Student:-</a:t>
            </a:r>
          </a:p>
          <a:p>
            <a:r>
              <a:rPr lang="en-IN" dirty="0">
                <a:solidFill>
                  <a:schemeClr val="bg1"/>
                </a:solidFill>
              </a:rPr>
              <a:t>Bharathwaj.K.S</a:t>
            </a:r>
          </a:p>
          <a:p>
            <a:r>
              <a:rPr lang="en-IN" dirty="0">
                <a:solidFill>
                  <a:schemeClr val="bg1"/>
                </a:solidFill>
              </a:rPr>
              <a:t>Saveetha school of engineering,</a:t>
            </a:r>
          </a:p>
          <a:p>
            <a:r>
              <a:rPr lang="en-IN" dirty="0">
                <a:solidFill>
                  <a:schemeClr val="bg1"/>
                </a:solidFill>
              </a:rPr>
              <a:t>Saveetha University </a:t>
            </a:r>
          </a:p>
          <a:p>
            <a:r>
              <a:rPr lang="en-IN" dirty="0">
                <a:solidFill>
                  <a:schemeClr val="bg1"/>
                </a:solidFill>
                <a:hlinkClick r:id="rId3">
                  <a:extLst>
                    <a:ext uri="{A12FA001-AC4F-418D-AE19-62706E023703}">
                      <ahyp:hlinkClr xmlns:ahyp="http://schemas.microsoft.com/office/drawing/2018/hyperlinkcolor" val="tx"/>
                    </a:ext>
                  </a:extLst>
                </a:hlinkClick>
              </a:rPr>
              <a:t>192124033.sse@saveetha.com</a:t>
            </a:r>
            <a:endParaRPr lang="en-IN" dirty="0">
              <a:solidFill>
                <a:schemeClr val="bg1"/>
              </a:solidFill>
            </a:endParaRPr>
          </a:p>
          <a:p>
            <a:endParaRPr lang="en-IN" dirty="0">
              <a:solidFill>
                <a:schemeClr val="bg1"/>
              </a:solidFill>
            </a:endParaRPr>
          </a:p>
        </p:txBody>
      </p:sp>
      <p:sp>
        <p:nvSpPr>
          <p:cNvPr id="12" name="TextBox 11">
            <a:extLst>
              <a:ext uri="{FF2B5EF4-FFF2-40B4-BE49-F238E27FC236}">
                <a16:creationId xmlns:a16="http://schemas.microsoft.com/office/drawing/2014/main" id="{57705BA8-478C-4C67-93F1-13358537E20A}"/>
              </a:ext>
            </a:extLst>
          </p:cNvPr>
          <p:cNvSpPr txBox="1"/>
          <p:nvPr/>
        </p:nvSpPr>
        <p:spPr>
          <a:xfrm>
            <a:off x="7220634" y="3524603"/>
            <a:ext cx="4113190" cy="1477328"/>
          </a:xfrm>
          <a:prstGeom prst="rect">
            <a:avLst/>
          </a:prstGeom>
          <a:noFill/>
        </p:spPr>
        <p:txBody>
          <a:bodyPr wrap="square">
            <a:spAutoFit/>
          </a:bodyPr>
          <a:lstStyle/>
          <a:p>
            <a:r>
              <a:rPr lang="en-IN" dirty="0">
                <a:solidFill>
                  <a:schemeClr val="bg1"/>
                </a:solidFill>
              </a:rPr>
              <a:t>Guide:-</a:t>
            </a:r>
          </a:p>
          <a:p>
            <a:r>
              <a:rPr lang="en-IN" dirty="0">
                <a:solidFill>
                  <a:schemeClr val="bg1"/>
                </a:solidFill>
              </a:rPr>
              <a:t>Jaya Mabel Rani A</a:t>
            </a:r>
          </a:p>
          <a:p>
            <a:r>
              <a:rPr lang="en-IN" dirty="0">
                <a:solidFill>
                  <a:schemeClr val="bg1"/>
                </a:solidFill>
              </a:rPr>
              <a:t>Saveetha school of engineering,</a:t>
            </a:r>
          </a:p>
          <a:p>
            <a:r>
              <a:rPr lang="en-IN" dirty="0">
                <a:solidFill>
                  <a:schemeClr val="bg1"/>
                </a:solidFill>
              </a:rPr>
              <a:t>Saveetha University </a:t>
            </a:r>
          </a:p>
          <a:p>
            <a:r>
              <a:rPr lang="en-IN" dirty="0">
                <a:solidFill>
                  <a:schemeClr val="bg1"/>
                </a:solidFill>
              </a:rPr>
              <a:t>ajayamabelrani@gmail.com</a:t>
            </a:r>
          </a:p>
        </p:txBody>
      </p:sp>
      <p:pic>
        <p:nvPicPr>
          <p:cNvPr id="13" name="Picture 12">
            <a:extLst>
              <a:ext uri="{FF2B5EF4-FFF2-40B4-BE49-F238E27FC236}">
                <a16:creationId xmlns:a16="http://schemas.microsoft.com/office/drawing/2014/main" id="{7173F057-A15C-4EDB-8ED4-5809FA9654F3}"/>
              </a:ext>
            </a:extLst>
          </p:cNvPr>
          <p:cNvPicPr>
            <a:picLocks noChangeAspect="1"/>
          </p:cNvPicPr>
          <p:nvPr/>
        </p:nvPicPr>
        <p:blipFill>
          <a:blip r:embed="rId4"/>
          <a:stretch>
            <a:fillRect/>
          </a:stretch>
        </p:blipFill>
        <p:spPr>
          <a:xfrm>
            <a:off x="210297" y="273165"/>
            <a:ext cx="5444200" cy="2133785"/>
          </a:xfrm>
          <a:prstGeom prst="rect">
            <a:avLst/>
          </a:prstGeom>
          <a:effectLst>
            <a:outerShdw blurRad="50800" dist="38100" dir="8100000" algn="tr" rotWithShape="0">
              <a:prstClr val="black">
                <a:alpha val="40000"/>
              </a:prstClr>
            </a:outerShdw>
          </a:effectLst>
        </p:spPr>
      </p:pic>
      <p:pic>
        <p:nvPicPr>
          <p:cNvPr id="8" name="Picture 7">
            <a:extLst>
              <a:ext uri="{FF2B5EF4-FFF2-40B4-BE49-F238E27FC236}">
                <a16:creationId xmlns:a16="http://schemas.microsoft.com/office/drawing/2014/main" id="{55DC40D6-48A6-488D-9627-19B1FC227F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06045" y="904672"/>
            <a:ext cx="3365770" cy="5048655"/>
          </a:xfrm>
          <a:prstGeom prst="rect">
            <a:avLst/>
          </a:prstGeom>
        </p:spPr>
      </p:pic>
      <p:sp>
        <p:nvSpPr>
          <p:cNvPr id="10" name="TextBox 9">
            <a:extLst>
              <a:ext uri="{FF2B5EF4-FFF2-40B4-BE49-F238E27FC236}">
                <a16:creationId xmlns:a16="http://schemas.microsoft.com/office/drawing/2014/main" id="{72F5FE14-5A77-4D34-A403-F43F73166161}"/>
              </a:ext>
            </a:extLst>
          </p:cNvPr>
          <p:cNvSpPr txBox="1"/>
          <p:nvPr/>
        </p:nvSpPr>
        <p:spPr>
          <a:xfrm>
            <a:off x="-12557819" y="1340057"/>
            <a:ext cx="8876488" cy="3970318"/>
          </a:xfrm>
          <a:prstGeom prst="rect">
            <a:avLst/>
          </a:prstGeom>
          <a:noFill/>
        </p:spPr>
        <p:txBody>
          <a:bodyPr wrap="square">
            <a:spAutoFit/>
          </a:bodyPr>
          <a:lstStyle/>
          <a:p>
            <a:pPr algn="l"/>
            <a:r>
              <a:rPr lang="en-US" b="1" i="0" dirty="0">
                <a:solidFill>
                  <a:schemeClr val="bg1"/>
                </a:solidFill>
                <a:effectLst/>
                <a:latin typeface="Consolas" panose="020B0609020204030204" pitchFamily="49" charset="0"/>
              </a:rPr>
              <a:t>Abstract: </a:t>
            </a:r>
            <a:r>
              <a:rPr lang="en-US" b="0" i="0" dirty="0">
                <a:solidFill>
                  <a:schemeClr val="bg1"/>
                </a:solidFill>
                <a:effectLst/>
                <a:latin typeface="Consolas" panose="020B0609020204030204" pitchFamily="49" charset="0"/>
              </a:rPr>
              <a:t>The legal community's quest for enhanced decision-making tools has led to the development of predictive models that anticipate case outcomes. "Legal Acumen," an innovative machine learning-powered legal prediction model, not only forecasts Indian Supreme Court judgments but also provides valuable insights into the relevant laws. This presentation introduces "Legal Acumen" and its capabilities, including rapid analysis of new case descriptions for predictions and legally informed decisions. "Legal Acumen" is at the forefront of legal prediction models, offering a powerful resource for judges and attorneys seeking to navigate the complexities of Indian Supreme Court decisions.</a:t>
            </a:r>
          </a:p>
          <a:p>
            <a:pPr algn="l"/>
            <a:endParaRPr lang="en-US" b="0" i="0" dirty="0">
              <a:solidFill>
                <a:schemeClr val="bg1"/>
              </a:solidFill>
              <a:effectLst/>
              <a:latin typeface="Consolas" panose="020B0609020204030204" pitchFamily="49" charset="0"/>
            </a:endParaRPr>
          </a:p>
          <a:p>
            <a:pPr algn="l"/>
            <a:r>
              <a:rPr lang="en-US" b="1" i="0" dirty="0">
                <a:solidFill>
                  <a:schemeClr val="bg1"/>
                </a:solidFill>
                <a:effectLst/>
                <a:latin typeface="Consolas" panose="020B0609020204030204" pitchFamily="49" charset="0"/>
              </a:rPr>
              <a:t>Keywords: </a:t>
            </a:r>
            <a:r>
              <a:rPr lang="en-US" b="0" i="0" dirty="0">
                <a:solidFill>
                  <a:schemeClr val="bg1"/>
                </a:solidFill>
                <a:effectLst/>
                <a:latin typeface="Consolas" panose="020B0609020204030204" pitchFamily="49" charset="0"/>
              </a:rPr>
              <a:t>Acumen, prediction, Indian, supreme, court, judgments, decisions, appeals.</a:t>
            </a:r>
          </a:p>
        </p:txBody>
      </p:sp>
    </p:spTree>
    <p:extLst>
      <p:ext uri="{BB962C8B-B14F-4D97-AF65-F5344CB8AC3E}">
        <p14:creationId xmlns:p14="http://schemas.microsoft.com/office/powerpoint/2010/main" val="32497061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lumMod val="50000"/>
              </a:schemeClr>
            </a:gs>
            <a:gs pos="60532">
              <a:schemeClr val="bg1">
                <a:lumMod val="50000"/>
              </a:schemeClr>
            </a:gs>
            <a:gs pos="0">
              <a:schemeClr val="bg2">
                <a:lumMod val="50000"/>
              </a:schemeClr>
            </a:gs>
            <a:gs pos="100000">
              <a:schemeClr val="bg2">
                <a:lumMod val="50000"/>
              </a:schemeClr>
            </a:gs>
            <a:gs pos="68000">
              <a:schemeClr val="bg1">
                <a:lumMod val="50000"/>
              </a:schemeClr>
            </a:gs>
            <a:gs pos="20000">
              <a:schemeClr val="tx1">
                <a:lumMod val="65000"/>
                <a:lumOff val="3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55B7B3-A4FE-4FFC-8A0B-C40BDD84C0AC}"/>
              </a:ext>
            </a:extLst>
          </p:cNvPr>
          <p:cNvSpPr txBox="1"/>
          <p:nvPr/>
        </p:nvSpPr>
        <p:spPr>
          <a:xfrm>
            <a:off x="1987239" y="-75501"/>
            <a:ext cx="4650713" cy="1446550"/>
          </a:xfrm>
          <a:prstGeom prst="rect">
            <a:avLst/>
          </a:prstGeom>
          <a:noFill/>
        </p:spPr>
        <p:txBody>
          <a:bodyPr wrap="square" rtlCol="0">
            <a:spAutoFit/>
          </a:bodyPr>
          <a:lstStyle/>
          <a:p>
            <a:r>
              <a:rPr lang="en-US" sz="8800" dirty="0">
                <a:gradFill flip="none" rotWithShape="1">
                  <a:gsLst>
                    <a:gs pos="0">
                      <a:schemeClr val="bg2">
                        <a:lumMod val="50000"/>
                      </a:schemeClr>
                    </a:gs>
                    <a:gs pos="60532">
                      <a:schemeClr val="bg2">
                        <a:lumMod val="25000"/>
                      </a:schemeClr>
                    </a:gs>
                    <a:gs pos="49000">
                      <a:schemeClr val="tx1">
                        <a:lumMod val="95000"/>
                        <a:lumOff val="5000"/>
                      </a:schemeClr>
                    </a:gs>
                    <a:gs pos="89000">
                      <a:schemeClr val="bg2">
                        <a:lumMod val="10000"/>
                      </a:schemeClr>
                    </a:gs>
                    <a:gs pos="68000">
                      <a:schemeClr val="tx1">
                        <a:lumMod val="85000"/>
                        <a:lumOff val="15000"/>
                      </a:schemeClr>
                    </a:gs>
                    <a:gs pos="17000">
                      <a:schemeClr val="bg2">
                        <a:lumMod val="25000"/>
                      </a:schemeClr>
                    </a:gs>
                  </a:gsLst>
                  <a:path path="circle">
                    <a:fillToRect t="100000" r="100000"/>
                  </a:path>
                  <a:tileRect l="-100000" b="-100000"/>
                </a:gradFill>
                <a:effectLst>
                  <a:outerShdw blurRad="50800" dist="38100" algn="l" rotWithShape="0">
                    <a:prstClr val="black">
                      <a:alpha val="40000"/>
                    </a:prstClr>
                  </a:outerShdw>
                  <a:reflection blurRad="6350" stA="55000" endA="300" endPos="45500" dir="5400000" sy="-100000" algn="bl" rotWithShape="0"/>
                </a:effectLst>
              </a:rPr>
              <a:t>Objective  </a:t>
            </a:r>
            <a:endParaRPr lang="en-IN" sz="8800" dirty="0">
              <a:gradFill flip="none" rotWithShape="1">
                <a:gsLst>
                  <a:gs pos="0">
                    <a:schemeClr val="bg2">
                      <a:lumMod val="50000"/>
                    </a:schemeClr>
                  </a:gs>
                  <a:gs pos="60532">
                    <a:schemeClr val="bg2">
                      <a:lumMod val="25000"/>
                    </a:schemeClr>
                  </a:gs>
                  <a:gs pos="49000">
                    <a:schemeClr val="tx1">
                      <a:lumMod val="95000"/>
                      <a:lumOff val="5000"/>
                    </a:schemeClr>
                  </a:gs>
                  <a:gs pos="89000">
                    <a:schemeClr val="bg2">
                      <a:lumMod val="10000"/>
                    </a:schemeClr>
                  </a:gs>
                  <a:gs pos="68000">
                    <a:schemeClr val="tx1">
                      <a:lumMod val="85000"/>
                      <a:lumOff val="15000"/>
                    </a:schemeClr>
                  </a:gs>
                  <a:gs pos="17000">
                    <a:schemeClr val="bg2">
                      <a:lumMod val="25000"/>
                    </a:schemeClr>
                  </a:gs>
                </a:gsLst>
                <a:path path="circle">
                  <a:fillToRect t="100000" r="100000"/>
                </a:path>
                <a:tileRect l="-100000" b="-100000"/>
              </a:gradFill>
              <a:effectLst>
                <a:outerShdw blurRad="50800" dist="38100" algn="l" rotWithShape="0">
                  <a:prstClr val="black">
                    <a:alpha val="40000"/>
                  </a:prstClr>
                </a:outerShdw>
                <a:reflection blurRad="6350" stA="55000" endA="300" endPos="45500" dir="5400000" sy="-100000" algn="bl" rotWithShape="0"/>
              </a:effectLst>
            </a:endParaRPr>
          </a:p>
        </p:txBody>
      </p:sp>
      <p:sp>
        <p:nvSpPr>
          <p:cNvPr id="3" name="TextBox 2">
            <a:extLst>
              <a:ext uri="{FF2B5EF4-FFF2-40B4-BE49-F238E27FC236}">
                <a16:creationId xmlns:a16="http://schemas.microsoft.com/office/drawing/2014/main" id="{340799CC-0739-44BE-A892-C9465E431613}"/>
              </a:ext>
            </a:extLst>
          </p:cNvPr>
          <p:cNvSpPr txBox="1"/>
          <p:nvPr/>
        </p:nvSpPr>
        <p:spPr>
          <a:xfrm>
            <a:off x="246435" y="1460797"/>
            <a:ext cx="8132323" cy="5262979"/>
          </a:xfrm>
          <a:prstGeom prst="rect">
            <a:avLst/>
          </a:prstGeom>
          <a:noFill/>
        </p:spPr>
        <p:txBody>
          <a:bodyPr wrap="square" rtlCol="0">
            <a:spAutoFit/>
          </a:bodyPr>
          <a:lstStyle/>
          <a:p>
            <a:pPr marL="285750" indent="-285750" algn="l">
              <a:buFont typeface="Arial" panose="020B0604020202020204" pitchFamily="34" charset="0"/>
              <a:buChar char="•"/>
            </a:pPr>
            <a:r>
              <a:rPr lang="en-US" sz="2400" i="0" dirty="0">
                <a:solidFill>
                  <a:schemeClr val="bg1"/>
                </a:solidFill>
                <a:effectLst/>
                <a:latin typeface="Times New Roman" panose="02020603050405020304" pitchFamily="18" charset="0"/>
                <a:cs typeface="Times New Roman" panose="02020603050405020304" pitchFamily="18" charset="0"/>
              </a:rPr>
              <a:t>The legal community's pursuit of improved decision-making tools has spurred the creation of predictive models that can anticipate case outcomes.</a:t>
            </a:r>
          </a:p>
          <a:p>
            <a:pPr marL="285750" indent="-285750" algn="l">
              <a:buFont typeface="Arial" panose="020B0604020202020204" pitchFamily="34" charset="0"/>
              <a:buChar char="•"/>
            </a:pPr>
            <a:r>
              <a:rPr lang="en-US" sz="2400" i="0" dirty="0">
                <a:solidFill>
                  <a:schemeClr val="bg1"/>
                </a:solidFill>
                <a:effectLst/>
                <a:latin typeface="Times New Roman" panose="02020603050405020304" pitchFamily="18" charset="0"/>
                <a:cs typeface="Times New Roman" panose="02020603050405020304" pitchFamily="18" charset="0"/>
              </a:rPr>
              <a:t>"Legal Acumen" is an innovative machine learning-powered legal prediction model designed to forecast Indian Supreme Court judgments and offer insights into the pertinent laws.</a:t>
            </a:r>
          </a:p>
          <a:p>
            <a:pPr marL="285750" indent="-285750" algn="l">
              <a:buFont typeface="Arial" panose="020B0604020202020204" pitchFamily="34" charset="0"/>
              <a:buChar char="•"/>
            </a:pPr>
            <a:r>
              <a:rPr lang="en-US" sz="2400" i="0" dirty="0">
                <a:solidFill>
                  <a:schemeClr val="bg1"/>
                </a:solidFill>
                <a:effectLst/>
                <a:latin typeface="Times New Roman" panose="02020603050405020304" pitchFamily="18" charset="0"/>
                <a:cs typeface="Times New Roman" panose="02020603050405020304" pitchFamily="18" charset="0"/>
              </a:rPr>
              <a:t>This presentation provides an overview of "Legal Acumen" and its capabilities, including the swift analysis of new case descriptions for predictions and legally informed decision-making.</a:t>
            </a:r>
          </a:p>
          <a:p>
            <a:pPr marL="285750" indent="-285750" algn="l">
              <a:buFont typeface="Arial" panose="020B0604020202020204" pitchFamily="34" charset="0"/>
              <a:buChar char="•"/>
            </a:pPr>
            <a:r>
              <a:rPr lang="en-US" sz="2400" i="0" dirty="0">
                <a:solidFill>
                  <a:schemeClr val="bg1"/>
                </a:solidFill>
                <a:effectLst/>
                <a:latin typeface="Times New Roman" panose="02020603050405020304" pitchFamily="18" charset="0"/>
                <a:cs typeface="Times New Roman" panose="02020603050405020304" pitchFamily="18" charset="0"/>
              </a:rPr>
              <a:t>"Legal Acumen" stands as a cutting-edge legal prediction model, serving as a valuable resource for judges and attorneys dealing with the intricacies of Indian Supreme</a:t>
            </a:r>
            <a:r>
              <a:rPr lang="en-US" sz="2400" b="1" i="0" dirty="0">
                <a:solidFill>
                  <a:schemeClr val="bg1"/>
                </a:solidFill>
                <a:effectLst/>
                <a:latin typeface="Times New Roman" panose="02020603050405020304" pitchFamily="18" charset="0"/>
                <a:cs typeface="Times New Roman" panose="02020603050405020304" pitchFamily="18" charset="0"/>
              </a:rPr>
              <a:t> </a:t>
            </a:r>
            <a:r>
              <a:rPr lang="en-US" sz="2400" i="0" dirty="0">
                <a:solidFill>
                  <a:schemeClr val="bg1"/>
                </a:solidFill>
                <a:effectLst/>
                <a:latin typeface="Times New Roman" panose="02020603050405020304" pitchFamily="18" charset="0"/>
                <a:cs typeface="Times New Roman" panose="02020603050405020304" pitchFamily="18" charset="0"/>
              </a:rPr>
              <a:t>Court decisions.</a:t>
            </a:r>
          </a:p>
        </p:txBody>
      </p:sp>
      <p:pic>
        <p:nvPicPr>
          <p:cNvPr id="7" name="Picture 6">
            <a:extLst>
              <a:ext uri="{FF2B5EF4-FFF2-40B4-BE49-F238E27FC236}">
                <a16:creationId xmlns:a16="http://schemas.microsoft.com/office/drawing/2014/main" id="{04277B0D-0A2F-40A7-897B-F57D297329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21876" y="1147301"/>
            <a:ext cx="3365770" cy="5048655"/>
          </a:xfrm>
          <a:prstGeom prst="rect">
            <a:avLst/>
          </a:prstGeom>
          <a:effectLst>
            <a:outerShdw blurRad="50800" dist="38100" dir="13500000" algn="br" rotWithShape="0">
              <a:prstClr val="black">
                <a:alpha val="40000"/>
              </a:prstClr>
            </a:outerShdw>
          </a:effectLst>
        </p:spPr>
      </p:pic>
    </p:spTree>
    <p:extLst>
      <p:ext uri="{BB962C8B-B14F-4D97-AF65-F5344CB8AC3E}">
        <p14:creationId xmlns:p14="http://schemas.microsoft.com/office/powerpoint/2010/main" val="1423039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pexels-ekaterina-bolovtsova-6101367 (2160p)">
            <a:hlinkClick r:id="" action="ppaction://media"/>
            <a:extLst>
              <a:ext uri="{FF2B5EF4-FFF2-40B4-BE49-F238E27FC236}">
                <a16:creationId xmlns:a16="http://schemas.microsoft.com/office/drawing/2014/main" id="{CDF39C79-6F76-46AD-90F4-5B157AA6B6E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8094" y="0"/>
            <a:ext cx="12305634" cy="6858000"/>
          </a:xfrm>
          <a:prstGeom prst="rect">
            <a:avLst/>
          </a:prstGeom>
        </p:spPr>
      </p:pic>
      <p:sp>
        <p:nvSpPr>
          <p:cNvPr id="10" name="TextBox 9">
            <a:extLst>
              <a:ext uri="{FF2B5EF4-FFF2-40B4-BE49-F238E27FC236}">
                <a16:creationId xmlns:a16="http://schemas.microsoft.com/office/drawing/2014/main" id="{2557C454-6FC6-457D-9649-6C8BECC41D58}"/>
              </a:ext>
            </a:extLst>
          </p:cNvPr>
          <p:cNvSpPr txBox="1"/>
          <p:nvPr/>
        </p:nvSpPr>
        <p:spPr>
          <a:xfrm>
            <a:off x="4221804" y="4299626"/>
            <a:ext cx="7655668" cy="1569660"/>
          </a:xfrm>
          <a:prstGeom prst="rect">
            <a:avLst/>
          </a:prstGeom>
          <a:noFill/>
          <a:effectLst>
            <a:outerShdw blurRad="50800" dist="38100" algn="l" rotWithShape="0">
              <a:prstClr val="black">
                <a:alpha val="40000"/>
              </a:prstClr>
            </a:outerShdw>
            <a:reflection blurRad="6350" stA="50000" endA="300" endPos="55000" dir="5400000" sy="-100000" algn="bl" rotWithShape="0"/>
          </a:effectLst>
        </p:spPr>
        <p:txBody>
          <a:bodyPr wrap="square" rtlCol="0">
            <a:spAutoFit/>
          </a:bodyPr>
          <a:lstStyle/>
          <a:p>
            <a:r>
              <a:rPr lang="en-US" sz="9600" dirty="0">
                <a:solidFill>
                  <a:schemeClr val="bg1"/>
                </a:solidFill>
                <a:latin typeface="Arial Rounded MT Bold" panose="020F0704030504030204" pitchFamily="34" charset="0"/>
              </a:rPr>
              <a:t>Introduction</a:t>
            </a:r>
            <a:endParaRPr lang="en-IN" sz="4000" dirty="0">
              <a:solidFill>
                <a:schemeClr val="bg1"/>
              </a:solidFill>
              <a:latin typeface="Arial Rounded MT Bold" panose="020F0704030504030204" pitchFamily="34" charset="0"/>
            </a:endParaRPr>
          </a:p>
        </p:txBody>
      </p:sp>
      <p:sp>
        <p:nvSpPr>
          <p:cNvPr id="11" name="TextBox 10">
            <a:extLst>
              <a:ext uri="{FF2B5EF4-FFF2-40B4-BE49-F238E27FC236}">
                <a16:creationId xmlns:a16="http://schemas.microsoft.com/office/drawing/2014/main" id="{7D8F2651-8201-49CA-AB93-0C4A81E4EF1E}"/>
              </a:ext>
            </a:extLst>
          </p:cNvPr>
          <p:cNvSpPr txBox="1"/>
          <p:nvPr/>
        </p:nvSpPr>
        <p:spPr>
          <a:xfrm>
            <a:off x="273889" y="6858000"/>
            <a:ext cx="10162972" cy="5078313"/>
          </a:xfrm>
          <a:prstGeom prst="rect">
            <a:avLst/>
          </a:prstGeom>
          <a:noFill/>
        </p:spPr>
        <p:txBody>
          <a:bodyPr wrap="square">
            <a:spAutoFit/>
          </a:bodyPr>
          <a:lstStyle/>
          <a:p>
            <a:pPr algn="l"/>
            <a:r>
              <a:rPr lang="en-US" sz="1800" i="0" dirty="0">
                <a:solidFill>
                  <a:schemeClr val="bg1"/>
                </a:solidFill>
                <a:effectLst/>
                <a:latin typeface="Consolas" panose="020B0609020204030204" pitchFamily="49" charset="0"/>
              </a:rPr>
              <a:t>Challenges in the Indian Legal System:</a:t>
            </a:r>
          </a:p>
          <a:p>
            <a:pPr marL="342900" indent="-342900" algn="l">
              <a:buFont typeface="Arial" panose="020B0604020202020204" pitchFamily="34" charset="0"/>
              <a:buChar char="•"/>
            </a:pPr>
            <a:r>
              <a:rPr lang="en-US" sz="1800" i="0" dirty="0">
                <a:solidFill>
                  <a:schemeClr val="accent1">
                    <a:lumMod val="50000"/>
                  </a:schemeClr>
                </a:solidFill>
                <a:effectLst/>
                <a:latin typeface="Consolas" panose="020B0609020204030204" pitchFamily="49" charset="0"/>
              </a:rPr>
              <a:t>Lengthy Legal Processes: Cases often take over 15 years, straining resources and delaying justice.</a:t>
            </a:r>
          </a:p>
          <a:p>
            <a:pPr marL="342900" indent="-342900" algn="l">
              <a:buFont typeface="Arial" panose="020B0604020202020204" pitchFamily="34" charset="0"/>
              <a:buChar char="•"/>
            </a:pPr>
            <a:r>
              <a:rPr lang="en-US" sz="1800" i="0" dirty="0">
                <a:solidFill>
                  <a:schemeClr val="accent1">
                    <a:lumMod val="50000"/>
                  </a:schemeClr>
                </a:solidFill>
                <a:effectLst/>
                <a:latin typeface="Consolas" panose="020B0609020204030204" pitchFamily="49" charset="0"/>
              </a:rPr>
              <a:t>The Need for Efficiency: Frustrations and inefficiencies in the system necessitate innovative solutions.</a:t>
            </a:r>
          </a:p>
          <a:p>
            <a:pPr algn="l"/>
            <a:r>
              <a:rPr lang="en-US" sz="1800" i="0" dirty="0">
                <a:solidFill>
                  <a:schemeClr val="bg1"/>
                </a:solidFill>
                <a:effectLst/>
                <a:latin typeface="Consolas" panose="020B0609020204030204" pitchFamily="49" charset="0"/>
              </a:rPr>
              <a:t>Introducing 'Legal Acumen':</a:t>
            </a:r>
          </a:p>
          <a:p>
            <a:pPr marL="342900" indent="-342900" algn="l">
              <a:buFont typeface="Arial" panose="020B0604020202020204" pitchFamily="34" charset="0"/>
              <a:buChar char="•"/>
            </a:pPr>
            <a:r>
              <a:rPr lang="en-US" sz="1800" i="0" dirty="0">
                <a:solidFill>
                  <a:schemeClr val="accent1">
                    <a:lumMod val="50000"/>
                  </a:schemeClr>
                </a:solidFill>
                <a:effectLst/>
                <a:latin typeface="Consolas" panose="020B0609020204030204" pitchFamily="49" charset="0"/>
              </a:rPr>
              <a:t>Machine Learning Solution: 'Legal Acumen' is a predictive model for Indian Supreme Court judgments.</a:t>
            </a:r>
          </a:p>
          <a:p>
            <a:pPr marL="342900" indent="-342900" algn="l">
              <a:buFont typeface="Arial" panose="020B0604020202020204" pitchFamily="34" charset="0"/>
              <a:buChar char="•"/>
            </a:pPr>
            <a:r>
              <a:rPr lang="en-US" sz="1800" i="0" dirty="0">
                <a:solidFill>
                  <a:schemeClr val="accent1">
                    <a:lumMod val="50000"/>
                  </a:schemeClr>
                </a:solidFill>
                <a:effectLst/>
                <a:latin typeface="Consolas" panose="020B0609020204030204" pitchFamily="49" charset="0"/>
              </a:rPr>
              <a:t>SVM for Accuracy: It uses Support Vector Machines (SVM) for highly accurate case outcome predictions.</a:t>
            </a:r>
          </a:p>
          <a:p>
            <a:pPr marL="342900" indent="-342900" algn="l">
              <a:buFont typeface="Arial" panose="020B0604020202020204" pitchFamily="34" charset="0"/>
              <a:buChar char="•"/>
            </a:pPr>
            <a:r>
              <a:rPr lang="en-US" sz="1800" i="0" dirty="0">
                <a:solidFill>
                  <a:schemeClr val="accent1">
                    <a:lumMod val="50000"/>
                  </a:schemeClr>
                </a:solidFill>
                <a:effectLst/>
                <a:latin typeface="Consolas" panose="020B0609020204030204" pitchFamily="49" charset="0"/>
              </a:rPr>
              <a:t>Informed Decisions: Beyond predictions, it offers legally informed decisions based on case descriptions.</a:t>
            </a:r>
          </a:p>
          <a:p>
            <a:pPr algn="l"/>
            <a:r>
              <a:rPr lang="en-US" sz="1800" i="0" dirty="0">
                <a:solidFill>
                  <a:schemeClr val="bg1"/>
                </a:solidFill>
                <a:effectLst/>
                <a:latin typeface="Consolas" panose="020B0609020204030204" pitchFamily="49" charset="0"/>
              </a:rPr>
              <a:t>Empowering Legal Professionals:</a:t>
            </a:r>
          </a:p>
          <a:p>
            <a:pPr marL="342900" indent="-342900" algn="l">
              <a:buFont typeface="Arial" panose="020B0604020202020204" pitchFamily="34" charset="0"/>
              <a:buChar char="•"/>
            </a:pPr>
            <a:r>
              <a:rPr lang="en-US" sz="1800" i="0" dirty="0">
                <a:solidFill>
                  <a:schemeClr val="accent1">
                    <a:lumMod val="50000"/>
                  </a:schemeClr>
                </a:solidFill>
                <a:effectLst/>
                <a:latin typeface="Consolas" panose="020B0609020204030204" pitchFamily="49" charset="0"/>
              </a:rPr>
              <a:t>K-means Clustering: Legal professionals can use this feature to align new cases with legal precedents efficiently.</a:t>
            </a:r>
          </a:p>
          <a:p>
            <a:pPr algn="l"/>
            <a:r>
              <a:rPr lang="en-US" sz="1800" i="0" dirty="0">
                <a:solidFill>
                  <a:schemeClr val="bg1"/>
                </a:solidFill>
                <a:effectLst/>
                <a:latin typeface="Consolas" panose="020B0609020204030204" pitchFamily="49" charset="0"/>
              </a:rPr>
              <a:t>Closing the Gap:</a:t>
            </a:r>
          </a:p>
          <a:p>
            <a:pPr marL="342900" indent="-342900" algn="l">
              <a:buFont typeface="Arial" panose="020B0604020202020204" pitchFamily="34" charset="0"/>
              <a:buChar char="•"/>
            </a:pPr>
            <a:r>
              <a:rPr lang="en-US" sz="1800" i="0" dirty="0">
                <a:solidFill>
                  <a:schemeClr val="accent1">
                    <a:lumMod val="50000"/>
                  </a:schemeClr>
                </a:solidFill>
                <a:effectLst/>
                <a:latin typeface="Consolas" panose="020B0609020204030204" pitchFamily="49" charset="0"/>
              </a:rPr>
              <a:t>Bridging Complexity and Efficiency: 'Legal Acumen' aims to make the Indian legal system more efficient and accessible for all.</a:t>
            </a:r>
            <a:endParaRPr lang="en-US" sz="1800" i="0" dirty="0">
              <a:solidFill>
                <a:schemeClr val="bg1"/>
              </a:solidFill>
              <a:effectLst/>
              <a:latin typeface="Consolas" panose="020B0609020204030204" pitchFamily="49" charset="0"/>
            </a:endParaRPr>
          </a:p>
        </p:txBody>
      </p:sp>
      <p:pic>
        <p:nvPicPr>
          <p:cNvPr id="5" name="Picture 4">
            <a:extLst>
              <a:ext uri="{FF2B5EF4-FFF2-40B4-BE49-F238E27FC236}">
                <a16:creationId xmlns:a16="http://schemas.microsoft.com/office/drawing/2014/main" id="{E377128C-6B29-4D58-A1E7-EB9773AA97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73304" y="904672"/>
            <a:ext cx="3365770" cy="5048655"/>
          </a:xfrm>
          <a:prstGeom prst="rect">
            <a:avLst/>
          </a:prstGeom>
          <a:effectLst>
            <a:outerShdw blurRad="50800" dist="38100" dir="13500000" algn="br" rotWithShape="0">
              <a:prstClr val="black">
                <a:alpha val="40000"/>
              </a:prstClr>
            </a:outerShdw>
          </a:effectLst>
        </p:spPr>
      </p:pic>
    </p:spTree>
    <p:extLst>
      <p:ext uri="{BB962C8B-B14F-4D97-AF65-F5344CB8AC3E}">
        <p14:creationId xmlns:p14="http://schemas.microsoft.com/office/powerpoint/2010/main" val="577145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2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3000">
              <a:schemeClr val="bg1">
                <a:lumMod val="85000"/>
              </a:schemeClr>
            </a:gs>
            <a:gs pos="100000">
              <a:schemeClr val="bg2">
                <a:lumMod val="75000"/>
              </a:schemeClr>
            </a:gs>
            <a:gs pos="0">
              <a:schemeClr val="bg2">
                <a:lumMod val="25000"/>
              </a:schemeClr>
            </a:gs>
            <a:gs pos="0">
              <a:schemeClr val="tx1">
                <a:lumMod val="65000"/>
                <a:lumOff val="3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F2033D-44E5-47D3-8464-64015827229D}"/>
              </a:ext>
            </a:extLst>
          </p:cNvPr>
          <p:cNvSpPr txBox="1"/>
          <p:nvPr/>
        </p:nvSpPr>
        <p:spPr>
          <a:xfrm>
            <a:off x="2783733" y="-218710"/>
            <a:ext cx="7556770" cy="1323439"/>
          </a:xfrm>
          <a:prstGeom prst="rect">
            <a:avLst/>
          </a:prstGeom>
          <a:noFill/>
          <a:effectLst>
            <a:outerShdw blurRad="50800" dist="38100" algn="l" rotWithShape="0">
              <a:prstClr val="black">
                <a:alpha val="40000"/>
              </a:prstClr>
            </a:outerShdw>
          </a:effectLst>
        </p:spPr>
        <p:txBody>
          <a:bodyPr wrap="square" rtlCol="0">
            <a:spAutoFit/>
          </a:bodyPr>
          <a:lstStyle/>
          <a:p>
            <a:r>
              <a:rPr lang="en-US" sz="8000" dirty="0">
                <a:solidFill>
                  <a:schemeClr val="tx1">
                    <a:lumMod val="95000"/>
                    <a:lumOff val="5000"/>
                  </a:schemeClr>
                </a:solidFill>
                <a:effectLst>
                  <a:outerShdw blurRad="152400" dist="38100" dir="5400000" algn="t" rotWithShape="0">
                    <a:prstClr val="black">
                      <a:alpha val="61000"/>
                    </a:prstClr>
                  </a:outerShdw>
                </a:effectLst>
                <a:latin typeface="Arial Rounded MT Bold" panose="020F0704030504030204" pitchFamily="34" charset="0"/>
              </a:rPr>
              <a:t>Introduction</a:t>
            </a:r>
            <a:endParaRPr lang="en-IN" sz="3200" dirty="0">
              <a:solidFill>
                <a:schemeClr val="tx1">
                  <a:lumMod val="95000"/>
                  <a:lumOff val="5000"/>
                </a:schemeClr>
              </a:solidFill>
              <a:effectLst>
                <a:outerShdw blurRad="152400" dist="38100" dir="5400000" algn="t" rotWithShape="0">
                  <a:prstClr val="black">
                    <a:alpha val="61000"/>
                  </a:prstClr>
                </a:outerShdw>
              </a:effectLst>
              <a:latin typeface="Arial Rounded MT Bold" panose="020F0704030504030204" pitchFamily="34" charset="0"/>
            </a:endParaRPr>
          </a:p>
        </p:txBody>
      </p:sp>
      <p:sp>
        <p:nvSpPr>
          <p:cNvPr id="6" name="TextBox 5">
            <a:extLst>
              <a:ext uri="{FF2B5EF4-FFF2-40B4-BE49-F238E27FC236}">
                <a16:creationId xmlns:a16="http://schemas.microsoft.com/office/drawing/2014/main" id="{74E6D99C-9DE7-47AA-8021-80FCF7918B18}"/>
              </a:ext>
            </a:extLst>
          </p:cNvPr>
          <p:cNvSpPr txBox="1"/>
          <p:nvPr/>
        </p:nvSpPr>
        <p:spPr>
          <a:xfrm>
            <a:off x="191310" y="1104729"/>
            <a:ext cx="11809379" cy="5632311"/>
          </a:xfrm>
          <a:prstGeom prst="rect">
            <a:avLst/>
          </a:prstGeom>
          <a:noFill/>
          <a:ln>
            <a:noFill/>
          </a:ln>
        </p:spPr>
        <p:txBody>
          <a:bodyPr wrap="square" rtlCol="0">
            <a:spAutoFit/>
          </a:bodyPr>
          <a:lstStyle/>
          <a:p>
            <a:pPr algn="l"/>
            <a:r>
              <a:rPr lang="en-US" sz="2000" i="0" dirty="0">
                <a:solidFill>
                  <a:schemeClr val="tx1">
                    <a:lumMod val="95000"/>
                    <a:lumOff val="5000"/>
                  </a:schemeClr>
                </a:solidFill>
                <a:latin typeface="Consolas" panose="020B0609020204030204" pitchFamily="49" charset="0"/>
              </a:rPr>
              <a:t>Challenges in the Indian Legal System:</a:t>
            </a:r>
          </a:p>
          <a:p>
            <a:pPr marL="342900" indent="-342900" algn="l">
              <a:buFont typeface="Arial" panose="020B0604020202020204" pitchFamily="34" charset="0"/>
              <a:buChar char="•"/>
            </a:pPr>
            <a:r>
              <a:rPr lang="en-US" sz="2000" i="0" dirty="0">
                <a:solidFill>
                  <a:schemeClr val="accent1">
                    <a:lumMod val="75000"/>
                  </a:schemeClr>
                </a:solidFill>
                <a:latin typeface="Consolas" panose="020B0609020204030204" pitchFamily="49" charset="0"/>
              </a:rPr>
              <a:t>Lengthy Legal Processes: Cases often take over 15 years, straining resources and delaying justice.</a:t>
            </a:r>
          </a:p>
          <a:p>
            <a:pPr marL="342900" indent="-342900" algn="l">
              <a:buFont typeface="Arial" panose="020B0604020202020204" pitchFamily="34" charset="0"/>
              <a:buChar char="•"/>
            </a:pPr>
            <a:r>
              <a:rPr lang="en-US" sz="2000" i="0" dirty="0">
                <a:solidFill>
                  <a:schemeClr val="accent1">
                    <a:lumMod val="75000"/>
                  </a:schemeClr>
                </a:solidFill>
                <a:latin typeface="Consolas" panose="020B0609020204030204" pitchFamily="49" charset="0"/>
              </a:rPr>
              <a:t>The Need for Efficiency: Frustrations and inefficiencies in the system necessitate innovative solutions.</a:t>
            </a:r>
          </a:p>
          <a:p>
            <a:pPr algn="l"/>
            <a:r>
              <a:rPr lang="en-US" sz="2000" i="0" dirty="0">
                <a:solidFill>
                  <a:schemeClr val="tx1">
                    <a:lumMod val="95000"/>
                    <a:lumOff val="5000"/>
                  </a:schemeClr>
                </a:solidFill>
                <a:latin typeface="Consolas" panose="020B0609020204030204" pitchFamily="49" charset="0"/>
              </a:rPr>
              <a:t>Introducing 'Legal Acumen':</a:t>
            </a:r>
          </a:p>
          <a:p>
            <a:pPr marL="342900" indent="-342900" algn="l">
              <a:buFont typeface="Arial" panose="020B0604020202020204" pitchFamily="34" charset="0"/>
              <a:buChar char="•"/>
            </a:pPr>
            <a:r>
              <a:rPr lang="en-US" sz="2000" i="0" dirty="0">
                <a:solidFill>
                  <a:schemeClr val="accent1">
                    <a:lumMod val="75000"/>
                  </a:schemeClr>
                </a:solidFill>
                <a:latin typeface="Consolas" panose="020B0609020204030204" pitchFamily="49" charset="0"/>
              </a:rPr>
              <a:t>Machine Learning Solution: 'Legal Acumen' is a predictive model for Indian Supreme Court judgments.</a:t>
            </a:r>
          </a:p>
          <a:p>
            <a:pPr marL="342900" indent="-342900" algn="l">
              <a:buFont typeface="Arial" panose="020B0604020202020204" pitchFamily="34" charset="0"/>
              <a:buChar char="•"/>
            </a:pPr>
            <a:r>
              <a:rPr lang="en-US" sz="2000" i="0" dirty="0">
                <a:solidFill>
                  <a:schemeClr val="accent1">
                    <a:lumMod val="75000"/>
                  </a:schemeClr>
                </a:solidFill>
                <a:latin typeface="Consolas" panose="020B0609020204030204" pitchFamily="49" charset="0"/>
              </a:rPr>
              <a:t>SVM for Accuracy: It uses Support Vector Machines (SVM) for highly accurate case outcome predictions.</a:t>
            </a:r>
          </a:p>
          <a:p>
            <a:pPr marL="342900" indent="-342900" algn="l">
              <a:buFont typeface="Arial" panose="020B0604020202020204" pitchFamily="34" charset="0"/>
              <a:buChar char="•"/>
            </a:pPr>
            <a:r>
              <a:rPr lang="en-US" sz="2000" i="0" dirty="0">
                <a:solidFill>
                  <a:schemeClr val="accent1">
                    <a:lumMod val="75000"/>
                  </a:schemeClr>
                </a:solidFill>
                <a:latin typeface="Consolas" panose="020B0609020204030204" pitchFamily="49" charset="0"/>
              </a:rPr>
              <a:t>Informed Decisions: Beyond predictions, it offers legally informed decisions based on case descriptions.</a:t>
            </a:r>
          </a:p>
          <a:p>
            <a:pPr algn="l"/>
            <a:r>
              <a:rPr lang="en-US" sz="2000" i="0" dirty="0">
                <a:solidFill>
                  <a:schemeClr val="tx1">
                    <a:lumMod val="95000"/>
                    <a:lumOff val="5000"/>
                  </a:schemeClr>
                </a:solidFill>
                <a:latin typeface="Consolas" panose="020B0609020204030204" pitchFamily="49" charset="0"/>
              </a:rPr>
              <a:t>Empowering Legal Professionals:</a:t>
            </a:r>
          </a:p>
          <a:p>
            <a:pPr marL="342900" indent="-342900" algn="l">
              <a:buFont typeface="Arial" panose="020B0604020202020204" pitchFamily="34" charset="0"/>
              <a:buChar char="•"/>
            </a:pPr>
            <a:r>
              <a:rPr lang="en-US" sz="2000" i="0" dirty="0">
                <a:solidFill>
                  <a:schemeClr val="accent1">
                    <a:lumMod val="75000"/>
                  </a:schemeClr>
                </a:solidFill>
                <a:latin typeface="Consolas" panose="020B0609020204030204" pitchFamily="49" charset="0"/>
              </a:rPr>
              <a:t>K-means Clustering: Legal professionals can use this feature to align new cases with legal precedents efficiently.</a:t>
            </a:r>
          </a:p>
          <a:p>
            <a:pPr algn="l"/>
            <a:r>
              <a:rPr lang="en-US" sz="2000" i="0" dirty="0">
                <a:solidFill>
                  <a:schemeClr val="tx1">
                    <a:lumMod val="95000"/>
                    <a:lumOff val="5000"/>
                  </a:schemeClr>
                </a:solidFill>
                <a:latin typeface="Consolas" panose="020B0609020204030204" pitchFamily="49" charset="0"/>
              </a:rPr>
              <a:t>Closing the Gap:</a:t>
            </a:r>
          </a:p>
          <a:p>
            <a:pPr marL="342900" indent="-342900" algn="l">
              <a:buFont typeface="Arial" panose="020B0604020202020204" pitchFamily="34" charset="0"/>
              <a:buChar char="•"/>
            </a:pPr>
            <a:r>
              <a:rPr lang="en-US" sz="2000" i="0" dirty="0">
                <a:solidFill>
                  <a:schemeClr val="accent1">
                    <a:lumMod val="75000"/>
                  </a:schemeClr>
                </a:solidFill>
                <a:latin typeface="Consolas" panose="020B0609020204030204" pitchFamily="49" charset="0"/>
              </a:rPr>
              <a:t>Bridging Complexity and Efficiency: 'Legal Acumen' aims to make the Indian legal system more efficient and accessible for all.</a:t>
            </a:r>
          </a:p>
        </p:txBody>
      </p:sp>
      <p:sp>
        <p:nvSpPr>
          <p:cNvPr id="4" name="TextBox 3">
            <a:extLst>
              <a:ext uri="{FF2B5EF4-FFF2-40B4-BE49-F238E27FC236}">
                <a16:creationId xmlns:a16="http://schemas.microsoft.com/office/drawing/2014/main" id="{31865448-1AA3-403F-B922-12C6A1EDA7FC}"/>
              </a:ext>
            </a:extLst>
          </p:cNvPr>
          <p:cNvSpPr txBox="1"/>
          <p:nvPr/>
        </p:nvSpPr>
        <p:spPr>
          <a:xfrm>
            <a:off x="-5149985" y="-150378"/>
            <a:ext cx="5013797" cy="11172289"/>
          </a:xfrm>
          <a:prstGeom prst="rect">
            <a:avLst/>
          </a:prstGeom>
          <a:noFill/>
          <a:ln>
            <a:noFill/>
          </a:ln>
        </p:spPr>
        <p:txBody>
          <a:bodyPr wrap="square" rtlCol="0">
            <a:spAutoFit/>
          </a:bodyPr>
          <a:lstStyle/>
          <a:p>
            <a:pPr algn="l"/>
            <a:r>
              <a:rPr lang="en-US" sz="2000" i="0" dirty="0">
                <a:solidFill>
                  <a:schemeClr val="accent1">
                    <a:lumMod val="50000"/>
                  </a:schemeClr>
                </a:solidFill>
                <a:effectLst>
                  <a:outerShdw blurRad="279400" dist="38100" dir="2700000" algn="tl" rotWithShape="0">
                    <a:prstClr val="black">
                      <a:alpha val="65000"/>
                    </a:prstClr>
                  </a:outerShdw>
                </a:effectLst>
                <a:latin typeface="Consolas" panose="020B0609020204030204" pitchFamily="49" charset="0"/>
              </a:rPr>
              <a:t>Enhancing Legal Decision Analysis:</a:t>
            </a:r>
            <a:endPar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endParaRPr>
          </a:p>
          <a:p>
            <a:pPr algn="l"/>
            <a:r>
              <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rPr>
              <a:t>Goal: Improve legal decision analysis using machine learning techniques.</a:t>
            </a:r>
          </a:p>
          <a:p>
            <a:pPr algn="l"/>
            <a:endPar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endParaRPr>
          </a:p>
          <a:p>
            <a:pPr algn="l"/>
            <a:r>
              <a:rPr lang="en-US" sz="2000" i="0" dirty="0">
                <a:solidFill>
                  <a:schemeClr val="accent1">
                    <a:lumMod val="50000"/>
                  </a:schemeClr>
                </a:solidFill>
                <a:effectLst>
                  <a:outerShdw blurRad="279400" dist="38100" dir="2700000" algn="tl" rotWithShape="0">
                    <a:prstClr val="black">
                      <a:alpha val="65000"/>
                    </a:prstClr>
                  </a:outerShdw>
                </a:effectLst>
                <a:latin typeface="Consolas" panose="020B0609020204030204" pitchFamily="49" charset="0"/>
              </a:rPr>
              <a:t>SVM for Legal Decision Classification:</a:t>
            </a:r>
          </a:p>
          <a:p>
            <a:pPr algn="l"/>
            <a:r>
              <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rPr>
              <a:t>SVM Application: Use SVM to classify legal decisions based on majority votes and relevant features.</a:t>
            </a:r>
          </a:p>
          <a:p>
            <a:pPr algn="l"/>
            <a:r>
              <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rPr>
              <a:t>Benefits: SVM's capacity to handle complex decision boundaries makes it ideal for identifying distinct decision types.</a:t>
            </a:r>
          </a:p>
          <a:p>
            <a:pPr algn="l"/>
            <a:endPar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endParaRPr>
          </a:p>
          <a:p>
            <a:pPr algn="l"/>
            <a:r>
              <a:rPr lang="en-US" sz="2000" i="0" dirty="0">
                <a:solidFill>
                  <a:schemeClr val="accent1">
                    <a:lumMod val="50000"/>
                  </a:schemeClr>
                </a:solidFill>
                <a:effectLst>
                  <a:outerShdw blurRad="279400" dist="38100" dir="2700000" algn="tl" rotWithShape="0">
                    <a:prstClr val="black">
                      <a:alpha val="65000"/>
                    </a:prstClr>
                  </a:outerShdw>
                </a:effectLst>
                <a:latin typeface="Consolas" panose="020B0609020204030204" pitchFamily="49" charset="0"/>
              </a:rPr>
              <a:t>K-Means Clustering for Decision Pattern Discovery:</a:t>
            </a:r>
          </a:p>
          <a:p>
            <a:pPr algn="l"/>
            <a:r>
              <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rPr>
              <a:t>K-Means Usage: Employ K-Means clustering to uncover hidden patterns in legal cases by segmenting based on characteristics like decision types.</a:t>
            </a:r>
          </a:p>
          <a:p>
            <a:pPr algn="l"/>
            <a:r>
              <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rPr>
              <a:t>Insights: This approach reveals clusters of cases with similar legal attitudes.</a:t>
            </a:r>
          </a:p>
          <a:p>
            <a:pPr algn="l"/>
            <a:endParaRPr lang="en-US" sz="2000" i="0" dirty="0">
              <a:solidFill>
                <a:schemeClr val="accent1">
                  <a:lumMod val="50000"/>
                </a:schemeClr>
              </a:solidFill>
              <a:effectLst>
                <a:outerShdw blurRad="279400" dist="38100" dir="2700000" algn="tl" rotWithShape="0">
                  <a:prstClr val="black">
                    <a:alpha val="65000"/>
                  </a:prstClr>
                </a:outerShdw>
              </a:effectLst>
              <a:latin typeface="Consolas" panose="020B0609020204030204" pitchFamily="49" charset="0"/>
            </a:endParaRPr>
          </a:p>
          <a:p>
            <a:pPr algn="l"/>
            <a:r>
              <a:rPr lang="en-US" sz="2000" i="0" dirty="0">
                <a:solidFill>
                  <a:schemeClr val="accent1">
                    <a:lumMod val="50000"/>
                  </a:schemeClr>
                </a:solidFill>
                <a:effectLst>
                  <a:outerShdw blurRad="279400" dist="38100" dir="2700000" algn="tl" rotWithShape="0">
                    <a:prstClr val="black">
                      <a:alpha val="65000"/>
                    </a:prstClr>
                  </a:outerShdw>
                </a:effectLst>
                <a:latin typeface="Consolas" panose="020B0609020204030204" pitchFamily="49" charset="0"/>
              </a:rPr>
              <a:t>Research Contribution:</a:t>
            </a:r>
          </a:p>
          <a:p>
            <a:pPr algn="l"/>
            <a:r>
              <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rPr>
              <a:t>Combining SVM and K-Means: This research aims to provide innovative tools for effective analysis and interpretation of legal decisions by leveraging SVM for classification and K-Means for pattern discovery.</a:t>
            </a:r>
          </a:p>
        </p:txBody>
      </p:sp>
    </p:spTree>
    <p:extLst>
      <p:ext uri="{BB962C8B-B14F-4D97-AF65-F5344CB8AC3E}">
        <p14:creationId xmlns:p14="http://schemas.microsoft.com/office/powerpoint/2010/main" val="2126429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0"/>
              </a:schemeClr>
            </a:gs>
            <a:gs pos="0">
              <a:schemeClr val="accent3">
                <a:lumMod val="50000"/>
              </a:schemeClr>
            </a:gs>
            <a:gs pos="90000">
              <a:schemeClr val="bg1">
                <a:lumMod val="65000"/>
              </a:schemeClr>
            </a:gs>
            <a:gs pos="17000">
              <a:schemeClr val="accent3">
                <a:lumMod val="75000"/>
              </a:schemeClr>
            </a:gs>
            <a:gs pos="61000">
              <a:schemeClr val="accent3"/>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55B7B3-A4FE-4FFC-8A0B-C40BDD84C0AC}"/>
              </a:ext>
            </a:extLst>
          </p:cNvPr>
          <p:cNvSpPr txBox="1"/>
          <p:nvPr/>
        </p:nvSpPr>
        <p:spPr>
          <a:xfrm>
            <a:off x="3318751" y="-57245"/>
            <a:ext cx="5554495" cy="1015663"/>
          </a:xfrm>
          <a:prstGeom prst="rect">
            <a:avLst/>
          </a:prstGeom>
          <a:noFill/>
          <a:effectLst>
            <a:outerShdw blurRad="50800" dist="38100" dir="8100000" algn="tr" rotWithShape="0">
              <a:prstClr val="black">
                <a:alpha val="40000"/>
              </a:prstClr>
            </a:outerShdw>
          </a:effectLst>
        </p:spPr>
        <p:txBody>
          <a:bodyPr wrap="square" rtlCol="0">
            <a:spAutoFit/>
          </a:bodyPr>
          <a:lstStyle/>
          <a:p>
            <a:r>
              <a:rPr lang="en-US" sz="6000" dirty="0">
                <a:solidFill>
                  <a:schemeClr val="tx1">
                    <a:lumMod val="95000"/>
                    <a:lumOff val="5000"/>
                  </a:schemeClr>
                </a:solidFill>
                <a:effectLst>
                  <a:outerShdw blurRad="127000" dist="38100" algn="l" rotWithShape="0">
                    <a:prstClr val="black">
                      <a:alpha val="71000"/>
                    </a:prstClr>
                  </a:outerShdw>
                </a:effectLst>
              </a:rPr>
              <a:t>Proposed work</a:t>
            </a:r>
            <a:endParaRPr lang="en-IN" sz="6000" dirty="0">
              <a:solidFill>
                <a:schemeClr val="tx1">
                  <a:lumMod val="95000"/>
                  <a:lumOff val="5000"/>
                </a:schemeClr>
              </a:solidFill>
              <a:effectLst>
                <a:outerShdw blurRad="127000" dist="38100" algn="l" rotWithShape="0">
                  <a:prstClr val="black">
                    <a:alpha val="71000"/>
                  </a:prstClr>
                </a:outerShdw>
              </a:effectLst>
            </a:endParaRPr>
          </a:p>
        </p:txBody>
      </p:sp>
      <p:sp>
        <p:nvSpPr>
          <p:cNvPr id="3" name="TextBox 2">
            <a:extLst>
              <a:ext uri="{FF2B5EF4-FFF2-40B4-BE49-F238E27FC236}">
                <a16:creationId xmlns:a16="http://schemas.microsoft.com/office/drawing/2014/main" id="{340799CC-0739-44BE-A892-C9465E431613}"/>
              </a:ext>
            </a:extLst>
          </p:cNvPr>
          <p:cNvSpPr txBox="1"/>
          <p:nvPr/>
        </p:nvSpPr>
        <p:spPr>
          <a:xfrm>
            <a:off x="277574" y="958418"/>
            <a:ext cx="11809379" cy="5632311"/>
          </a:xfrm>
          <a:prstGeom prst="rect">
            <a:avLst/>
          </a:prstGeom>
          <a:noFill/>
          <a:ln>
            <a:noFill/>
          </a:ln>
        </p:spPr>
        <p:txBody>
          <a:bodyPr wrap="square" rtlCol="0">
            <a:spAutoFit/>
          </a:bodyPr>
          <a:lstStyle/>
          <a:p>
            <a:pPr algn="l"/>
            <a:r>
              <a:rPr lang="en-US" sz="2000" i="0" dirty="0">
                <a:solidFill>
                  <a:schemeClr val="accent1">
                    <a:lumMod val="50000"/>
                  </a:schemeClr>
                </a:solidFill>
                <a:effectLst>
                  <a:outerShdw blurRad="279400" dist="38100" dir="2700000" algn="tl" rotWithShape="0">
                    <a:prstClr val="black">
                      <a:alpha val="65000"/>
                    </a:prstClr>
                  </a:outerShdw>
                </a:effectLst>
                <a:latin typeface="Consolas" panose="020B0609020204030204" pitchFamily="49" charset="0"/>
              </a:rPr>
              <a:t>Enhancing Legal Decision Analysis:</a:t>
            </a:r>
            <a:endPar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endParaRPr>
          </a:p>
          <a:p>
            <a:pPr marL="342900" indent="-342900" algn="l">
              <a:buFont typeface="Arial" panose="020B0604020202020204" pitchFamily="34" charset="0"/>
              <a:buChar char="•"/>
            </a:pPr>
            <a:r>
              <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rPr>
              <a:t>Goal: Improve legal decision analysis using machine learning techniques.</a:t>
            </a:r>
          </a:p>
          <a:p>
            <a:pPr algn="l"/>
            <a:endPar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endParaRPr>
          </a:p>
          <a:p>
            <a:pPr algn="l"/>
            <a:r>
              <a:rPr lang="en-US" sz="2000" i="0" dirty="0">
                <a:solidFill>
                  <a:schemeClr val="accent1">
                    <a:lumMod val="50000"/>
                  </a:schemeClr>
                </a:solidFill>
                <a:effectLst>
                  <a:outerShdw blurRad="279400" dist="38100" dir="2700000" algn="tl" rotWithShape="0">
                    <a:prstClr val="black">
                      <a:alpha val="65000"/>
                    </a:prstClr>
                  </a:outerShdw>
                </a:effectLst>
                <a:latin typeface="Consolas" panose="020B0609020204030204" pitchFamily="49" charset="0"/>
              </a:rPr>
              <a:t>SVM for Legal Decision Classification:</a:t>
            </a:r>
          </a:p>
          <a:p>
            <a:pPr marL="342900" indent="-342900" algn="l">
              <a:buFont typeface="Arial" panose="020B0604020202020204" pitchFamily="34" charset="0"/>
              <a:buChar char="•"/>
            </a:pPr>
            <a:r>
              <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rPr>
              <a:t>SVM Application: Use SVM to classify legal decisions based on majority votes and relevant features.</a:t>
            </a:r>
          </a:p>
          <a:p>
            <a:pPr marL="342900" indent="-342900" algn="l">
              <a:buFont typeface="Arial" panose="020B0604020202020204" pitchFamily="34" charset="0"/>
              <a:buChar char="•"/>
            </a:pPr>
            <a:r>
              <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rPr>
              <a:t>Benefits: SVM's capacity to handle complex decision boundaries makes it ideal for identifying distinct decision types.</a:t>
            </a:r>
          </a:p>
          <a:p>
            <a:pPr algn="l"/>
            <a:endPar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endParaRPr>
          </a:p>
          <a:p>
            <a:pPr algn="l"/>
            <a:r>
              <a:rPr lang="en-US" sz="2000" i="0" dirty="0">
                <a:solidFill>
                  <a:schemeClr val="accent1">
                    <a:lumMod val="50000"/>
                  </a:schemeClr>
                </a:solidFill>
                <a:effectLst>
                  <a:outerShdw blurRad="279400" dist="38100" dir="2700000" algn="tl" rotWithShape="0">
                    <a:prstClr val="black">
                      <a:alpha val="65000"/>
                    </a:prstClr>
                  </a:outerShdw>
                </a:effectLst>
                <a:latin typeface="Consolas" panose="020B0609020204030204" pitchFamily="49" charset="0"/>
              </a:rPr>
              <a:t>K-Means Clustering for Decision Pattern Discovery:</a:t>
            </a:r>
          </a:p>
          <a:p>
            <a:pPr marL="342900" indent="-342900" algn="l">
              <a:buFont typeface="Arial" panose="020B0604020202020204" pitchFamily="34" charset="0"/>
              <a:buChar char="•"/>
            </a:pPr>
            <a:r>
              <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rPr>
              <a:t>K-Means Usage: Employ K-Means clustering to uncover hidden patterns in legal cases by segmenting based on characteristics like decision types.</a:t>
            </a:r>
          </a:p>
          <a:p>
            <a:pPr marL="342900" indent="-342900" algn="l">
              <a:buFont typeface="Arial" panose="020B0604020202020204" pitchFamily="34" charset="0"/>
              <a:buChar char="•"/>
            </a:pPr>
            <a:r>
              <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rPr>
              <a:t>Insights: This approach reveals clusters of cases with similar legal attitudes.</a:t>
            </a:r>
          </a:p>
          <a:p>
            <a:pPr algn="l"/>
            <a:endParaRPr lang="en-US" sz="2000" i="0" dirty="0">
              <a:solidFill>
                <a:schemeClr val="accent1">
                  <a:lumMod val="50000"/>
                </a:schemeClr>
              </a:solidFill>
              <a:effectLst>
                <a:outerShdw blurRad="279400" dist="38100" dir="2700000" algn="tl" rotWithShape="0">
                  <a:prstClr val="black">
                    <a:alpha val="65000"/>
                  </a:prstClr>
                </a:outerShdw>
              </a:effectLst>
              <a:latin typeface="Consolas" panose="020B0609020204030204" pitchFamily="49" charset="0"/>
            </a:endParaRPr>
          </a:p>
          <a:p>
            <a:pPr algn="l"/>
            <a:r>
              <a:rPr lang="en-US" sz="2000" i="0" dirty="0">
                <a:solidFill>
                  <a:schemeClr val="accent1">
                    <a:lumMod val="50000"/>
                  </a:schemeClr>
                </a:solidFill>
                <a:effectLst>
                  <a:outerShdw blurRad="279400" dist="38100" dir="2700000" algn="tl" rotWithShape="0">
                    <a:prstClr val="black">
                      <a:alpha val="65000"/>
                    </a:prstClr>
                  </a:outerShdw>
                </a:effectLst>
                <a:latin typeface="Consolas" panose="020B0609020204030204" pitchFamily="49" charset="0"/>
              </a:rPr>
              <a:t>Research Contribution:</a:t>
            </a:r>
          </a:p>
          <a:p>
            <a:pPr marL="342900" indent="-342900" algn="l">
              <a:buFont typeface="Arial" panose="020B0604020202020204" pitchFamily="34" charset="0"/>
              <a:buChar char="•"/>
            </a:pPr>
            <a:r>
              <a:rPr lang="en-US" sz="2000" i="0" dirty="0">
                <a:solidFill>
                  <a:schemeClr val="bg1"/>
                </a:solidFill>
                <a:effectLst>
                  <a:outerShdw blurRad="279400" dist="38100" dir="2700000" algn="tl" rotWithShape="0">
                    <a:prstClr val="black">
                      <a:alpha val="65000"/>
                    </a:prstClr>
                  </a:outerShdw>
                </a:effectLst>
                <a:latin typeface="Consolas" panose="020B0609020204030204" pitchFamily="49" charset="0"/>
              </a:rPr>
              <a:t>Combining SVM and K-Means: This research aims to provide innovative tools for effective analysis and interpretation of legal decisions by leveraging SVM for classification and K-Means for pattern discovery.</a:t>
            </a:r>
          </a:p>
        </p:txBody>
      </p:sp>
      <p:pic>
        <p:nvPicPr>
          <p:cNvPr id="5" name="Picture 4">
            <a:extLst>
              <a:ext uri="{FF2B5EF4-FFF2-40B4-BE49-F238E27FC236}">
                <a16:creationId xmlns:a16="http://schemas.microsoft.com/office/drawing/2014/main" id="{C1FF3FC6-6567-483E-B74B-A3C1AF7BCF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0716" y="1033853"/>
            <a:ext cx="3365770" cy="5048655"/>
          </a:xfrm>
          <a:prstGeom prst="rect">
            <a:avLst/>
          </a:prstGeom>
          <a:effectLst>
            <a:outerShdw blurRad="50800" dist="38100" dir="13500000" algn="br" rotWithShape="0">
              <a:prstClr val="black">
                <a:alpha val="40000"/>
              </a:prstClr>
            </a:outerShdw>
          </a:effectLst>
        </p:spPr>
      </p:pic>
      <p:pic>
        <p:nvPicPr>
          <p:cNvPr id="6" name="Picture 5">
            <a:extLst>
              <a:ext uri="{FF2B5EF4-FFF2-40B4-BE49-F238E27FC236}">
                <a16:creationId xmlns:a16="http://schemas.microsoft.com/office/drawing/2014/main" id="{8524B949-6EA2-4CB2-9B4E-4E640EB6221D}"/>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9980" b="98828" l="269" r="97765">
                        <a14:foregroundMark x1="2693" y1="43313" x2="2693" y2="43313"/>
                        <a14:foregroundMark x1="350" y1="43677" x2="13628" y2="46747"/>
                        <a14:foregroundMark x1="14166" y1="53576" x2="9669" y2="77010"/>
                        <a14:foregroundMark x1="9669" y1="77010" x2="9426" y2="80606"/>
                        <a14:foregroundMark x1="9157" y1="87475" x2="22354" y2="67556"/>
                        <a14:foregroundMark x1="22354" y1="67556" x2="34797" y2="59515"/>
                        <a14:foregroundMark x1="34797" y1="59515" x2="54781" y2="56889"/>
                        <a14:foregroundMark x1="350" y1="99313" x2="50633" y2="61535"/>
                        <a14:foregroundMark x1="50633" y1="61535" x2="76730" y2="59313"/>
                        <a14:foregroundMark x1="76730" y1="59313" x2="85887" y2="59919"/>
                        <a14:foregroundMark x1="85887" y1="59919" x2="93859" y2="52848"/>
                        <a14:foregroundMark x1="93859" y1="52848" x2="97765" y2="51879"/>
                        <a14:foregroundMark x1="19553" y1="98586" x2="28117" y2="89253"/>
                        <a14:foregroundMark x1="28117" y1="89253" x2="95098" y2="64081"/>
                        <a14:foregroundMark x1="54969" y1="98828" x2="54969" y2="98828"/>
                      </a14:backgroundRemoval>
                    </a14:imgEffect>
                  </a14:imgLayer>
                </a14:imgProps>
              </a:ext>
              <a:ext uri="{28A0092B-C50C-407E-A947-70E740481C1C}">
                <a14:useLocalDpi xmlns:a14="http://schemas.microsoft.com/office/drawing/2010/main" val="0"/>
              </a:ext>
            </a:extLst>
          </a:blip>
          <a:srcRect t="28134"/>
          <a:stretch/>
        </p:blipFill>
        <p:spPr>
          <a:xfrm>
            <a:off x="277574" y="7050121"/>
            <a:ext cx="12192000" cy="4928532"/>
          </a:xfrm>
          <a:prstGeom prst="rect">
            <a:avLst/>
          </a:prstGeom>
          <a:effectLst>
            <a:outerShdw blurRad="254000" dist="38100" dir="16200000" rotWithShape="0">
              <a:prstClr val="black">
                <a:alpha val="44000"/>
              </a:prstClr>
            </a:outerShdw>
          </a:effectLst>
        </p:spPr>
      </p:pic>
    </p:spTree>
    <p:extLst>
      <p:ext uri="{BB962C8B-B14F-4D97-AF65-F5344CB8AC3E}">
        <p14:creationId xmlns:p14="http://schemas.microsoft.com/office/powerpoint/2010/main" val="1789793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88C470-735E-489F-82FA-C46FE90FCB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2378131E-7BF4-40F1-856B-F845C9E99C0B}"/>
              </a:ext>
            </a:extLst>
          </p:cNvPr>
          <p:cNvSpPr txBox="1"/>
          <p:nvPr/>
        </p:nvSpPr>
        <p:spPr>
          <a:xfrm>
            <a:off x="3530881" y="3510106"/>
            <a:ext cx="8540349" cy="1569660"/>
          </a:xfrm>
          <a:prstGeom prst="rect">
            <a:avLst/>
          </a:prstGeom>
          <a:noFill/>
          <a:effectLst>
            <a:outerShdw blurRad="190500" dist="38100" dir="2700000" algn="tl" rotWithShape="0">
              <a:prstClr val="black">
                <a:alpha val="54000"/>
              </a:prstClr>
            </a:outerShdw>
          </a:effectLst>
        </p:spPr>
        <p:txBody>
          <a:bodyPr wrap="square" rtlCol="0">
            <a:spAutoFit/>
          </a:bodyPr>
          <a:lstStyle/>
          <a:p>
            <a:r>
              <a:rPr lang="en-US" sz="9600" dirty="0">
                <a:solidFill>
                  <a:srgbClr val="FF0000"/>
                </a:solidFill>
                <a:effectLst>
                  <a:outerShdw blurRad="50800" dist="38100" dir="13500000" algn="br" rotWithShape="0">
                    <a:prstClr val="black">
                      <a:alpha val="40000"/>
                    </a:prstClr>
                  </a:outerShdw>
                </a:effectLst>
                <a:latin typeface="Segoe Print" panose="02000600000000000000" pitchFamily="2" charset="0"/>
              </a:rPr>
              <a:t>Architecture</a:t>
            </a:r>
            <a:endParaRPr lang="en-IN" sz="9600" dirty="0">
              <a:solidFill>
                <a:srgbClr val="FF0000"/>
              </a:solidFill>
              <a:effectLst>
                <a:outerShdw blurRad="50800" dist="38100" dir="13500000" algn="br" rotWithShape="0">
                  <a:prstClr val="black">
                    <a:alpha val="40000"/>
                  </a:prstClr>
                </a:outerShdw>
              </a:effectLst>
              <a:latin typeface="Segoe Print" panose="02000600000000000000" pitchFamily="2" charset="0"/>
            </a:endParaRPr>
          </a:p>
        </p:txBody>
      </p:sp>
      <p:pic>
        <p:nvPicPr>
          <p:cNvPr id="9" name="Picture 8">
            <a:extLst>
              <a:ext uri="{FF2B5EF4-FFF2-40B4-BE49-F238E27FC236}">
                <a16:creationId xmlns:a16="http://schemas.microsoft.com/office/drawing/2014/main" id="{835E1BB6-D2B1-4E8E-B5BD-E56B829C8539}"/>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9980" b="98828" l="269" r="97765">
                        <a14:foregroundMark x1="2693" y1="43313" x2="2693" y2="43313"/>
                        <a14:foregroundMark x1="350" y1="43677" x2="13628" y2="46747"/>
                        <a14:foregroundMark x1="14166" y1="53576" x2="9669" y2="77010"/>
                        <a14:foregroundMark x1="9669" y1="77010" x2="9426" y2="80606"/>
                        <a14:foregroundMark x1="9157" y1="87475" x2="22354" y2="67556"/>
                        <a14:foregroundMark x1="22354" y1="67556" x2="34797" y2="59515"/>
                        <a14:foregroundMark x1="34797" y1="59515" x2="54781" y2="56889"/>
                        <a14:foregroundMark x1="350" y1="99313" x2="50633" y2="61535"/>
                        <a14:foregroundMark x1="50633" y1="61535" x2="76730" y2="59313"/>
                        <a14:foregroundMark x1="76730" y1="59313" x2="85887" y2="59919"/>
                        <a14:foregroundMark x1="85887" y1="59919" x2="93859" y2="52848"/>
                        <a14:foregroundMark x1="93859" y1="52848" x2="97765" y2="51879"/>
                        <a14:foregroundMark x1="19553" y1="98586" x2="28117" y2="89253"/>
                        <a14:foregroundMark x1="28117" y1="89253" x2="95098" y2="64081"/>
                        <a14:foregroundMark x1="54969" y1="98828" x2="54969" y2="98828"/>
                      </a14:backgroundRemoval>
                    </a14:imgEffect>
                  </a14:imgLayer>
                </a14:imgProps>
              </a:ext>
              <a:ext uri="{28A0092B-C50C-407E-A947-70E740481C1C}">
                <a14:useLocalDpi xmlns:a14="http://schemas.microsoft.com/office/drawing/2010/main" val="0"/>
              </a:ext>
            </a:extLst>
          </a:blip>
          <a:srcRect t="28134"/>
          <a:stretch/>
        </p:blipFill>
        <p:spPr>
          <a:xfrm>
            <a:off x="0" y="1929468"/>
            <a:ext cx="12192000" cy="4928532"/>
          </a:xfrm>
          <a:prstGeom prst="rect">
            <a:avLst/>
          </a:prstGeom>
          <a:effectLst>
            <a:outerShdw blurRad="254000" dist="38100" dir="16200000" rotWithShape="0">
              <a:prstClr val="black">
                <a:alpha val="44000"/>
              </a:prstClr>
            </a:outerShdw>
          </a:effectLst>
        </p:spPr>
      </p:pic>
    </p:spTree>
    <p:extLst>
      <p:ext uri="{BB962C8B-B14F-4D97-AF65-F5344CB8AC3E}">
        <p14:creationId xmlns:p14="http://schemas.microsoft.com/office/powerpoint/2010/main" val="19587005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88C470-735E-489F-82FA-C46FE90FCB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2378131E-7BF4-40F1-856B-F845C9E99C0B}"/>
              </a:ext>
            </a:extLst>
          </p:cNvPr>
          <p:cNvSpPr txBox="1"/>
          <p:nvPr/>
        </p:nvSpPr>
        <p:spPr>
          <a:xfrm>
            <a:off x="3755168" y="1040567"/>
            <a:ext cx="8540349" cy="1569660"/>
          </a:xfrm>
          <a:prstGeom prst="rect">
            <a:avLst/>
          </a:prstGeom>
          <a:noFill/>
          <a:effectLst>
            <a:outerShdw blurRad="190500" dist="38100" dir="2700000" algn="tl" rotWithShape="0">
              <a:prstClr val="black">
                <a:alpha val="54000"/>
              </a:prstClr>
            </a:outerShdw>
          </a:effectLst>
        </p:spPr>
        <p:txBody>
          <a:bodyPr wrap="square" rtlCol="0">
            <a:spAutoFit/>
          </a:bodyPr>
          <a:lstStyle/>
          <a:p>
            <a:r>
              <a:rPr lang="en-US" sz="9600" dirty="0">
                <a:solidFill>
                  <a:srgbClr val="FF0000"/>
                </a:solidFill>
                <a:effectLst>
                  <a:outerShdw blurRad="50800" dist="38100" dir="13500000" algn="br" rotWithShape="0">
                    <a:prstClr val="black">
                      <a:alpha val="40000"/>
                    </a:prstClr>
                  </a:outerShdw>
                </a:effectLst>
                <a:latin typeface="Segoe Print" panose="02000600000000000000" pitchFamily="2" charset="0"/>
              </a:rPr>
              <a:t>Architecture</a:t>
            </a:r>
            <a:endParaRPr lang="en-IN" sz="9600" dirty="0">
              <a:solidFill>
                <a:srgbClr val="FF0000"/>
              </a:solidFill>
              <a:effectLst>
                <a:outerShdw blurRad="50800" dist="38100" dir="13500000" algn="br" rotWithShape="0">
                  <a:prstClr val="black">
                    <a:alpha val="40000"/>
                  </a:prstClr>
                </a:outerShdw>
              </a:effectLst>
              <a:latin typeface="Segoe Print" panose="02000600000000000000" pitchFamily="2" charset="0"/>
            </a:endParaRPr>
          </a:p>
        </p:txBody>
      </p:sp>
      <p:pic>
        <p:nvPicPr>
          <p:cNvPr id="9" name="Picture 8">
            <a:extLst>
              <a:ext uri="{FF2B5EF4-FFF2-40B4-BE49-F238E27FC236}">
                <a16:creationId xmlns:a16="http://schemas.microsoft.com/office/drawing/2014/main" id="{835E1BB6-D2B1-4E8E-B5BD-E56B829C8539}"/>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9980" b="98828" l="269" r="97765">
                        <a14:foregroundMark x1="2693" y1="43313" x2="2693" y2="43313"/>
                        <a14:foregroundMark x1="350" y1="43677" x2="13628" y2="46747"/>
                        <a14:foregroundMark x1="14166" y1="53576" x2="9669" y2="77010"/>
                        <a14:foregroundMark x1="9669" y1="77010" x2="9426" y2="80606"/>
                        <a14:foregroundMark x1="9157" y1="87475" x2="22354" y2="67556"/>
                        <a14:foregroundMark x1="22354" y1="67556" x2="34797" y2="59515"/>
                        <a14:foregroundMark x1="34797" y1="59515" x2="54781" y2="56889"/>
                        <a14:foregroundMark x1="350" y1="99313" x2="50633" y2="61535"/>
                        <a14:foregroundMark x1="50633" y1="61535" x2="76730" y2="59313"/>
                        <a14:foregroundMark x1="76730" y1="59313" x2="85887" y2="59919"/>
                        <a14:foregroundMark x1="85887" y1="59919" x2="93859" y2="52848"/>
                        <a14:foregroundMark x1="93859" y1="52848" x2="97765" y2="51879"/>
                        <a14:foregroundMark x1="19553" y1="98586" x2="28117" y2="89253"/>
                        <a14:foregroundMark x1="28117" y1="89253" x2="95098" y2="64081"/>
                        <a14:foregroundMark x1="54969" y1="98828" x2="54969" y2="98828"/>
                      </a14:backgroundRemoval>
                    </a14:imgEffect>
                  </a14:imgLayer>
                </a14:imgProps>
              </a:ext>
              <a:ext uri="{28A0092B-C50C-407E-A947-70E740481C1C}">
                <a14:useLocalDpi xmlns:a14="http://schemas.microsoft.com/office/drawing/2010/main" val="0"/>
              </a:ext>
            </a:extLst>
          </a:blip>
          <a:srcRect t="28134"/>
          <a:stretch/>
        </p:blipFill>
        <p:spPr>
          <a:xfrm>
            <a:off x="0" y="1929468"/>
            <a:ext cx="12192000" cy="4928532"/>
          </a:xfrm>
          <a:prstGeom prst="rect">
            <a:avLst/>
          </a:prstGeom>
          <a:effectLst>
            <a:outerShdw blurRad="254000" dist="38100" dir="16200000" rotWithShape="0">
              <a:prstClr val="black">
                <a:alpha val="42000"/>
              </a:prstClr>
            </a:outerShdw>
          </a:effectLst>
        </p:spPr>
      </p:pic>
      <p:pic>
        <p:nvPicPr>
          <p:cNvPr id="11" name="Picture 10">
            <a:extLst>
              <a:ext uri="{FF2B5EF4-FFF2-40B4-BE49-F238E27FC236}">
                <a16:creationId xmlns:a16="http://schemas.microsoft.com/office/drawing/2014/main" id="{F645FF3F-27FB-46C4-9B06-A3E9CC347B68}"/>
              </a:ext>
            </a:extLst>
          </p:cNvPr>
          <p:cNvPicPr>
            <a:picLocks noChangeAspect="1"/>
          </p:cNvPicPr>
          <p:nvPr/>
        </p:nvPicPr>
        <p:blipFill>
          <a:blip r:embed="rId5"/>
          <a:stretch>
            <a:fillRect/>
          </a:stretch>
        </p:blipFill>
        <p:spPr>
          <a:xfrm>
            <a:off x="562583" y="7066142"/>
            <a:ext cx="9004572" cy="5157663"/>
          </a:xfrm>
          <a:prstGeom prst="rect">
            <a:avLst/>
          </a:prstGeom>
        </p:spPr>
      </p:pic>
    </p:spTree>
    <p:extLst>
      <p:ext uri="{BB962C8B-B14F-4D97-AF65-F5344CB8AC3E}">
        <p14:creationId xmlns:p14="http://schemas.microsoft.com/office/powerpoint/2010/main" val="3016571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EAE9"/>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88C470-735E-489F-82FA-C46FE90FCB38}"/>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3394" b="89980" l="81" r="98626">
                        <a14:foregroundMark x1="4713" y1="25253" x2="62079" y2="13616"/>
                        <a14:foregroundMark x1="62079" y1="13616" x2="67385" y2="14465"/>
                        <a14:foregroundMark x1="67385" y1="14465" x2="98707" y2="31515"/>
                        <a14:foregroundMark x1="98707" y1="31515" x2="98546" y2="31758"/>
                        <a14:foregroundMark x1="9507" y1="8929" x2="24993" y2="2828"/>
                        <a14:foregroundMark x1="24993" y1="2828" x2="29356" y2="3677"/>
                        <a14:foregroundMark x1="29356" y1="3677" x2="29356" y2="4525"/>
                        <a14:foregroundMark x1="2801" y1="3394" x2="2639" y2="23394"/>
                        <a14:foregroundMark x1="404" y1="10626" x2="81" y2="11071"/>
                        <a14:backgroundMark x1="404" y1="42263" x2="31592" y2="68606"/>
                        <a14:backgroundMark x1="31592" y1="68606" x2="35847" y2="70141"/>
                        <a14:backgroundMark x1="35847" y1="70141" x2="64880" y2="62182"/>
                        <a14:backgroundMark x1="64880" y1="62182" x2="82575" y2="70788"/>
                        <a14:backgroundMark x1="82575" y1="70788" x2="92055" y2="69859"/>
                        <a14:backgroundMark x1="92055" y1="69859" x2="96203" y2="66949"/>
                        <a14:backgroundMark x1="96203" y1="66949" x2="98707" y2="61576"/>
                        <a14:backgroundMark x1="98707" y1="61576" x2="99731" y2="61131"/>
                        <a14:backgroundMark x1="31834" y1="58869" x2="72287" y2="34828"/>
                        <a14:backgroundMark x1="72287" y1="34828" x2="77269" y2="35152"/>
                        <a14:backgroundMark x1="77269" y1="35152" x2="79235" y2="41495"/>
                        <a14:backgroundMark x1="79235" y1="41495" x2="79074" y2="43677"/>
                        <a14:backgroundMark x1="49798" y1="30788" x2="50902" y2="46667"/>
                        <a14:backgroundMark x1="50013" y1="31354" x2="51953" y2="42424"/>
                        <a14:backgroundMark x1="42284" y1="41131" x2="40075" y2="47273"/>
                        <a14:backgroundMark x1="40075" y1="47273" x2="40776" y2="51919"/>
                        <a14:backgroundMark x1="2478" y1="42263" x2="6302" y2="42707"/>
                      </a14:backgroundRemoval>
                    </a14:imgEffect>
                  </a14:imgLayer>
                </a14:imgProps>
              </a:ext>
              <a:ext uri="{28A0092B-C50C-407E-A947-70E740481C1C}">
                <a14:useLocalDpi xmlns:a14="http://schemas.microsoft.com/office/drawing/2010/main" val="0"/>
              </a:ext>
            </a:extLst>
          </a:blip>
          <a:srcRect b="71064"/>
          <a:stretch/>
        </p:blipFill>
        <p:spPr>
          <a:xfrm>
            <a:off x="0" y="4873558"/>
            <a:ext cx="12192000" cy="1984442"/>
          </a:xfrm>
          <a:prstGeom prst="rect">
            <a:avLst/>
          </a:prstGeom>
        </p:spPr>
      </p:pic>
      <p:pic>
        <p:nvPicPr>
          <p:cNvPr id="7" name="Picture 6">
            <a:extLst>
              <a:ext uri="{FF2B5EF4-FFF2-40B4-BE49-F238E27FC236}">
                <a16:creationId xmlns:a16="http://schemas.microsoft.com/office/drawing/2014/main" id="{76BD9AE4-6419-4103-A169-A76D0CF8B8EF}"/>
              </a:ext>
            </a:extLst>
          </p:cNvPr>
          <p:cNvPicPr>
            <a:picLocks noChangeAspect="1"/>
          </p:cNvPicPr>
          <p:nvPr/>
        </p:nvPicPr>
        <p:blipFill>
          <a:blip r:embed="rId4"/>
          <a:stretch>
            <a:fillRect/>
          </a:stretch>
        </p:blipFill>
        <p:spPr>
          <a:xfrm>
            <a:off x="1369834" y="-422663"/>
            <a:ext cx="9760542" cy="2676376"/>
          </a:xfrm>
          <a:prstGeom prst="rect">
            <a:avLst/>
          </a:prstGeom>
        </p:spPr>
      </p:pic>
      <p:sp>
        <p:nvSpPr>
          <p:cNvPr id="8" name="TextBox 7">
            <a:extLst>
              <a:ext uri="{FF2B5EF4-FFF2-40B4-BE49-F238E27FC236}">
                <a16:creationId xmlns:a16="http://schemas.microsoft.com/office/drawing/2014/main" id="{58B0431C-64E6-4A3C-BF12-6258F1E9C26D}"/>
              </a:ext>
            </a:extLst>
          </p:cNvPr>
          <p:cNvSpPr txBox="1"/>
          <p:nvPr/>
        </p:nvSpPr>
        <p:spPr>
          <a:xfrm>
            <a:off x="500699" y="4995952"/>
            <a:ext cx="11841803" cy="1862048"/>
          </a:xfrm>
          <a:prstGeom prst="rect">
            <a:avLst/>
          </a:prstGeom>
          <a:noFill/>
        </p:spPr>
        <p:txBody>
          <a:bodyPr wrap="square" rtlCol="0">
            <a:spAutoFit/>
          </a:bodyPr>
          <a:lstStyle/>
          <a:p>
            <a:r>
              <a:rPr lang="en-US" sz="2300" dirty="0">
                <a:solidFill>
                  <a:srgbClr val="FF0000"/>
                </a:solidFill>
                <a:effectLst>
                  <a:outerShdw blurRad="279400" dist="38100" dir="2700000" algn="tl" rotWithShape="0">
                    <a:prstClr val="black">
                      <a:alpha val="74000"/>
                    </a:prstClr>
                  </a:outerShdw>
                </a:effectLst>
              </a:rPr>
              <a:t>Machine Learning Model for Predicting Indian Supreme Court Judgments:</a:t>
            </a:r>
          </a:p>
          <a:p>
            <a:pPr marL="285750" indent="-285750">
              <a:buFont typeface="Arial" panose="020B0604020202020204" pitchFamily="34" charset="0"/>
              <a:buChar char="•"/>
            </a:pPr>
            <a:r>
              <a:rPr lang="en-US" sz="2300" dirty="0">
                <a:effectLst>
                  <a:outerShdw blurRad="279400" dist="38100" dir="2700000" algn="tl" rotWithShape="0">
                    <a:prstClr val="black">
                      <a:alpha val="74000"/>
                    </a:prstClr>
                  </a:outerShdw>
                </a:effectLst>
              </a:rPr>
              <a:t>Comprises a Support Vector Machine (SVM) and a K-means clustering algorithm.</a:t>
            </a:r>
          </a:p>
          <a:p>
            <a:pPr marL="285750" indent="-285750">
              <a:buFont typeface="Arial" panose="020B0604020202020204" pitchFamily="34" charset="0"/>
              <a:buChar char="•"/>
            </a:pPr>
            <a:r>
              <a:rPr lang="en-US" sz="2300" dirty="0">
                <a:effectLst>
                  <a:outerShdw blurRad="279400" dist="38100" dir="2700000" algn="tl" rotWithShape="0">
                    <a:prstClr val="black">
                      <a:alpha val="74000"/>
                    </a:prstClr>
                  </a:outerShdw>
                </a:effectLst>
              </a:rPr>
              <a:t>SVM trains on past cases to predict outcomes, excelling in capturing complex relationships.</a:t>
            </a:r>
          </a:p>
          <a:p>
            <a:pPr marL="285750" indent="-285750">
              <a:buFont typeface="Arial" panose="020B0604020202020204" pitchFamily="34" charset="0"/>
              <a:buChar char="•"/>
            </a:pPr>
            <a:r>
              <a:rPr lang="en-US" sz="2300" dirty="0">
                <a:effectLst>
                  <a:outerShdw blurRad="279400" dist="38100" dir="2700000" algn="tl" rotWithShape="0">
                    <a:prstClr val="black">
                      <a:alpha val="74000"/>
                    </a:prstClr>
                  </a:outerShdw>
                </a:effectLst>
              </a:rPr>
              <a:t>K-means clusters cases to inform decisions based on similarity, offering versatility.</a:t>
            </a:r>
          </a:p>
          <a:p>
            <a:endParaRPr lang="en-US" sz="2300" dirty="0">
              <a:effectLst>
                <a:outerShdw blurRad="279400" dist="38100" dir="2700000" algn="tl" rotWithShape="0">
                  <a:prstClr val="black">
                    <a:alpha val="74000"/>
                  </a:prstClr>
                </a:outerShdw>
              </a:effectLst>
            </a:endParaRPr>
          </a:p>
        </p:txBody>
      </p:sp>
      <p:pic>
        <p:nvPicPr>
          <p:cNvPr id="5" name="Picture 4">
            <a:extLst>
              <a:ext uri="{FF2B5EF4-FFF2-40B4-BE49-F238E27FC236}">
                <a16:creationId xmlns:a16="http://schemas.microsoft.com/office/drawing/2014/main" id="{AD8DD590-0080-489E-A0F9-1778D3C071DD}"/>
              </a:ext>
            </a:extLst>
          </p:cNvPr>
          <p:cNvPicPr/>
          <p:nvPr/>
        </p:nvPicPr>
        <p:blipFill>
          <a:blip r:embed="rId5"/>
          <a:stretch>
            <a:fillRect/>
          </a:stretch>
        </p:blipFill>
        <p:spPr>
          <a:xfrm>
            <a:off x="2597591" y="1424585"/>
            <a:ext cx="6996818" cy="3288930"/>
          </a:xfrm>
          <a:prstGeom prst="rect">
            <a:avLst/>
          </a:prstGeom>
        </p:spPr>
      </p:pic>
    </p:spTree>
    <p:extLst>
      <p:ext uri="{BB962C8B-B14F-4D97-AF65-F5344CB8AC3E}">
        <p14:creationId xmlns:p14="http://schemas.microsoft.com/office/powerpoint/2010/main" val="123844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EAE9"/>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6BD9AE4-6419-4103-A169-A76D0CF8B8EF}"/>
              </a:ext>
            </a:extLst>
          </p:cNvPr>
          <p:cNvPicPr>
            <a:picLocks noChangeAspect="1"/>
          </p:cNvPicPr>
          <p:nvPr/>
        </p:nvPicPr>
        <p:blipFill>
          <a:blip r:embed="rId2"/>
          <a:stretch>
            <a:fillRect/>
          </a:stretch>
        </p:blipFill>
        <p:spPr>
          <a:xfrm>
            <a:off x="1452926" y="-233811"/>
            <a:ext cx="9494707" cy="2676376"/>
          </a:xfrm>
          <a:prstGeom prst="rect">
            <a:avLst/>
          </a:prstGeom>
        </p:spPr>
      </p:pic>
      <p:sp>
        <p:nvSpPr>
          <p:cNvPr id="2" name="TextBox 1">
            <a:extLst>
              <a:ext uri="{FF2B5EF4-FFF2-40B4-BE49-F238E27FC236}">
                <a16:creationId xmlns:a16="http://schemas.microsoft.com/office/drawing/2014/main" id="{C0070553-DF91-4ED1-AC1A-9A71ADA23E3E}"/>
              </a:ext>
            </a:extLst>
          </p:cNvPr>
          <p:cNvSpPr txBox="1"/>
          <p:nvPr/>
        </p:nvSpPr>
        <p:spPr>
          <a:xfrm>
            <a:off x="892752" y="1728532"/>
            <a:ext cx="10615053" cy="5047536"/>
          </a:xfrm>
          <a:prstGeom prst="rect">
            <a:avLst/>
          </a:prstGeom>
          <a:noFill/>
        </p:spPr>
        <p:txBody>
          <a:bodyPr wrap="square" rtlCol="0">
            <a:spAutoFit/>
          </a:bodyPr>
          <a:lstStyle/>
          <a:p>
            <a:r>
              <a:rPr lang="en-US" sz="2300" dirty="0">
                <a:solidFill>
                  <a:srgbClr val="FF0000"/>
                </a:solidFill>
                <a:effectLst>
                  <a:outerShdw blurRad="279400" dist="38100" dir="2700000" algn="tl" rotWithShape="0">
                    <a:prstClr val="black">
                      <a:alpha val="74000"/>
                    </a:prstClr>
                  </a:outerShdw>
                </a:effectLst>
                <a:latin typeface="Arial" panose="020B0604020202020204" pitchFamily="34" charset="0"/>
                <a:cs typeface="Arial" panose="020B0604020202020204" pitchFamily="34" charset="0"/>
              </a:rPr>
              <a:t>Workflow:</a:t>
            </a:r>
          </a:p>
          <a:p>
            <a:pPr marL="285750" indent="-285750">
              <a:buFont typeface="Arial" panose="020B0604020202020204" pitchFamily="34" charset="0"/>
              <a:buChar char="•"/>
            </a:pPr>
            <a:r>
              <a:rPr lang="en-US" sz="2300" dirty="0">
                <a:effectLst>
                  <a:outerShdw blurRad="279400" dist="38100" dir="2700000" algn="tl" rotWithShape="0">
                    <a:prstClr val="black">
                      <a:alpha val="74000"/>
                    </a:prstClr>
                  </a:outerShdw>
                </a:effectLst>
                <a:latin typeface="Arial" panose="020B0604020202020204" pitchFamily="34" charset="0"/>
                <a:cs typeface="Arial" panose="020B0604020202020204" pitchFamily="34" charset="0"/>
              </a:rPr>
              <a:t>Natural Language Processing (NLP) extracts relevant legal knowledge.</a:t>
            </a:r>
          </a:p>
          <a:p>
            <a:pPr marL="285750" indent="-285750">
              <a:buFont typeface="Arial" panose="020B0604020202020204" pitchFamily="34" charset="0"/>
              <a:buChar char="•"/>
            </a:pPr>
            <a:r>
              <a:rPr lang="en-US" sz="2300" dirty="0">
                <a:effectLst>
                  <a:outerShdw blurRad="279400" dist="38100" dir="2700000" algn="tl" rotWithShape="0">
                    <a:prstClr val="black">
                      <a:alpha val="74000"/>
                    </a:prstClr>
                  </a:outerShdw>
                </a:effectLst>
                <a:latin typeface="Arial" panose="020B0604020202020204" pitchFamily="34" charset="0"/>
                <a:cs typeface="Arial" panose="020B0604020202020204" pitchFamily="34" charset="0"/>
              </a:rPr>
              <a:t>SVM predicts judgment outcome.</a:t>
            </a:r>
          </a:p>
          <a:p>
            <a:pPr marL="285750" indent="-285750">
              <a:buFont typeface="Arial" panose="020B0604020202020204" pitchFamily="34" charset="0"/>
              <a:buChar char="•"/>
            </a:pPr>
            <a:r>
              <a:rPr lang="en-US" sz="2300" dirty="0">
                <a:effectLst>
                  <a:outerShdw blurRad="279400" dist="38100" dir="2700000" algn="tl" rotWithShape="0">
                    <a:prstClr val="black">
                      <a:alpha val="74000"/>
                    </a:prstClr>
                  </a:outerShdw>
                </a:effectLst>
                <a:latin typeface="Arial" panose="020B0604020202020204" pitchFamily="34" charset="0"/>
                <a:cs typeface="Arial" panose="020B0604020202020204" pitchFamily="34" charset="0"/>
              </a:rPr>
              <a:t>K-means assists in decision-making.</a:t>
            </a:r>
          </a:p>
          <a:p>
            <a:pPr marL="285750" indent="-285750">
              <a:buFont typeface="Arial" panose="020B0604020202020204" pitchFamily="34" charset="0"/>
              <a:buChar char="•"/>
            </a:pPr>
            <a:r>
              <a:rPr lang="en-US" sz="2300" dirty="0">
                <a:effectLst>
                  <a:outerShdw blurRad="279400" dist="38100" dir="2700000" algn="tl" rotWithShape="0">
                    <a:prstClr val="black">
                      <a:alpha val="74000"/>
                    </a:prstClr>
                  </a:outerShdw>
                </a:effectLst>
                <a:latin typeface="Arial" panose="020B0604020202020204" pitchFamily="34" charset="0"/>
                <a:cs typeface="Arial" panose="020B0604020202020204" pitchFamily="34" charset="0"/>
              </a:rPr>
              <a:t>Generates a report with predictions and explanations.</a:t>
            </a:r>
          </a:p>
          <a:p>
            <a:endParaRPr lang="en-US" sz="2300" dirty="0">
              <a:effectLst>
                <a:outerShdw blurRad="279400" dist="38100" dir="2700000" algn="tl" rotWithShape="0">
                  <a:prstClr val="black">
                    <a:alpha val="74000"/>
                  </a:prstClr>
                </a:outerShdw>
              </a:effectLst>
              <a:latin typeface="Arial" panose="020B0604020202020204" pitchFamily="34" charset="0"/>
              <a:cs typeface="Arial" panose="020B0604020202020204" pitchFamily="34" charset="0"/>
            </a:endParaRPr>
          </a:p>
          <a:p>
            <a:r>
              <a:rPr lang="en-US" sz="2300" dirty="0">
                <a:solidFill>
                  <a:srgbClr val="FF0000"/>
                </a:solidFill>
                <a:effectLst>
                  <a:outerShdw blurRad="279400" dist="38100" dir="2700000" algn="tl" rotWithShape="0">
                    <a:prstClr val="black">
                      <a:alpha val="74000"/>
                    </a:prstClr>
                  </a:outerShdw>
                </a:effectLst>
                <a:latin typeface="Arial" panose="020B0604020202020204" pitchFamily="34" charset="0"/>
                <a:cs typeface="Arial" panose="020B0604020202020204" pitchFamily="34" charset="0"/>
              </a:rPr>
              <a:t>Value for Legal Professionals:</a:t>
            </a:r>
          </a:p>
          <a:p>
            <a:pPr marL="285750" indent="-285750">
              <a:buFont typeface="Arial" panose="020B0604020202020204" pitchFamily="34" charset="0"/>
              <a:buChar char="•"/>
            </a:pPr>
            <a:r>
              <a:rPr lang="en-US" sz="2300" dirty="0">
                <a:effectLst>
                  <a:outerShdw blurRad="279400" dist="38100" dir="2700000" algn="tl" rotWithShape="0">
                    <a:prstClr val="black">
                      <a:alpha val="74000"/>
                    </a:prstClr>
                  </a:outerShdw>
                </a:effectLst>
                <a:latin typeface="Arial" panose="020B0604020202020204" pitchFamily="34" charset="0"/>
                <a:cs typeface="Arial" panose="020B0604020202020204" pitchFamily="34" charset="0"/>
              </a:rPr>
              <a:t>While still in development, it's a promising tool for lawyers.</a:t>
            </a:r>
          </a:p>
          <a:p>
            <a:pPr marL="285750" indent="-285750">
              <a:buFont typeface="Arial" panose="020B0604020202020204" pitchFamily="34" charset="0"/>
              <a:buChar char="•"/>
            </a:pPr>
            <a:r>
              <a:rPr lang="en-US" sz="2300" dirty="0">
                <a:effectLst>
                  <a:outerShdw blurRad="279400" dist="38100" dir="2700000" algn="tl" rotWithShape="0">
                    <a:prstClr val="black">
                      <a:alpha val="74000"/>
                    </a:prstClr>
                  </a:outerShdw>
                </a:effectLst>
                <a:latin typeface="Arial" panose="020B0604020202020204" pitchFamily="34" charset="0"/>
                <a:cs typeface="Arial" panose="020B0604020202020204" pitchFamily="34" charset="0"/>
              </a:rPr>
              <a:t>Enhances case outcome prediction and informed legal decisions.</a:t>
            </a:r>
          </a:p>
          <a:p>
            <a:endParaRPr lang="en-US" sz="2300" dirty="0">
              <a:effectLst>
                <a:outerShdw blurRad="279400" dist="38100" dir="2700000" algn="tl" rotWithShape="0">
                  <a:prstClr val="black">
                    <a:alpha val="74000"/>
                  </a:prstClr>
                </a:outerShdw>
              </a:effectLst>
              <a:latin typeface="Arial" panose="020B0604020202020204" pitchFamily="34" charset="0"/>
              <a:cs typeface="Arial" panose="020B0604020202020204" pitchFamily="34" charset="0"/>
            </a:endParaRPr>
          </a:p>
          <a:p>
            <a:r>
              <a:rPr lang="en-US" sz="2300" dirty="0">
                <a:solidFill>
                  <a:srgbClr val="FF0000"/>
                </a:solidFill>
                <a:effectLst>
                  <a:outerShdw blurRad="279400" dist="38100" dir="2700000" algn="tl" rotWithShape="0">
                    <a:prstClr val="black">
                      <a:alpha val="74000"/>
                    </a:prstClr>
                  </a:outerShdw>
                </a:effectLst>
                <a:latin typeface="Arial" panose="020B0604020202020204" pitchFamily="34" charset="0"/>
                <a:cs typeface="Arial" panose="020B0604020202020204" pitchFamily="34" charset="0"/>
              </a:rPr>
              <a:t>Simple, Powerful, and Flexible:</a:t>
            </a:r>
          </a:p>
          <a:p>
            <a:pPr marL="285750" indent="-285750">
              <a:buFont typeface="Arial" panose="020B0604020202020204" pitchFamily="34" charset="0"/>
              <a:buChar char="•"/>
            </a:pPr>
            <a:r>
              <a:rPr lang="en-US" sz="2300" dirty="0">
                <a:effectLst>
                  <a:outerShdw blurRad="279400" dist="38100" dir="2700000" algn="tl" rotWithShape="0">
                    <a:prstClr val="black">
                      <a:alpha val="74000"/>
                    </a:prstClr>
                  </a:outerShdw>
                </a:effectLst>
                <a:latin typeface="Arial" panose="020B0604020202020204" pitchFamily="34" charset="0"/>
                <a:cs typeface="Arial" panose="020B0604020202020204" pitchFamily="34" charset="0"/>
              </a:rPr>
              <a:t>Acknowledges the inherent uncertainty in predicting case outcomes.</a:t>
            </a:r>
          </a:p>
          <a:p>
            <a:pPr marL="285750" indent="-285750">
              <a:buFont typeface="Arial" panose="020B0604020202020204" pitchFamily="34" charset="0"/>
              <a:buChar char="•"/>
            </a:pPr>
            <a:r>
              <a:rPr lang="en-US" sz="2300" dirty="0">
                <a:effectLst>
                  <a:outerShdw blurRad="279400" dist="38100" dir="2700000" algn="tl" rotWithShape="0">
                    <a:prstClr val="black">
                      <a:alpha val="74000"/>
                    </a:prstClr>
                  </a:outerShdw>
                </a:effectLst>
                <a:latin typeface="Arial" panose="020B0604020202020204" pitchFamily="34" charset="0"/>
                <a:cs typeface="Arial" panose="020B0604020202020204" pitchFamily="34" charset="0"/>
              </a:rPr>
              <a:t>Empowers lawyers to make more informed legal strategies.</a:t>
            </a:r>
            <a:endParaRPr lang="en-IN" sz="2300" dirty="0">
              <a:effectLst>
                <a:outerShdw blurRad="279400" dist="38100" dir="2700000" algn="tl" rotWithShape="0">
                  <a:prstClr val="black">
                    <a:alpha val="74000"/>
                  </a:prstClr>
                </a:outerShdw>
              </a:effectLst>
              <a:latin typeface="Arial" panose="020B0604020202020204" pitchFamily="34" charset="0"/>
              <a:cs typeface="Arial" panose="020B0604020202020204" pitchFamily="34" charset="0"/>
            </a:endParaRPr>
          </a:p>
          <a:p>
            <a:endParaRPr lang="en-IN" sz="23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1B969E4-1318-40D1-834C-828CD45A6855}"/>
              </a:ext>
            </a:extLst>
          </p:cNvPr>
          <p:cNvPicPr/>
          <p:nvPr/>
        </p:nvPicPr>
        <p:blipFill>
          <a:blip r:embed="rId3"/>
          <a:stretch>
            <a:fillRect/>
          </a:stretch>
        </p:blipFill>
        <p:spPr>
          <a:xfrm>
            <a:off x="2337461" y="-3522741"/>
            <a:ext cx="6996818" cy="3288930"/>
          </a:xfrm>
          <a:prstGeom prst="rect">
            <a:avLst/>
          </a:prstGeom>
        </p:spPr>
      </p:pic>
    </p:spTree>
    <p:extLst>
      <p:ext uri="{BB962C8B-B14F-4D97-AF65-F5344CB8AC3E}">
        <p14:creationId xmlns:p14="http://schemas.microsoft.com/office/powerpoint/2010/main" val="12283236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Group 53">
            <a:extLst>
              <a:ext uri="{FF2B5EF4-FFF2-40B4-BE49-F238E27FC236}">
                <a16:creationId xmlns:a16="http://schemas.microsoft.com/office/drawing/2014/main" id="{BA81568F-1B3D-4BCB-9484-6FEB0C135CF1}"/>
              </a:ext>
            </a:extLst>
          </p:cNvPr>
          <p:cNvGrpSpPr/>
          <p:nvPr/>
        </p:nvGrpSpPr>
        <p:grpSpPr>
          <a:xfrm>
            <a:off x="216516" y="-8514"/>
            <a:ext cx="3190516" cy="6899343"/>
            <a:chOff x="9395455" y="-1"/>
            <a:chExt cx="3190516" cy="6899343"/>
          </a:xfrm>
        </p:grpSpPr>
        <p:sp>
          <p:nvSpPr>
            <p:cNvPr id="25" name="Freeform: Shape 24">
              <a:extLst>
                <a:ext uri="{FF2B5EF4-FFF2-40B4-BE49-F238E27FC236}">
                  <a16:creationId xmlns:a16="http://schemas.microsoft.com/office/drawing/2014/main" id="{3BD23016-588B-4FBD-B45C-2FC4775D9B94}"/>
                </a:ext>
              </a:extLst>
            </p:cNvPr>
            <p:cNvSpPr/>
            <p:nvPr/>
          </p:nvSpPr>
          <p:spPr>
            <a:xfrm>
              <a:off x="9395455" y="26751"/>
              <a:ext cx="3190516" cy="6872591"/>
            </a:xfrm>
            <a:custGeom>
              <a:avLst/>
              <a:gdLst>
                <a:gd name="connsiteX0" fmla="*/ 0 w 2900469"/>
                <a:gd name="connsiteY0" fmla="*/ 0 h 6872591"/>
                <a:gd name="connsiteX1" fmla="*/ 2563239 w 2900469"/>
                <a:gd name="connsiteY1" fmla="*/ 0 h 6872591"/>
                <a:gd name="connsiteX2" fmla="*/ 2563239 w 2900469"/>
                <a:gd name="connsiteY2" fmla="*/ 832142 h 6872591"/>
                <a:gd name="connsiteX3" fmla="*/ 2900469 w 2900469"/>
                <a:gd name="connsiteY3" fmla="*/ 1228121 h 6872591"/>
                <a:gd name="connsiteX4" fmla="*/ 2563239 w 2900469"/>
                <a:gd name="connsiteY4" fmla="*/ 1624100 h 6872591"/>
                <a:gd name="connsiteX5" fmla="*/ 2563239 w 2900469"/>
                <a:gd name="connsiteY5" fmla="*/ 6872591 h 6872591"/>
                <a:gd name="connsiteX6" fmla="*/ 0 w 2900469"/>
                <a:gd name="connsiteY6" fmla="*/ 6872591 h 687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0469" h="6872591">
                  <a:moveTo>
                    <a:pt x="0" y="0"/>
                  </a:moveTo>
                  <a:lnTo>
                    <a:pt x="2563239" y="0"/>
                  </a:lnTo>
                  <a:lnTo>
                    <a:pt x="2563239" y="832142"/>
                  </a:lnTo>
                  <a:lnTo>
                    <a:pt x="2900469" y="1228121"/>
                  </a:lnTo>
                  <a:lnTo>
                    <a:pt x="2563239" y="1624100"/>
                  </a:lnTo>
                  <a:lnTo>
                    <a:pt x="2563239" y="6872591"/>
                  </a:lnTo>
                  <a:lnTo>
                    <a:pt x="0" y="6872591"/>
                  </a:lnTo>
                  <a:close/>
                </a:path>
              </a:pathLst>
            </a:custGeom>
            <a:solidFill>
              <a:schemeClr val="accent2">
                <a:lumMod val="5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7" name="TextBox 36">
              <a:extLst>
                <a:ext uri="{FF2B5EF4-FFF2-40B4-BE49-F238E27FC236}">
                  <a16:creationId xmlns:a16="http://schemas.microsoft.com/office/drawing/2014/main" id="{5BE226C2-15EB-4BE4-88EF-4442D01EDF6F}"/>
                </a:ext>
              </a:extLst>
            </p:cNvPr>
            <p:cNvSpPr txBox="1"/>
            <p:nvPr/>
          </p:nvSpPr>
          <p:spPr>
            <a:xfrm>
              <a:off x="10238586" y="-1"/>
              <a:ext cx="1541833" cy="2215991"/>
            </a:xfrm>
            <a:prstGeom prst="rect">
              <a:avLst/>
            </a:prstGeom>
            <a:noFill/>
          </p:spPr>
          <p:txBody>
            <a:bodyPr wrap="square" rtlCol="0">
              <a:spAutoFit/>
            </a:bodyPr>
            <a:lstStyle/>
            <a:p>
              <a:r>
                <a:rPr lang="en-US" sz="13800" dirty="0">
                  <a:latin typeface="Comic Sans MS" panose="030F0702030302020204" pitchFamily="66" charset="0"/>
                </a:rPr>
                <a:t>E</a:t>
              </a:r>
              <a:endParaRPr lang="en-IN" sz="13800" dirty="0">
                <a:latin typeface="Comic Sans MS" panose="030F0702030302020204" pitchFamily="66" charset="0"/>
              </a:endParaRPr>
            </a:p>
          </p:txBody>
        </p:sp>
        <p:sp>
          <p:nvSpPr>
            <p:cNvPr id="43" name="TextBox 42">
              <a:extLst>
                <a:ext uri="{FF2B5EF4-FFF2-40B4-BE49-F238E27FC236}">
                  <a16:creationId xmlns:a16="http://schemas.microsoft.com/office/drawing/2014/main" id="{FDCD5B53-F0FF-469B-BA01-3B52B969CB1E}"/>
                </a:ext>
              </a:extLst>
            </p:cNvPr>
            <p:cNvSpPr txBox="1"/>
            <p:nvPr/>
          </p:nvSpPr>
          <p:spPr>
            <a:xfrm>
              <a:off x="9834164" y="2255945"/>
              <a:ext cx="2245243" cy="3754874"/>
            </a:xfrm>
            <a:prstGeom prst="rect">
              <a:avLst/>
            </a:prstGeom>
            <a:noFill/>
          </p:spPr>
          <p:txBody>
            <a:bodyPr wrap="square" rtlCol="0">
              <a:spAutoFit/>
            </a:bodyPr>
            <a:lstStyle/>
            <a:p>
              <a:r>
                <a:rPr lang="en-US" sz="1700" b="1" dirty="0">
                  <a:latin typeface="Consolas" panose="020B0609020204030204" pitchFamily="49" charset="0"/>
                </a:rPr>
                <a:t>Scaling and Normalization:</a:t>
              </a:r>
            </a:p>
            <a:p>
              <a:r>
                <a:rPr lang="en-US" sz="1700" dirty="0">
                  <a:latin typeface="Consolas" panose="020B0609020204030204" pitchFamily="49" charset="0"/>
                </a:rPr>
                <a:t>Scaled 'age' and '</a:t>
              </a:r>
              <a:r>
                <a:rPr lang="en-US" sz="1700" dirty="0" err="1">
                  <a:latin typeface="Consolas" panose="020B0609020204030204" pitchFamily="49" charset="0"/>
                </a:rPr>
                <a:t>majority_vote</a:t>
              </a:r>
              <a:r>
                <a:rPr lang="en-US" sz="1700" dirty="0">
                  <a:latin typeface="Consolas" panose="020B0609020204030204" pitchFamily="49" charset="0"/>
                </a:rPr>
                <a:t>' attributes for homogeneity using Standard Scaler.</a:t>
              </a:r>
            </a:p>
            <a:p>
              <a:r>
                <a:rPr lang="en-US" sz="1700" dirty="0">
                  <a:latin typeface="Consolas" panose="020B0609020204030204" pitchFamily="49" charset="0"/>
                </a:rPr>
                <a:t>Ensured the dataset's effectiveness and robustness for subsequent analysis.</a:t>
              </a:r>
            </a:p>
            <a:p>
              <a:endParaRPr lang="en-IN" sz="1700" dirty="0">
                <a:latin typeface="Consolas" panose="020B0609020204030204" pitchFamily="49" charset="0"/>
              </a:endParaRPr>
            </a:p>
          </p:txBody>
        </p:sp>
      </p:grpSp>
      <p:grpSp>
        <p:nvGrpSpPr>
          <p:cNvPr id="53" name="Group 52">
            <a:extLst>
              <a:ext uri="{FF2B5EF4-FFF2-40B4-BE49-F238E27FC236}">
                <a16:creationId xmlns:a16="http://schemas.microsoft.com/office/drawing/2014/main" id="{3B0D40D5-4E6B-483E-AD2D-344CDCF3B35E}"/>
              </a:ext>
            </a:extLst>
          </p:cNvPr>
          <p:cNvGrpSpPr/>
          <p:nvPr/>
        </p:nvGrpSpPr>
        <p:grpSpPr>
          <a:xfrm>
            <a:off x="455676" y="17023"/>
            <a:ext cx="2806431" cy="6872591"/>
            <a:chOff x="7200089" y="0"/>
            <a:chExt cx="2806431" cy="6872591"/>
          </a:xfrm>
        </p:grpSpPr>
        <p:sp>
          <p:nvSpPr>
            <p:cNvPr id="24" name="Freeform: Shape 23">
              <a:extLst>
                <a:ext uri="{FF2B5EF4-FFF2-40B4-BE49-F238E27FC236}">
                  <a16:creationId xmlns:a16="http://schemas.microsoft.com/office/drawing/2014/main" id="{D73BC000-08EC-461B-A5E1-EF30577E78AF}"/>
                </a:ext>
              </a:extLst>
            </p:cNvPr>
            <p:cNvSpPr/>
            <p:nvPr/>
          </p:nvSpPr>
          <p:spPr>
            <a:xfrm>
              <a:off x="7200089" y="0"/>
              <a:ext cx="2806431" cy="6872591"/>
            </a:xfrm>
            <a:custGeom>
              <a:avLst/>
              <a:gdLst>
                <a:gd name="connsiteX0" fmla="*/ 2448129 w 2806431"/>
                <a:gd name="connsiteY0" fmla="*/ 802534 h 6872591"/>
                <a:gd name="connsiteX1" fmla="*/ 2806431 w 2806431"/>
                <a:gd name="connsiteY1" fmla="*/ 1223256 h 6872591"/>
                <a:gd name="connsiteX2" fmla="*/ 2448129 w 2806431"/>
                <a:gd name="connsiteY2" fmla="*/ 1643978 h 6872591"/>
                <a:gd name="connsiteX3" fmla="*/ 0 w 2806431"/>
                <a:gd name="connsiteY3" fmla="*/ 0 h 6872591"/>
                <a:gd name="connsiteX4" fmla="*/ 2448128 w 2806431"/>
                <a:gd name="connsiteY4" fmla="*/ 0 h 6872591"/>
                <a:gd name="connsiteX5" fmla="*/ 2448128 w 2806431"/>
                <a:gd name="connsiteY5" fmla="*/ 6872591 h 6872591"/>
                <a:gd name="connsiteX6" fmla="*/ 0 w 2806431"/>
                <a:gd name="connsiteY6" fmla="*/ 6872591 h 687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6431" h="6872591">
                  <a:moveTo>
                    <a:pt x="2448129" y="802534"/>
                  </a:moveTo>
                  <a:lnTo>
                    <a:pt x="2806431" y="1223256"/>
                  </a:lnTo>
                  <a:lnTo>
                    <a:pt x="2448129" y="1643978"/>
                  </a:lnTo>
                  <a:close/>
                  <a:moveTo>
                    <a:pt x="0" y="0"/>
                  </a:moveTo>
                  <a:lnTo>
                    <a:pt x="2448128" y="0"/>
                  </a:lnTo>
                  <a:lnTo>
                    <a:pt x="2448128" y="6872591"/>
                  </a:lnTo>
                  <a:lnTo>
                    <a:pt x="0" y="6872591"/>
                  </a:lnTo>
                  <a:close/>
                </a:path>
              </a:pathLst>
            </a:custGeom>
            <a:solidFill>
              <a:schemeClr val="accent2">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6" name="TextBox 35">
              <a:extLst>
                <a:ext uri="{FF2B5EF4-FFF2-40B4-BE49-F238E27FC236}">
                  <a16:creationId xmlns:a16="http://schemas.microsoft.com/office/drawing/2014/main" id="{00B2F9EE-5DA3-48A2-A164-FD4FA6E2632E}"/>
                </a:ext>
              </a:extLst>
            </p:cNvPr>
            <p:cNvSpPr txBox="1"/>
            <p:nvPr/>
          </p:nvSpPr>
          <p:spPr>
            <a:xfrm>
              <a:off x="7773211" y="0"/>
              <a:ext cx="1541833" cy="2215991"/>
            </a:xfrm>
            <a:prstGeom prst="rect">
              <a:avLst/>
            </a:prstGeom>
            <a:noFill/>
          </p:spPr>
          <p:txBody>
            <a:bodyPr wrap="square" rtlCol="0">
              <a:spAutoFit/>
            </a:bodyPr>
            <a:lstStyle/>
            <a:p>
              <a:r>
                <a:rPr lang="en-US" sz="13800" dirty="0">
                  <a:latin typeface="Comic Sans MS" panose="030F0702030302020204" pitchFamily="66" charset="0"/>
                </a:rPr>
                <a:t>D</a:t>
              </a:r>
              <a:endParaRPr lang="en-IN" sz="13800" dirty="0">
                <a:latin typeface="Comic Sans MS" panose="030F0702030302020204" pitchFamily="66" charset="0"/>
              </a:endParaRPr>
            </a:p>
          </p:txBody>
        </p:sp>
        <p:sp>
          <p:nvSpPr>
            <p:cNvPr id="42" name="TextBox 41">
              <a:extLst>
                <a:ext uri="{FF2B5EF4-FFF2-40B4-BE49-F238E27FC236}">
                  <a16:creationId xmlns:a16="http://schemas.microsoft.com/office/drawing/2014/main" id="{B0A9E1EC-30FD-4831-BCC8-8A4FD7198093}"/>
                </a:ext>
              </a:extLst>
            </p:cNvPr>
            <p:cNvSpPr txBox="1"/>
            <p:nvPr/>
          </p:nvSpPr>
          <p:spPr>
            <a:xfrm>
              <a:off x="7369790" y="2255945"/>
              <a:ext cx="2245243" cy="4016484"/>
            </a:xfrm>
            <a:prstGeom prst="rect">
              <a:avLst/>
            </a:prstGeom>
            <a:noFill/>
          </p:spPr>
          <p:txBody>
            <a:bodyPr wrap="square" rtlCol="0">
              <a:spAutoFit/>
            </a:bodyPr>
            <a:lstStyle/>
            <a:p>
              <a:r>
                <a:rPr lang="en-US" sz="1700" b="1" dirty="0">
                  <a:latin typeface="Consolas" panose="020B0609020204030204" pitchFamily="49" charset="0"/>
                </a:rPr>
                <a:t>Categorical Encoding:</a:t>
              </a:r>
            </a:p>
            <a:p>
              <a:r>
                <a:rPr lang="en-US" sz="1700" dirty="0">
                  <a:latin typeface="Consolas" panose="020B0609020204030204" pitchFamily="49" charset="0"/>
                </a:rPr>
                <a:t>Encoded '</a:t>
              </a:r>
              <a:r>
                <a:rPr lang="en-US" sz="1700" dirty="0" err="1">
                  <a:latin typeface="Consolas" panose="020B0609020204030204" pitchFamily="49" charset="0"/>
                </a:rPr>
                <a:t>decision_type</a:t>
              </a:r>
              <a:r>
                <a:rPr lang="en-US" sz="1700" dirty="0">
                  <a:latin typeface="Consolas" panose="020B0609020204030204" pitchFamily="49" charset="0"/>
                </a:rPr>
                <a:t>' using Label Encoder for machine learning compatibility.</a:t>
              </a:r>
            </a:p>
            <a:p>
              <a:r>
                <a:rPr lang="en-US" sz="1700" dirty="0">
                  <a:latin typeface="Consolas" panose="020B0609020204030204" pitchFamily="49" charset="0"/>
                </a:rPr>
                <a:t>Selected a subset of relevant entries for manageable computational complexity.</a:t>
              </a:r>
            </a:p>
            <a:p>
              <a:endParaRPr lang="en-IN" sz="1700" dirty="0">
                <a:latin typeface="Consolas" panose="020B0609020204030204" pitchFamily="49" charset="0"/>
              </a:endParaRPr>
            </a:p>
          </p:txBody>
        </p:sp>
      </p:grpSp>
      <p:grpSp>
        <p:nvGrpSpPr>
          <p:cNvPr id="52" name="Group 51">
            <a:extLst>
              <a:ext uri="{FF2B5EF4-FFF2-40B4-BE49-F238E27FC236}">
                <a16:creationId xmlns:a16="http://schemas.microsoft.com/office/drawing/2014/main" id="{54F253D1-490C-40AA-9142-A9BDFACA2005}"/>
              </a:ext>
            </a:extLst>
          </p:cNvPr>
          <p:cNvGrpSpPr/>
          <p:nvPr/>
        </p:nvGrpSpPr>
        <p:grpSpPr>
          <a:xfrm>
            <a:off x="404463" y="8510"/>
            <a:ext cx="2723749" cy="6882319"/>
            <a:chOff x="4842304" y="-9729"/>
            <a:chExt cx="2723749" cy="6882319"/>
          </a:xfrm>
        </p:grpSpPr>
        <p:sp>
          <p:nvSpPr>
            <p:cNvPr id="23" name="Freeform: Shape 22">
              <a:extLst>
                <a:ext uri="{FF2B5EF4-FFF2-40B4-BE49-F238E27FC236}">
                  <a16:creationId xmlns:a16="http://schemas.microsoft.com/office/drawing/2014/main" id="{1417FE8D-4083-45B1-B71C-4D09CEC426FC}"/>
                </a:ext>
              </a:extLst>
            </p:cNvPr>
            <p:cNvSpPr/>
            <p:nvPr/>
          </p:nvSpPr>
          <p:spPr>
            <a:xfrm>
              <a:off x="4842304" y="-9729"/>
              <a:ext cx="2723749" cy="6882319"/>
            </a:xfrm>
            <a:custGeom>
              <a:avLst/>
              <a:gdLst>
                <a:gd name="connsiteX0" fmla="*/ 0 w 2723749"/>
                <a:gd name="connsiteY0" fmla="*/ 0 h 6858000"/>
                <a:gd name="connsiteX1" fmla="*/ 2373546 w 2723749"/>
                <a:gd name="connsiteY1" fmla="*/ 0 h 6858000"/>
                <a:gd name="connsiteX2" fmla="*/ 2373546 w 2723749"/>
                <a:gd name="connsiteY2" fmla="*/ 812047 h 6858000"/>
                <a:gd name="connsiteX3" fmla="*/ 2723749 w 2723749"/>
                <a:gd name="connsiteY3" fmla="*/ 1223258 h 6858000"/>
                <a:gd name="connsiteX4" fmla="*/ 2373546 w 2723749"/>
                <a:gd name="connsiteY4" fmla="*/ 1634468 h 6858000"/>
                <a:gd name="connsiteX5" fmla="*/ 2373546 w 2723749"/>
                <a:gd name="connsiteY5" fmla="*/ 6858000 h 6858000"/>
                <a:gd name="connsiteX6" fmla="*/ 0 w 272374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3749" h="6858000">
                  <a:moveTo>
                    <a:pt x="0" y="0"/>
                  </a:moveTo>
                  <a:lnTo>
                    <a:pt x="2373546" y="0"/>
                  </a:lnTo>
                  <a:lnTo>
                    <a:pt x="2373546" y="812047"/>
                  </a:lnTo>
                  <a:lnTo>
                    <a:pt x="2723749" y="1223258"/>
                  </a:lnTo>
                  <a:lnTo>
                    <a:pt x="2373546" y="1634468"/>
                  </a:lnTo>
                  <a:lnTo>
                    <a:pt x="2373546" y="6858000"/>
                  </a:lnTo>
                  <a:lnTo>
                    <a:pt x="0" y="6858000"/>
                  </a:lnTo>
                  <a:close/>
                </a:path>
              </a:pathLst>
            </a:custGeom>
            <a:solidFill>
              <a:schemeClr val="accent2">
                <a:lumMod val="60000"/>
                <a:lumOff val="4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5" name="TextBox 34">
              <a:extLst>
                <a:ext uri="{FF2B5EF4-FFF2-40B4-BE49-F238E27FC236}">
                  <a16:creationId xmlns:a16="http://schemas.microsoft.com/office/drawing/2014/main" id="{C417B611-BCC7-4C08-8C71-11055463153A}"/>
                </a:ext>
              </a:extLst>
            </p:cNvPr>
            <p:cNvSpPr txBox="1"/>
            <p:nvPr/>
          </p:nvSpPr>
          <p:spPr>
            <a:xfrm>
              <a:off x="5325083" y="-9728"/>
              <a:ext cx="1541833" cy="2215991"/>
            </a:xfrm>
            <a:prstGeom prst="rect">
              <a:avLst/>
            </a:prstGeom>
            <a:noFill/>
          </p:spPr>
          <p:txBody>
            <a:bodyPr wrap="square" rtlCol="0">
              <a:spAutoFit/>
            </a:bodyPr>
            <a:lstStyle/>
            <a:p>
              <a:r>
                <a:rPr lang="en-US" sz="13800" dirty="0">
                  <a:latin typeface="Comic Sans MS" panose="030F0702030302020204" pitchFamily="66" charset="0"/>
                </a:rPr>
                <a:t>C</a:t>
              </a:r>
              <a:endParaRPr lang="en-IN" sz="13800" dirty="0">
                <a:latin typeface="Comic Sans MS" panose="030F0702030302020204" pitchFamily="66" charset="0"/>
              </a:endParaRPr>
            </a:p>
          </p:txBody>
        </p:sp>
        <p:sp>
          <p:nvSpPr>
            <p:cNvPr id="41" name="TextBox 40">
              <a:extLst>
                <a:ext uri="{FF2B5EF4-FFF2-40B4-BE49-F238E27FC236}">
                  <a16:creationId xmlns:a16="http://schemas.microsoft.com/office/drawing/2014/main" id="{FCF1234F-4DBA-429C-AF72-3C5743202FDF}"/>
                </a:ext>
              </a:extLst>
            </p:cNvPr>
            <p:cNvSpPr txBox="1"/>
            <p:nvPr/>
          </p:nvSpPr>
          <p:spPr>
            <a:xfrm>
              <a:off x="4930731" y="2255945"/>
              <a:ext cx="2245243" cy="3493264"/>
            </a:xfrm>
            <a:prstGeom prst="rect">
              <a:avLst/>
            </a:prstGeom>
            <a:noFill/>
          </p:spPr>
          <p:txBody>
            <a:bodyPr wrap="square" rtlCol="0">
              <a:spAutoFit/>
            </a:bodyPr>
            <a:lstStyle/>
            <a:p>
              <a:r>
                <a:rPr lang="en-US" sz="1700" b="1" dirty="0">
                  <a:latin typeface="Consolas" panose="020B0609020204030204" pitchFamily="49" charset="0"/>
                </a:rPr>
                <a:t>Data Cleansing:</a:t>
              </a:r>
            </a:p>
            <a:p>
              <a:r>
                <a:rPr lang="en-US" sz="1700" dirty="0">
                  <a:latin typeface="Consolas" panose="020B0609020204030204" pitchFamily="49" charset="0"/>
                </a:rPr>
                <a:t>Identified and addressed outliers and inconsistent values in '</a:t>
              </a:r>
              <a:r>
                <a:rPr lang="en-US" sz="1700" dirty="0" err="1">
                  <a:latin typeface="Consolas" panose="020B0609020204030204" pitchFamily="49" charset="0"/>
                </a:rPr>
                <a:t>majority_vote</a:t>
              </a:r>
              <a:r>
                <a:rPr lang="en-US" sz="1700" dirty="0">
                  <a:latin typeface="Consolas" panose="020B0609020204030204" pitchFamily="49" charset="0"/>
                </a:rPr>
                <a:t>.'</a:t>
              </a:r>
            </a:p>
            <a:p>
              <a:r>
                <a:rPr lang="en-US" sz="1700" dirty="0">
                  <a:latin typeface="Consolas" panose="020B0609020204030204" pitchFamily="49" charset="0"/>
                </a:rPr>
                <a:t>Removed instances with missing or erroneous data for dataset reliability.</a:t>
              </a:r>
            </a:p>
            <a:p>
              <a:endParaRPr lang="en-IN" sz="1700" dirty="0">
                <a:latin typeface="Consolas" panose="020B0609020204030204" pitchFamily="49" charset="0"/>
              </a:endParaRPr>
            </a:p>
          </p:txBody>
        </p:sp>
      </p:grpSp>
      <p:sp>
        <p:nvSpPr>
          <p:cNvPr id="38" name="TextBox 37">
            <a:extLst>
              <a:ext uri="{FF2B5EF4-FFF2-40B4-BE49-F238E27FC236}">
                <a16:creationId xmlns:a16="http://schemas.microsoft.com/office/drawing/2014/main" id="{33764E06-4642-4D77-8F7D-51666C9AEA38}"/>
              </a:ext>
            </a:extLst>
          </p:cNvPr>
          <p:cNvSpPr txBox="1"/>
          <p:nvPr/>
        </p:nvSpPr>
        <p:spPr>
          <a:xfrm>
            <a:off x="269941" y="2786743"/>
            <a:ext cx="2087895" cy="3145971"/>
          </a:xfrm>
          <a:prstGeom prst="rect">
            <a:avLst/>
          </a:prstGeom>
          <a:noFill/>
        </p:spPr>
        <p:txBody>
          <a:bodyPr wrap="square" rtlCol="0">
            <a:spAutoFit/>
          </a:bodyPr>
          <a:lstStyle/>
          <a:p>
            <a:endParaRPr lang="en-IN" dirty="0"/>
          </a:p>
        </p:txBody>
      </p:sp>
      <p:grpSp>
        <p:nvGrpSpPr>
          <p:cNvPr id="51" name="Group 50">
            <a:extLst>
              <a:ext uri="{FF2B5EF4-FFF2-40B4-BE49-F238E27FC236}">
                <a16:creationId xmlns:a16="http://schemas.microsoft.com/office/drawing/2014/main" id="{26FCB2FB-3A5E-46CC-A6EA-350E1932C8D0}"/>
              </a:ext>
            </a:extLst>
          </p:cNvPr>
          <p:cNvGrpSpPr/>
          <p:nvPr/>
        </p:nvGrpSpPr>
        <p:grpSpPr>
          <a:xfrm>
            <a:off x="150856" y="-8512"/>
            <a:ext cx="2803191" cy="6889613"/>
            <a:chOff x="2465044" y="-31613"/>
            <a:chExt cx="2803191" cy="6889613"/>
          </a:xfrm>
        </p:grpSpPr>
        <p:sp>
          <p:nvSpPr>
            <p:cNvPr id="22" name="Freeform: Shape 21">
              <a:extLst>
                <a:ext uri="{FF2B5EF4-FFF2-40B4-BE49-F238E27FC236}">
                  <a16:creationId xmlns:a16="http://schemas.microsoft.com/office/drawing/2014/main" id="{4E670347-D0D1-4CC7-A385-7C029CE4AB1E}"/>
                </a:ext>
              </a:extLst>
            </p:cNvPr>
            <p:cNvSpPr/>
            <p:nvPr/>
          </p:nvSpPr>
          <p:spPr>
            <a:xfrm>
              <a:off x="2465044" y="-14591"/>
              <a:ext cx="2803191" cy="6872591"/>
            </a:xfrm>
            <a:custGeom>
              <a:avLst/>
              <a:gdLst>
                <a:gd name="connsiteX0" fmla="*/ 0 w 2803191"/>
                <a:gd name="connsiteY0" fmla="*/ 0 h 6872591"/>
                <a:gd name="connsiteX1" fmla="*/ 2482174 w 2803191"/>
                <a:gd name="connsiteY1" fmla="*/ 0 h 6872591"/>
                <a:gd name="connsiteX2" fmla="*/ 2482174 w 2803191"/>
                <a:gd name="connsiteY2" fmla="*/ 851181 h 6872591"/>
                <a:gd name="connsiteX3" fmla="*/ 2803191 w 2803191"/>
                <a:gd name="connsiteY3" fmla="*/ 1228121 h 6872591"/>
                <a:gd name="connsiteX4" fmla="*/ 2482174 w 2803191"/>
                <a:gd name="connsiteY4" fmla="*/ 1605061 h 6872591"/>
                <a:gd name="connsiteX5" fmla="*/ 2482174 w 2803191"/>
                <a:gd name="connsiteY5" fmla="*/ 6872591 h 6872591"/>
                <a:gd name="connsiteX6" fmla="*/ 0 w 2803191"/>
                <a:gd name="connsiteY6" fmla="*/ 6872591 h 687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3191" h="6872591">
                  <a:moveTo>
                    <a:pt x="0" y="0"/>
                  </a:moveTo>
                  <a:lnTo>
                    <a:pt x="2482174" y="0"/>
                  </a:lnTo>
                  <a:lnTo>
                    <a:pt x="2482174" y="851181"/>
                  </a:lnTo>
                  <a:lnTo>
                    <a:pt x="2803191" y="1228121"/>
                  </a:lnTo>
                  <a:lnTo>
                    <a:pt x="2482174" y="1605061"/>
                  </a:lnTo>
                  <a:lnTo>
                    <a:pt x="2482174" y="6872591"/>
                  </a:lnTo>
                  <a:lnTo>
                    <a:pt x="0" y="6872591"/>
                  </a:lnTo>
                  <a:close/>
                </a:path>
              </a:pathLst>
            </a:custGeom>
            <a:solidFill>
              <a:schemeClr val="accent2">
                <a:lumMod val="40000"/>
                <a:lumOff val="6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IN" sz="9600" dirty="0">
                <a:latin typeface="Comic Sans MS" panose="030F0702030302020204" pitchFamily="66" charset="0"/>
              </a:endParaRPr>
            </a:p>
          </p:txBody>
        </p:sp>
        <p:sp>
          <p:nvSpPr>
            <p:cNvPr id="34" name="TextBox 33">
              <a:extLst>
                <a:ext uri="{FF2B5EF4-FFF2-40B4-BE49-F238E27FC236}">
                  <a16:creationId xmlns:a16="http://schemas.microsoft.com/office/drawing/2014/main" id="{867CDF5A-637F-4AD4-B277-FB824D582280}"/>
                </a:ext>
              </a:extLst>
            </p:cNvPr>
            <p:cNvSpPr txBox="1"/>
            <p:nvPr/>
          </p:nvSpPr>
          <p:spPr>
            <a:xfrm>
              <a:off x="2806292" y="-31613"/>
              <a:ext cx="1351736" cy="2215991"/>
            </a:xfrm>
            <a:prstGeom prst="rect">
              <a:avLst/>
            </a:prstGeom>
            <a:noFill/>
          </p:spPr>
          <p:txBody>
            <a:bodyPr wrap="square" rtlCol="0">
              <a:spAutoFit/>
            </a:bodyPr>
            <a:lstStyle/>
            <a:p>
              <a:r>
                <a:rPr lang="en-US" sz="13800" dirty="0">
                  <a:latin typeface="Comic Sans MS" panose="030F0702030302020204" pitchFamily="66" charset="0"/>
                </a:rPr>
                <a:t>B</a:t>
              </a:r>
              <a:endParaRPr lang="en-IN" sz="13800" dirty="0">
                <a:latin typeface="Comic Sans MS" panose="030F0702030302020204" pitchFamily="66" charset="0"/>
              </a:endParaRPr>
            </a:p>
          </p:txBody>
        </p:sp>
        <p:sp>
          <p:nvSpPr>
            <p:cNvPr id="40" name="TextBox 39">
              <a:extLst>
                <a:ext uri="{FF2B5EF4-FFF2-40B4-BE49-F238E27FC236}">
                  <a16:creationId xmlns:a16="http://schemas.microsoft.com/office/drawing/2014/main" id="{C29D089E-7092-4138-9F20-F03D3456ABC9}"/>
                </a:ext>
              </a:extLst>
            </p:cNvPr>
            <p:cNvSpPr txBox="1"/>
            <p:nvPr/>
          </p:nvSpPr>
          <p:spPr>
            <a:xfrm>
              <a:off x="2520409" y="2234060"/>
              <a:ext cx="2245243" cy="4016484"/>
            </a:xfrm>
            <a:prstGeom prst="rect">
              <a:avLst/>
            </a:prstGeom>
            <a:noFill/>
          </p:spPr>
          <p:txBody>
            <a:bodyPr wrap="square" rtlCol="0">
              <a:spAutoFit/>
            </a:bodyPr>
            <a:lstStyle/>
            <a:p>
              <a:r>
                <a:rPr lang="en-US" sz="1700" b="1" dirty="0">
                  <a:latin typeface="Consolas" panose="020B0609020204030204" pitchFamily="49" charset="0"/>
                </a:rPr>
                <a:t>Data Preparation:</a:t>
              </a:r>
            </a:p>
            <a:p>
              <a:r>
                <a:rPr lang="en-US" sz="1700" dirty="0">
                  <a:latin typeface="Consolas" panose="020B0609020204030204" pitchFamily="49" charset="0"/>
                </a:rPr>
                <a:t>Transformed 'judgement' attribute into uppercase strings, retaining instances with 'TRUE' values.</a:t>
              </a:r>
            </a:p>
            <a:p>
              <a:r>
                <a:rPr lang="en-US" sz="1700" dirty="0">
                  <a:latin typeface="Consolas" panose="020B0609020204030204" pitchFamily="49" charset="0"/>
                </a:rPr>
                <a:t>Added an 'age' column based on timestamps for contextual information.</a:t>
              </a:r>
            </a:p>
            <a:p>
              <a:endParaRPr lang="en-IN" sz="1700" dirty="0">
                <a:latin typeface="Consolas" panose="020B0609020204030204" pitchFamily="49" charset="0"/>
              </a:endParaRPr>
            </a:p>
          </p:txBody>
        </p:sp>
      </p:grpSp>
      <p:grpSp>
        <p:nvGrpSpPr>
          <p:cNvPr id="50" name="Group 49">
            <a:extLst>
              <a:ext uri="{FF2B5EF4-FFF2-40B4-BE49-F238E27FC236}">
                <a16:creationId xmlns:a16="http://schemas.microsoft.com/office/drawing/2014/main" id="{8CFC95AD-8C0C-4FA4-B938-2B577B27EA54}"/>
              </a:ext>
            </a:extLst>
          </p:cNvPr>
          <p:cNvGrpSpPr/>
          <p:nvPr/>
        </p:nvGrpSpPr>
        <p:grpSpPr>
          <a:xfrm>
            <a:off x="0" y="4863"/>
            <a:ext cx="2820211" cy="6867727"/>
            <a:chOff x="0" y="-9727"/>
            <a:chExt cx="2820211" cy="6867727"/>
          </a:xfrm>
        </p:grpSpPr>
        <p:sp>
          <p:nvSpPr>
            <p:cNvPr id="21" name="Freeform: Shape 20">
              <a:extLst>
                <a:ext uri="{FF2B5EF4-FFF2-40B4-BE49-F238E27FC236}">
                  <a16:creationId xmlns:a16="http://schemas.microsoft.com/office/drawing/2014/main" id="{4B0F2115-478C-47D6-9C58-E3B592B6637F}"/>
                </a:ext>
              </a:extLst>
            </p:cNvPr>
            <p:cNvSpPr/>
            <p:nvPr/>
          </p:nvSpPr>
          <p:spPr>
            <a:xfrm>
              <a:off x="0" y="0"/>
              <a:ext cx="2820211" cy="6858000"/>
            </a:xfrm>
            <a:custGeom>
              <a:avLst/>
              <a:gdLst>
                <a:gd name="connsiteX0" fmla="*/ 0 w 2820211"/>
                <a:gd name="connsiteY0" fmla="*/ 0 h 6858000"/>
                <a:gd name="connsiteX1" fmla="*/ 2474068 w 2820211"/>
                <a:gd name="connsiteY1" fmla="*/ 0 h 6858000"/>
                <a:gd name="connsiteX2" fmla="*/ 2474068 w 2820211"/>
                <a:gd name="connsiteY2" fmla="*/ 816814 h 6858000"/>
                <a:gd name="connsiteX3" fmla="*/ 2820211 w 2820211"/>
                <a:gd name="connsiteY3" fmla="*/ 1223257 h 6858000"/>
                <a:gd name="connsiteX4" fmla="*/ 2474068 w 2820211"/>
                <a:gd name="connsiteY4" fmla="*/ 1629700 h 6858000"/>
                <a:gd name="connsiteX5" fmla="*/ 2474068 w 2820211"/>
                <a:gd name="connsiteY5" fmla="*/ 6858000 h 6858000"/>
                <a:gd name="connsiteX6" fmla="*/ 0 w 282021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0211" h="6858000">
                  <a:moveTo>
                    <a:pt x="0" y="0"/>
                  </a:moveTo>
                  <a:lnTo>
                    <a:pt x="2474068" y="0"/>
                  </a:lnTo>
                  <a:lnTo>
                    <a:pt x="2474068" y="816814"/>
                  </a:lnTo>
                  <a:lnTo>
                    <a:pt x="2820211" y="1223257"/>
                  </a:lnTo>
                  <a:lnTo>
                    <a:pt x="2474068" y="1629700"/>
                  </a:lnTo>
                  <a:lnTo>
                    <a:pt x="2474068" y="6858000"/>
                  </a:lnTo>
                  <a:lnTo>
                    <a:pt x="0" y="6858000"/>
                  </a:lnTo>
                  <a:close/>
                </a:path>
              </a:pathLst>
            </a:custGeom>
            <a:solidFill>
              <a:schemeClr val="accent2">
                <a:lumMod val="20000"/>
                <a:lumOff val="8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solidFill>
                  <a:schemeClr val="accent4">
                    <a:lumMod val="20000"/>
                    <a:lumOff val="80000"/>
                  </a:schemeClr>
                </a:solidFill>
              </a:endParaRPr>
            </a:p>
          </p:txBody>
        </p:sp>
        <p:sp>
          <p:nvSpPr>
            <p:cNvPr id="26" name="TextBox 25">
              <a:extLst>
                <a:ext uri="{FF2B5EF4-FFF2-40B4-BE49-F238E27FC236}">
                  <a16:creationId xmlns:a16="http://schemas.microsoft.com/office/drawing/2014/main" id="{A0891D9E-19B9-4A1A-9DD8-0010BD8EF49E}"/>
                </a:ext>
              </a:extLst>
            </p:cNvPr>
            <p:cNvSpPr txBox="1"/>
            <p:nvPr/>
          </p:nvSpPr>
          <p:spPr>
            <a:xfrm>
              <a:off x="269941" y="-9727"/>
              <a:ext cx="1541833" cy="2215991"/>
            </a:xfrm>
            <a:prstGeom prst="rect">
              <a:avLst/>
            </a:prstGeom>
            <a:noFill/>
          </p:spPr>
          <p:txBody>
            <a:bodyPr wrap="square" rtlCol="0">
              <a:spAutoFit/>
            </a:bodyPr>
            <a:lstStyle/>
            <a:p>
              <a:r>
                <a:rPr lang="en-US" sz="13800" dirty="0">
                  <a:latin typeface="Comic Sans MS" panose="030F0702030302020204" pitchFamily="66" charset="0"/>
                </a:rPr>
                <a:t>A</a:t>
              </a:r>
              <a:endParaRPr lang="en-IN" sz="13800" dirty="0">
                <a:latin typeface="Comic Sans MS" panose="030F0702030302020204" pitchFamily="66" charset="0"/>
              </a:endParaRPr>
            </a:p>
          </p:txBody>
        </p:sp>
        <p:sp>
          <p:nvSpPr>
            <p:cNvPr id="39" name="TextBox 38">
              <a:extLst>
                <a:ext uri="{FF2B5EF4-FFF2-40B4-BE49-F238E27FC236}">
                  <a16:creationId xmlns:a16="http://schemas.microsoft.com/office/drawing/2014/main" id="{38FE8DF8-DD08-4250-8665-1BD9D367A9C9}"/>
                </a:ext>
              </a:extLst>
            </p:cNvPr>
            <p:cNvSpPr txBox="1"/>
            <p:nvPr/>
          </p:nvSpPr>
          <p:spPr>
            <a:xfrm>
              <a:off x="112593" y="2255945"/>
              <a:ext cx="2245243" cy="4278094"/>
            </a:xfrm>
            <a:prstGeom prst="rect">
              <a:avLst/>
            </a:prstGeom>
            <a:noFill/>
          </p:spPr>
          <p:txBody>
            <a:bodyPr wrap="square" rtlCol="0">
              <a:spAutoFit/>
            </a:bodyPr>
            <a:lstStyle/>
            <a:p>
              <a:r>
                <a:rPr lang="en-US" sz="1700" b="1" dirty="0">
                  <a:latin typeface="Consolas" panose="020B0609020204030204" pitchFamily="49" charset="0"/>
                </a:rPr>
                <a:t>Case Documents Acquisition:</a:t>
              </a:r>
            </a:p>
            <a:p>
              <a:pPr marL="285750" indent="-285750">
                <a:buFont typeface="Arial" panose="020B0604020202020204" pitchFamily="34" charset="0"/>
                <a:buChar char="•"/>
              </a:pPr>
              <a:r>
                <a:rPr lang="en-US" sz="1700" dirty="0">
                  <a:latin typeface="Consolas" panose="020B0609020204030204" pitchFamily="49" charset="0"/>
                </a:rPr>
                <a:t>Obtained Indian Supreme Court judgments from kaggle.com, resulting in a corpus of over 3000 cases.</a:t>
              </a:r>
            </a:p>
            <a:p>
              <a:pPr marL="285750" indent="-285750">
                <a:buFont typeface="Arial" panose="020B0604020202020204" pitchFamily="34" charset="0"/>
                <a:buChar char="•"/>
              </a:pPr>
              <a:r>
                <a:rPr lang="en-US" sz="1700" dirty="0">
                  <a:latin typeface="Consolas" panose="020B0609020204030204" pitchFamily="49" charset="0"/>
                </a:rPr>
                <a:t>Refined to 1001 cleaned and finalized cases for analysis.</a:t>
              </a:r>
            </a:p>
            <a:p>
              <a:endParaRPr lang="en-IN" sz="1700" dirty="0">
                <a:latin typeface="Consolas" panose="020B0609020204030204" pitchFamily="49" charset="0"/>
              </a:endParaRPr>
            </a:p>
          </p:txBody>
        </p:sp>
      </p:grpSp>
      <p:sp>
        <p:nvSpPr>
          <p:cNvPr id="27" name="TextBox 26">
            <a:extLst>
              <a:ext uri="{FF2B5EF4-FFF2-40B4-BE49-F238E27FC236}">
                <a16:creationId xmlns:a16="http://schemas.microsoft.com/office/drawing/2014/main" id="{70FBCCD5-BEAD-46E2-962C-4B091DA99132}"/>
              </a:ext>
            </a:extLst>
          </p:cNvPr>
          <p:cNvSpPr txBox="1"/>
          <p:nvPr/>
        </p:nvSpPr>
        <p:spPr>
          <a:xfrm>
            <a:off x="-3034196" y="17023"/>
            <a:ext cx="3025317" cy="523220"/>
          </a:xfrm>
          <a:prstGeom prst="rect">
            <a:avLst/>
          </a:prstGeom>
          <a:noFill/>
        </p:spPr>
        <p:txBody>
          <a:bodyPr wrap="square" rtlCol="0">
            <a:spAutoFit/>
          </a:bodyPr>
          <a:lstStyle/>
          <a:p>
            <a:r>
              <a:rPr lang="en-US" sz="2800" dirty="0">
                <a:latin typeface="Sitka Subheading Semibold" pitchFamily="2" charset="0"/>
              </a:rPr>
              <a:t>Data Preparation</a:t>
            </a:r>
            <a:endParaRPr lang="en-IN" sz="2000" dirty="0">
              <a:latin typeface="Sitka Subheading Semibold" pitchFamily="2" charset="0"/>
            </a:endParaRPr>
          </a:p>
        </p:txBody>
      </p:sp>
    </p:spTree>
    <p:extLst>
      <p:ext uri="{BB962C8B-B14F-4D97-AF65-F5344CB8AC3E}">
        <p14:creationId xmlns:p14="http://schemas.microsoft.com/office/powerpoint/2010/main" val="3692650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33764E06-4642-4D77-8F7D-51666C9AEA38}"/>
              </a:ext>
            </a:extLst>
          </p:cNvPr>
          <p:cNvSpPr txBox="1"/>
          <p:nvPr/>
        </p:nvSpPr>
        <p:spPr>
          <a:xfrm>
            <a:off x="269941" y="2786743"/>
            <a:ext cx="2087895" cy="3145971"/>
          </a:xfrm>
          <a:prstGeom prst="rect">
            <a:avLst/>
          </a:prstGeom>
          <a:noFill/>
        </p:spPr>
        <p:txBody>
          <a:bodyPr wrap="square" rtlCol="0">
            <a:spAutoFit/>
          </a:bodyPr>
          <a:lstStyle/>
          <a:p>
            <a:endParaRPr lang="en-IN" dirty="0"/>
          </a:p>
        </p:txBody>
      </p:sp>
      <p:grpSp>
        <p:nvGrpSpPr>
          <p:cNvPr id="54" name="Group 53">
            <a:extLst>
              <a:ext uri="{FF2B5EF4-FFF2-40B4-BE49-F238E27FC236}">
                <a16:creationId xmlns:a16="http://schemas.microsoft.com/office/drawing/2014/main" id="{BA81568F-1B3D-4BCB-9484-6FEB0C135CF1}"/>
              </a:ext>
            </a:extLst>
          </p:cNvPr>
          <p:cNvGrpSpPr/>
          <p:nvPr/>
        </p:nvGrpSpPr>
        <p:grpSpPr>
          <a:xfrm>
            <a:off x="9394083" y="-9729"/>
            <a:ext cx="3190516" cy="6872591"/>
            <a:chOff x="9448880" y="0"/>
            <a:chExt cx="3190516" cy="6872591"/>
          </a:xfrm>
        </p:grpSpPr>
        <p:sp>
          <p:nvSpPr>
            <p:cNvPr id="25" name="Freeform: Shape 24">
              <a:extLst>
                <a:ext uri="{FF2B5EF4-FFF2-40B4-BE49-F238E27FC236}">
                  <a16:creationId xmlns:a16="http://schemas.microsoft.com/office/drawing/2014/main" id="{3BD23016-588B-4FBD-B45C-2FC4775D9B94}"/>
                </a:ext>
              </a:extLst>
            </p:cNvPr>
            <p:cNvSpPr/>
            <p:nvPr/>
          </p:nvSpPr>
          <p:spPr>
            <a:xfrm>
              <a:off x="9448880" y="0"/>
              <a:ext cx="3190516" cy="6872591"/>
            </a:xfrm>
            <a:custGeom>
              <a:avLst/>
              <a:gdLst>
                <a:gd name="connsiteX0" fmla="*/ 0 w 2900469"/>
                <a:gd name="connsiteY0" fmla="*/ 0 h 6872591"/>
                <a:gd name="connsiteX1" fmla="*/ 2563239 w 2900469"/>
                <a:gd name="connsiteY1" fmla="*/ 0 h 6872591"/>
                <a:gd name="connsiteX2" fmla="*/ 2563239 w 2900469"/>
                <a:gd name="connsiteY2" fmla="*/ 832142 h 6872591"/>
                <a:gd name="connsiteX3" fmla="*/ 2900469 w 2900469"/>
                <a:gd name="connsiteY3" fmla="*/ 1228121 h 6872591"/>
                <a:gd name="connsiteX4" fmla="*/ 2563239 w 2900469"/>
                <a:gd name="connsiteY4" fmla="*/ 1624100 h 6872591"/>
                <a:gd name="connsiteX5" fmla="*/ 2563239 w 2900469"/>
                <a:gd name="connsiteY5" fmla="*/ 6872591 h 6872591"/>
                <a:gd name="connsiteX6" fmla="*/ 0 w 2900469"/>
                <a:gd name="connsiteY6" fmla="*/ 6872591 h 687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0469" h="6872591">
                  <a:moveTo>
                    <a:pt x="0" y="0"/>
                  </a:moveTo>
                  <a:lnTo>
                    <a:pt x="2563239" y="0"/>
                  </a:lnTo>
                  <a:lnTo>
                    <a:pt x="2563239" y="832142"/>
                  </a:lnTo>
                  <a:lnTo>
                    <a:pt x="2900469" y="1228121"/>
                  </a:lnTo>
                  <a:lnTo>
                    <a:pt x="2563239" y="1624100"/>
                  </a:lnTo>
                  <a:lnTo>
                    <a:pt x="2563239" y="6872591"/>
                  </a:lnTo>
                  <a:lnTo>
                    <a:pt x="0" y="6872591"/>
                  </a:lnTo>
                  <a:close/>
                </a:path>
              </a:pathLst>
            </a:custGeom>
            <a:solidFill>
              <a:schemeClr val="accent2">
                <a:lumMod val="5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7" name="TextBox 36">
              <a:extLst>
                <a:ext uri="{FF2B5EF4-FFF2-40B4-BE49-F238E27FC236}">
                  <a16:creationId xmlns:a16="http://schemas.microsoft.com/office/drawing/2014/main" id="{5BE226C2-15EB-4BE4-88EF-4442D01EDF6F}"/>
                </a:ext>
              </a:extLst>
            </p:cNvPr>
            <p:cNvSpPr txBox="1"/>
            <p:nvPr/>
          </p:nvSpPr>
          <p:spPr>
            <a:xfrm>
              <a:off x="10288458" y="256518"/>
              <a:ext cx="1541833" cy="2215991"/>
            </a:xfrm>
            <a:prstGeom prst="rect">
              <a:avLst/>
            </a:prstGeom>
            <a:noFill/>
          </p:spPr>
          <p:txBody>
            <a:bodyPr wrap="square" rtlCol="0">
              <a:spAutoFit/>
            </a:bodyPr>
            <a:lstStyle/>
            <a:p>
              <a:r>
                <a:rPr lang="en-US" sz="13800" dirty="0">
                  <a:latin typeface="Comic Sans MS" panose="030F0702030302020204" pitchFamily="66" charset="0"/>
                </a:rPr>
                <a:t>E</a:t>
              </a:r>
              <a:endParaRPr lang="en-IN" sz="13800" dirty="0">
                <a:latin typeface="Comic Sans MS" panose="030F0702030302020204" pitchFamily="66" charset="0"/>
              </a:endParaRPr>
            </a:p>
          </p:txBody>
        </p:sp>
        <p:sp>
          <p:nvSpPr>
            <p:cNvPr id="43" name="TextBox 42">
              <a:extLst>
                <a:ext uri="{FF2B5EF4-FFF2-40B4-BE49-F238E27FC236}">
                  <a16:creationId xmlns:a16="http://schemas.microsoft.com/office/drawing/2014/main" id="{FDCD5B53-F0FF-469B-BA01-3B52B969CB1E}"/>
                </a:ext>
              </a:extLst>
            </p:cNvPr>
            <p:cNvSpPr txBox="1"/>
            <p:nvPr/>
          </p:nvSpPr>
          <p:spPr>
            <a:xfrm>
              <a:off x="9834164" y="2255945"/>
              <a:ext cx="2245243" cy="3754874"/>
            </a:xfrm>
            <a:prstGeom prst="rect">
              <a:avLst/>
            </a:prstGeom>
            <a:noFill/>
          </p:spPr>
          <p:txBody>
            <a:bodyPr wrap="square" rtlCol="0">
              <a:spAutoFit/>
            </a:bodyPr>
            <a:lstStyle/>
            <a:p>
              <a:r>
                <a:rPr lang="en-US" sz="1700" b="1" dirty="0">
                  <a:latin typeface="Consolas" panose="020B0609020204030204" pitchFamily="49" charset="0"/>
                </a:rPr>
                <a:t>Scaling and Normalization:</a:t>
              </a:r>
            </a:p>
            <a:p>
              <a:r>
                <a:rPr lang="en-US" sz="1700" dirty="0">
                  <a:latin typeface="Consolas" panose="020B0609020204030204" pitchFamily="49" charset="0"/>
                </a:rPr>
                <a:t>Scaled 'age' and '</a:t>
              </a:r>
              <a:r>
                <a:rPr lang="en-US" sz="1700" dirty="0" err="1">
                  <a:latin typeface="Consolas" panose="020B0609020204030204" pitchFamily="49" charset="0"/>
                </a:rPr>
                <a:t>majority_vote</a:t>
              </a:r>
              <a:r>
                <a:rPr lang="en-US" sz="1700" dirty="0">
                  <a:latin typeface="Consolas" panose="020B0609020204030204" pitchFamily="49" charset="0"/>
                </a:rPr>
                <a:t>' attributes for homogeneity using Standard Scaler.</a:t>
              </a:r>
            </a:p>
            <a:p>
              <a:r>
                <a:rPr lang="en-US" sz="1700" dirty="0">
                  <a:latin typeface="Consolas" panose="020B0609020204030204" pitchFamily="49" charset="0"/>
                </a:rPr>
                <a:t>Ensured the dataset's effectiveness and robustness for subsequent analysis.</a:t>
              </a:r>
            </a:p>
            <a:p>
              <a:endParaRPr lang="en-IN" sz="1700" dirty="0">
                <a:latin typeface="Consolas" panose="020B0609020204030204" pitchFamily="49" charset="0"/>
              </a:endParaRPr>
            </a:p>
          </p:txBody>
        </p:sp>
      </p:grpSp>
      <p:grpSp>
        <p:nvGrpSpPr>
          <p:cNvPr id="53" name="Group 52">
            <a:extLst>
              <a:ext uri="{FF2B5EF4-FFF2-40B4-BE49-F238E27FC236}">
                <a16:creationId xmlns:a16="http://schemas.microsoft.com/office/drawing/2014/main" id="{3B0D40D5-4E6B-483E-AD2D-344CDCF3B35E}"/>
              </a:ext>
            </a:extLst>
          </p:cNvPr>
          <p:cNvGrpSpPr/>
          <p:nvPr/>
        </p:nvGrpSpPr>
        <p:grpSpPr>
          <a:xfrm>
            <a:off x="7279317" y="0"/>
            <a:ext cx="2806431" cy="6872591"/>
            <a:chOff x="7200089" y="0"/>
            <a:chExt cx="2806431" cy="6872591"/>
          </a:xfrm>
        </p:grpSpPr>
        <p:sp>
          <p:nvSpPr>
            <p:cNvPr id="24" name="Freeform: Shape 23">
              <a:extLst>
                <a:ext uri="{FF2B5EF4-FFF2-40B4-BE49-F238E27FC236}">
                  <a16:creationId xmlns:a16="http://schemas.microsoft.com/office/drawing/2014/main" id="{D73BC000-08EC-461B-A5E1-EF30577E78AF}"/>
                </a:ext>
              </a:extLst>
            </p:cNvPr>
            <p:cNvSpPr/>
            <p:nvPr/>
          </p:nvSpPr>
          <p:spPr>
            <a:xfrm>
              <a:off x="7200089" y="0"/>
              <a:ext cx="2806431" cy="6872591"/>
            </a:xfrm>
            <a:custGeom>
              <a:avLst/>
              <a:gdLst>
                <a:gd name="connsiteX0" fmla="*/ 2448129 w 2806431"/>
                <a:gd name="connsiteY0" fmla="*/ 802534 h 6872591"/>
                <a:gd name="connsiteX1" fmla="*/ 2806431 w 2806431"/>
                <a:gd name="connsiteY1" fmla="*/ 1223256 h 6872591"/>
                <a:gd name="connsiteX2" fmla="*/ 2448129 w 2806431"/>
                <a:gd name="connsiteY2" fmla="*/ 1643978 h 6872591"/>
                <a:gd name="connsiteX3" fmla="*/ 0 w 2806431"/>
                <a:gd name="connsiteY3" fmla="*/ 0 h 6872591"/>
                <a:gd name="connsiteX4" fmla="*/ 2448128 w 2806431"/>
                <a:gd name="connsiteY4" fmla="*/ 0 h 6872591"/>
                <a:gd name="connsiteX5" fmla="*/ 2448128 w 2806431"/>
                <a:gd name="connsiteY5" fmla="*/ 6872591 h 6872591"/>
                <a:gd name="connsiteX6" fmla="*/ 0 w 2806431"/>
                <a:gd name="connsiteY6" fmla="*/ 6872591 h 687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6431" h="6872591">
                  <a:moveTo>
                    <a:pt x="2448129" y="802534"/>
                  </a:moveTo>
                  <a:lnTo>
                    <a:pt x="2806431" y="1223256"/>
                  </a:lnTo>
                  <a:lnTo>
                    <a:pt x="2448129" y="1643978"/>
                  </a:lnTo>
                  <a:close/>
                  <a:moveTo>
                    <a:pt x="0" y="0"/>
                  </a:moveTo>
                  <a:lnTo>
                    <a:pt x="2448128" y="0"/>
                  </a:lnTo>
                  <a:lnTo>
                    <a:pt x="2448128" y="6872591"/>
                  </a:lnTo>
                  <a:lnTo>
                    <a:pt x="0" y="6872591"/>
                  </a:lnTo>
                  <a:close/>
                </a:path>
              </a:pathLst>
            </a:custGeom>
            <a:solidFill>
              <a:schemeClr val="accent2">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6" name="TextBox 35">
              <a:extLst>
                <a:ext uri="{FF2B5EF4-FFF2-40B4-BE49-F238E27FC236}">
                  <a16:creationId xmlns:a16="http://schemas.microsoft.com/office/drawing/2014/main" id="{00B2F9EE-5DA3-48A2-A164-FD4FA6E2632E}"/>
                </a:ext>
              </a:extLst>
            </p:cNvPr>
            <p:cNvSpPr txBox="1"/>
            <p:nvPr/>
          </p:nvSpPr>
          <p:spPr>
            <a:xfrm>
              <a:off x="7678956" y="246790"/>
              <a:ext cx="1541833" cy="2215991"/>
            </a:xfrm>
            <a:prstGeom prst="rect">
              <a:avLst/>
            </a:prstGeom>
            <a:noFill/>
          </p:spPr>
          <p:txBody>
            <a:bodyPr wrap="square" rtlCol="0">
              <a:spAutoFit/>
            </a:bodyPr>
            <a:lstStyle/>
            <a:p>
              <a:r>
                <a:rPr lang="en-US" sz="13800" dirty="0">
                  <a:latin typeface="Comic Sans MS" panose="030F0702030302020204" pitchFamily="66" charset="0"/>
                </a:rPr>
                <a:t>D</a:t>
              </a:r>
              <a:endParaRPr lang="en-IN" sz="13800" dirty="0">
                <a:latin typeface="Comic Sans MS" panose="030F0702030302020204" pitchFamily="66" charset="0"/>
              </a:endParaRPr>
            </a:p>
          </p:txBody>
        </p:sp>
        <p:sp>
          <p:nvSpPr>
            <p:cNvPr id="42" name="TextBox 41">
              <a:extLst>
                <a:ext uri="{FF2B5EF4-FFF2-40B4-BE49-F238E27FC236}">
                  <a16:creationId xmlns:a16="http://schemas.microsoft.com/office/drawing/2014/main" id="{B0A9E1EC-30FD-4831-BCC8-8A4FD7198093}"/>
                </a:ext>
              </a:extLst>
            </p:cNvPr>
            <p:cNvSpPr txBox="1"/>
            <p:nvPr/>
          </p:nvSpPr>
          <p:spPr>
            <a:xfrm>
              <a:off x="7369790" y="2255945"/>
              <a:ext cx="2245243" cy="4016484"/>
            </a:xfrm>
            <a:prstGeom prst="rect">
              <a:avLst/>
            </a:prstGeom>
            <a:noFill/>
          </p:spPr>
          <p:txBody>
            <a:bodyPr wrap="square" rtlCol="0">
              <a:spAutoFit/>
            </a:bodyPr>
            <a:lstStyle/>
            <a:p>
              <a:r>
                <a:rPr lang="en-US" sz="1700" b="1" dirty="0">
                  <a:latin typeface="Consolas" panose="020B0609020204030204" pitchFamily="49" charset="0"/>
                </a:rPr>
                <a:t>Categorical Encoding:</a:t>
              </a:r>
            </a:p>
            <a:p>
              <a:r>
                <a:rPr lang="en-US" sz="1700" dirty="0">
                  <a:latin typeface="Consolas" panose="020B0609020204030204" pitchFamily="49" charset="0"/>
                </a:rPr>
                <a:t>Encoded '</a:t>
              </a:r>
              <a:r>
                <a:rPr lang="en-US" sz="1700" dirty="0" err="1">
                  <a:latin typeface="Consolas" panose="020B0609020204030204" pitchFamily="49" charset="0"/>
                </a:rPr>
                <a:t>decision_type</a:t>
              </a:r>
              <a:r>
                <a:rPr lang="en-US" sz="1700" dirty="0">
                  <a:latin typeface="Consolas" panose="020B0609020204030204" pitchFamily="49" charset="0"/>
                </a:rPr>
                <a:t>' using Label Encoder for machine learning compatibility.</a:t>
              </a:r>
            </a:p>
            <a:p>
              <a:r>
                <a:rPr lang="en-US" sz="1700" dirty="0">
                  <a:latin typeface="Consolas" panose="020B0609020204030204" pitchFamily="49" charset="0"/>
                </a:rPr>
                <a:t>Selected a subset of relevant entries for manageable computational complexity.</a:t>
              </a:r>
            </a:p>
            <a:p>
              <a:endParaRPr lang="en-IN" sz="1700" dirty="0">
                <a:latin typeface="Consolas" panose="020B0609020204030204" pitchFamily="49" charset="0"/>
              </a:endParaRPr>
            </a:p>
          </p:txBody>
        </p:sp>
      </p:grpSp>
      <p:grpSp>
        <p:nvGrpSpPr>
          <p:cNvPr id="52" name="Group 51">
            <a:extLst>
              <a:ext uri="{FF2B5EF4-FFF2-40B4-BE49-F238E27FC236}">
                <a16:creationId xmlns:a16="http://schemas.microsoft.com/office/drawing/2014/main" id="{54F253D1-490C-40AA-9142-A9BDFACA2005}"/>
              </a:ext>
            </a:extLst>
          </p:cNvPr>
          <p:cNvGrpSpPr/>
          <p:nvPr/>
        </p:nvGrpSpPr>
        <p:grpSpPr>
          <a:xfrm>
            <a:off x="4913607" y="7292"/>
            <a:ext cx="2723749" cy="6882319"/>
            <a:chOff x="4842304" y="-9729"/>
            <a:chExt cx="2723749" cy="6882319"/>
          </a:xfrm>
        </p:grpSpPr>
        <p:sp>
          <p:nvSpPr>
            <p:cNvPr id="23" name="Freeform: Shape 22">
              <a:extLst>
                <a:ext uri="{FF2B5EF4-FFF2-40B4-BE49-F238E27FC236}">
                  <a16:creationId xmlns:a16="http://schemas.microsoft.com/office/drawing/2014/main" id="{1417FE8D-4083-45B1-B71C-4D09CEC426FC}"/>
                </a:ext>
              </a:extLst>
            </p:cNvPr>
            <p:cNvSpPr/>
            <p:nvPr/>
          </p:nvSpPr>
          <p:spPr>
            <a:xfrm>
              <a:off x="4842304" y="-9729"/>
              <a:ext cx="2723749" cy="6882319"/>
            </a:xfrm>
            <a:custGeom>
              <a:avLst/>
              <a:gdLst>
                <a:gd name="connsiteX0" fmla="*/ 0 w 2723749"/>
                <a:gd name="connsiteY0" fmla="*/ 0 h 6858000"/>
                <a:gd name="connsiteX1" fmla="*/ 2373546 w 2723749"/>
                <a:gd name="connsiteY1" fmla="*/ 0 h 6858000"/>
                <a:gd name="connsiteX2" fmla="*/ 2373546 w 2723749"/>
                <a:gd name="connsiteY2" fmla="*/ 812047 h 6858000"/>
                <a:gd name="connsiteX3" fmla="*/ 2723749 w 2723749"/>
                <a:gd name="connsiteY3" fmla="*/ 1223258 h 6858000"/>
                <a:gd name="connsiteX4" fmla="*/ 2373546 w 2723749"/>
                <a:gd name="connsiteY4" fmla="*/ 1634468 h 6858000"/>
                <a:gd name="connsiteX5" fmla="*/ 2373546 w 2723749"/>
                <a:gd name="connsiteY5" fmla="*/ 6858000 h 6858000"/>
                <a:gd name="connsiteX6" fmla="*/ 0 w 272374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3749" h="6858000">
                  <a:moveTo>
                    <a:pt x="0" y="0"/>
                  </a:moveTo>
                  <a:lnTo>
                    <a:pt x="2373546" y="0"/>
                  </a:lnTo>
                  <a:lnTo>
                    <a:pt x="2373546" y="812047"/>
                  </a:lnTo>
                  <a:lnTo>
                    <a:pt x="2723749" y="1223258"/>
                  </a:lnTo>
                  <a:lnTo>
                    <a:pt x="2373546" y="1634468"/>
                  </a:lnTo>
                  <a:lnTo>
                    <a:pt x="2373546" y="6858000"/>
                  </a:lnTo>
                  <a:lnTo>
                    <a:pt x="0" y="6858000"/>
                  </a:lnTo>
                  <a:close/>
                </a:path>
              </a:pathLst>
            </a:custGeom>
            <a:solidFill>
              <a:schemeClr val="accent2">
                <a:lumMod val="60000"/>
                <a:lumOff val="4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5" name="TextBox 34">
              <a:extLst>
                <a:ext uri="{FF2B5EF4-FFF2-40B4-BE49-F238E27FC236}">
                  <a16:creationId xmlns:a16="http://schemas.microsoft.com/office/drawing/2014/main" id="{C417B611-BCC7-4C08-8C71-11055463153A}"/>
                </a:ext>
              </a:extLst>
            </p:cNvPr>
            <p:cNvSpPr txBox="1"/>
            <p:nvPr/>
          </p:nvSpPr>
          <p:spPr>
            <a:xfrm>
              <a:off x="5333671" y="229769"/>
              <a:ext cx="1541833" cy="2215991"/>
            </a:xfrm>
            <a:prstGeom prst="rect">
              <a:avLst/>
            </a:prstGeom>
            <a:noFill/>
          </p:spPr>
          <p:txBody>
            <a:bodyPr wrap="square" rtlCol="0">
              <a:spAutoFit/>
            </a:bodyPr>
            <a:lstStyle/>
            <a:p>
              <a:r>
                <a:rPr lang="en-US" sz="13800" dirty="0">
                  <a:latin typeface="Comic Sans MS" panose="030F0702030302020204" pitchFamily="66" charset="0"/>
                </a:rPr>
                <a:t>C</a:t>
              </a:r>
              <a:endParaRPr lang="en-IN" sz="13800" dirty="0">
                <a:latin typeface="Comic Sans MS" panose="030F0702030302020204" pitchFamily="66" charset="0"/>
              </a:endParaRPr>
            </a:p>
          </p:txBody>
        </p:sp>
        <p:sp>
          <p:nvSpPr>
            <p:cNvPr id="41" name="TextBox 40">
              <a:extLst>
                <a:ext uri="{FF2B5EF4-FFF2-40B4-BE49-F238E27FC236}">
                  <a16:creationId xmlns:a16="http://schemas.microsoft.com/office/drawing/2014/main" id="{FCF1234F-4DBA-429C-AF72-3C5743202FDF}"/>
                </a:ext>
              </a:extLst>
            </p:cNvPr>
            <p:cNvSpPr txBox="1"/>
            <p:nvPr/>
          </p:nvSpPr>
          <p:spPr>
            <a:xfrm>
              <a:off x="4930731" y="2255945"/>
              <a:ext cx="2245243" cy="3493264"/>
            </a:xfrm>
            <a:prstGeom prst="rect">
              <a:avLst/>
            </a:prstGeom>
            <a:noFill/>
          </p:spPr>
          <p:txBody>
            <a:bodyPr wrap="square" rtlCol="0">
              <a:spAutoFit/>
            </a:bodyPr>
            <a:lstStyle/>
            <a:p>
              <a:r>
                <a:rPr lang="en-US" sz="1700" b="1" dirty="0">
                  <a:latin typeface="Consolas" panose="020B0609020204030204" pitchFamily="49" charset="0"/>
                </a:rPr>
                <a:t>Data Cleansing:</a:t>
              </a:r>
            </a:p>
            <a:p>
              <a:r>
                <a:rPr lang="en-US" sz="1700" dirty="0">
                  <a:latin typeface="Consolas" panose="020B0609020204030204" pitchFamily="49" charset="0"/>
                </a:rPr>
                <a:t>Identified and addressed outliers and inconsistent values in '</a:t>
              </a:r>
              <a:r>
                <a:rPr lang="en-US" sz="1700" dirty="0" err="1">
                  <a:latin typeface="Consolas" panose="020B0609020204030204" pitchFamily="49" charset="0"/>
                </a:rPr>
                <a:t>majority_vote</a:t>
              </a:r>
              <a:r>
                <a:rPr lang="en-US" sz="1700" dirty="0">
                  <a:latin typeface="Consolas" panose="020B0609020204030204" pitchFamily="49" charset="0"/>
                </a:rPr>
                <a:t>.'</a:t>
              </a:r>
            </a:p>
            <a:p>
              <a:r>
                <a:rPr lang="en-US" sz="1700" dirty="0">
                  <a:latin typeface="Consolas" panose="020B0609020204030204" pitchFamily="49" charset="0"/>
                </a:rPr>
                <a:t>Removed instances with missing or erroneous data for dataset reliability.</a:t>
              </a:r>
            </a:p>
            <a:p>
              <a:endParaRPr lang="en-IN" sz="1700" dirty="0">
                <a:latin typeface="Consolas" panose="020B0609020204030204" pitchFamily="49" charset="0"/>
              </a:endParaRPr>
            </a:p>
          </p:txBody>
        </p:sp>
      </p:grpSp>
      <p:grpSp>
        <p:nvGrpSpPr>
          <p:cNvPr id="51" name="Group 50">
            <a:extLst>
              <a:ext uri="{FF2B5EF4-FFF2-40B4-BE49-F238E27FC236}">
                <a16:creationId xmlns:a16="http://schemas.microsoft.com/office/drawing/2014/main" id="{26FCB2FB-3A5E-46CC-A6EA-350E1932C8D0}"/>
              </a:ext>
            </a:extLst>
          </p:cNvPr>
          <p:cNvGrpSpPr/>
          <p:nvPr/>
        </p:nvGrpSpPr>
        <p:grpSpPr>
          <a:xfrm>
            <a:off x="2442004" y="7292"/>
            <a:ext cx="2803191" cy="6872591"/>
            <a:chOff x="2465044" y="-14591"/>
            <a:chExt cx="2803191" cy="6872591"/>
          </a:xfrm>
        </p:grpSpPr>
        <p:sp>
          <p:nvSpPr>
            <p:cNvPr id="22" name="Freeform: Shape 21">
              <a:extLst>
                <a:ext uri="{FF2B5EF4-FFF2-40B4-BE49-F238E27FC236}">
                  <a16:creationId xmlns:a16="http://schemas.microsoft.com/office/drawing/2014/main" id="{4E670347-D0D1-4CC7-A385-7C029CE4AB1E}"/>
                </a:ext>
              </a:extLst>
            </p:cNvPr>
            <p:cNvSpPr/>
            <p:nvPr/>
          </p:nvSpPr>
          <p:spPr>
            <a:xfrm>
              <a:off x="2465044" y="-14591"/>
              <a:ext cx="2803191" cy="6872591"/>
            </a:xfrm>
            <a:custGeom>
              <a:avLst/>
              <a:gdLst>
                <a:gd name="connsiteX0" fmla="*/ 0 w 2803191"/>
                <a:gd name="connsiteY0" fmla="*/ 0 h 6872591"/>
                <a:gd name="connsiteX1" fmla="*/ 2482174 w 2803191"/>
                <a:gd name="connsiteY1" fmla="*/ 0 h 6872591"/>
                <a:gd name="connsiteX2" fmla="*/ 2482174 w 2803191"/>
                <a:gd name="connsiteY2" fmla="*/ 851181 h 6872591"/>
                <a:gd name="connsiteX3" fmla="*/ 2803191 w 2803191"/>
                <a:gd name="connsiteY3" fmla="*/ 1228121 h 6872591"/>
                <a:gd name="connsiteX4" fmla="*/ 2482174 w 2803191"/>
                <a:gd name="connsiteY4" fmla="*/ 1605061 h 6872591"/>
                <a:gd name="connsiteX5" fmla="*/ 2482174 w 2803191"/>
                <a:gd name="connsiteY5" fmla="*/ 6872591 h 6872591"/>
                <a:gd name="connsiteX6" fmla="*/ 0 w 2803191"/>
                <a:gd name="connsiteY6" fmla="*/ 6872591 h 687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3191" h="6872591">
                  <a:moveTo>
                    <a:pt x="0" y="0"/>
                  </a:moveTo>
                  <a:lnTo>
                    <a:pt x="2482174" y="0"/>
                  </a:lnTo>
                  <a:lnTo>
                    <a:pt x="2482174" y="851181"/>
                  </a:lnTo>
                  <a:lnTo>
                    <a:pt x="2803191" y="1228121"/>
                  </a:lnTo>
                  <a:lnTo>
                    <a:pt x="2482174" y="1605061"/>
                  </a:lnTo>
                  <a:lnTo>
                    <a:pt x="2482174" y="6872591"/>
                  </a:lnTo>
                  <a:lnTo>
                    <a:pt x="0" y="6872591"/>
                  </a:lnTo>
                  <a:close/>
                </a:path>
              </a:pathLst>
            </a:custGeom>
            <a:solidFill>
              <a:schemeClr val="accent2">
                <a:lumMod val="40000"/>
                <a:lumOff val="6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IN" sz="9600" dirty="0">
                <a:latin typeface="Comic Sans MS" panose="030F0702030302020204" pitchFamily="66" charset="0"/>
              </a:endParaRPr>
            </a:p>
          </p:txBody>
        </p:sp>
        <p:sp>
          <p:nvSpPr>
            <p:cNvPr id="34" name="TextBox 33">
              <a:extLst>
                <a:ext uri="{FF2B5EF4-FFF2-40B4-BE49-F238E27FC236}">
                  <a16:creationId xmlns:a16="http://schemas.microsoft.com/office/drawing/2014/main" id="{867CDF5A-637F-4AD4-B277-FB824D582280}"/>
                </a:ext>
              </a:extLst>
            </p:cNvPr>
            <p:cNvSpPr txBox="1"/>
            <p:nvPr/>
          </p:nvSpPr>
          <p:spPr>
            <a:xfrm>
              <a:off x="2955533" y="224907"/>
              <a:ext cx="1351736" cy="2215991"/>
            </a:xfrm>
            <a:prstGeom prst="rect">
              <a:avLst/>
            </a:prstGeom>
            <a:noFill/>
          </p:spPr>
          <p:txBody>
            <a:bodyPr wrap="square" rtlCol="0">
              <a:spAutoFit/>
            </a:bodyPr>
            <a:lstStyle/>
            <a:p>
              <a:r>
                <a:rPr lang="en-US" sz="13800" dirty="0">
                  <a:latin typeface="Comic Sans MS" panose="030F0702030302020204" pitchFamily="66" charset="0"/>
                </a:rPr>
                <a:t>B</a:t>
              </a:r>
              <a:endParaRPr lang="en-IN" sz="13800" dirty="0">
                <a:latin typeface="Comic Sans MS" panose="030F0702030302020204" pitchFamily="66" charset="0"/>
              </a:endParaRPr>
            </a:p>
          </p:txBody>
        </p:sp>
        <p:sp>
          <p:nvSpPr>
            <p:cNvPr id="40" name="TextBox 39">
              <a:extLst>
                <a:ext uri="{FF2B5EF4-FFF2-40B4-BE49-F238E27FC236}">
                  <a16:creationId xmlns:a16="http://schemas.microsoft.com/office/drawing/2014/main" id="{C29D089E-7092-4138-9F20-F03D3456ABC9}"/>
                </a:ext>
              </a:extLst>
            </p:cNvPr>
            <p:cNvSpPr txBox="1"/>
            <p:nvPr/>
          </p:nvSpPr>
          <p:spPr>
            <a:xfrm>
              <a:off x="2520409" y="2234060"/>
              <a:ext cx="2245243" cy="4016484"/>
            </a:xfrm>
            <a:prstGeom prst="rect">
              <a:avLst/>
            </a:prstGeom>
            <a:noFill/>
          </p:spPr>
          <p:txBody>
            <a:bodyPr wrap="square" rtlCol="0">
              <a:spAutoFit/>
            </a:bodyPr>
            <a:lstStyle/>
            <a:p>
              <a:r>
                <a:rPr lang="en-US" sz="1700" b="1" dirty="0">
                  <a:latin typeface="Consolas" panose="020B0609020204030204" pitchFamily="49" charset="0"/>
                </a:rPr>
                <a:t>Data Preparation:</a:t>
              </a:r>
            </a:p>
            <a:p>
              <a:r>
                <a:rPr lang="en-US" sz="1700" dirty="0">
                  <a:latin typeface="Consolas" panose="020B0609020204030204" pitchFamily="49" charset="0"/>
                </a:rPr>
                <a:t>Transformed 'judgement' attribute into uppercase strings, retaining instances with 'TRUE' values.</a:t>
              </a:r>
            </a:p>
            <a:p>
              <a:r>
                <a:rPr lang="en-US" sz="1700" dirty="0">
                  <a:latin typeface="Consolas" panose="020B0609020204030204" pitchFamily="49" charset="0"/>
                </a:rPr>
                <a:t>Added an 'age' column based on timestamps for contextual information.</a:t>
              </a:r>
            </a:p>
            <a:p>
              <a:endParaRPr lang="en-IN" sz="1700" dirty="0">
                <a:latin typeface="Consolas" panose="020B0609020204030204" pitchFamily="49" charset="0"/>
              </a:endParaRPr>
            </a:p>
          </p:txBody>
        </p:sp>
      </p:grpSp>
      <p:grpSp>
        <p:nvGrpSpPr>
          <p:cNvPr id="50" name="Group 49">
            <a:extLst>
              <a:ext uri="{FF2B5EF4-FFF2-40B4-BE49-F238E27FC236}">
                <a16:creationId xmlns:a16="http://schemas.microsoft.com/office/drawing/2014/main" id="{8CFC95AD-8C0C-4FA4-B938-2B577B27EA54}"/>
              </a:ext>
            </a:extLst>
          </p:cNvPr>
          <p:cNvGrpSpPr/>
          <p:nvPr/>
        </p:nvGrpSpPr>
        <p:grpSpPr>
          <a:xfrm>
            <a:off x="-9265" y="2429"/>
            <a:ext cx="2820211" cy="6858000"/>
            <a:chOff x="0" y="0"/>
            <a:chExt cx="2820211" cy="6858000"/>
          </a:xfrm>
        </p:grpSpPr>
        <p:sp>
          <p:nvSpPr>
            <p:cNvPr id="21" name="Freeform: Shape 20">
              <a:extLst>
                <a:ext uri="{FF2B5EF4-FFF2-40B4-BE49-F238E27FC236}">
                  <a16:creationId xmlns:a16="http://schemas.microsoft.com/office/drawing/2014/main" id="{4B0F2115-478C-47D6-9C58-E3B592B6637F}"/>
                </a:ext>
              </a:extLst>
            </p:cNvPr>
            <p:cNvSpPr/>
            <p:nvPr/>
          </p:nvSpPr>
          <p:spPr>
            <a:xfrm>
              <a:off x="0" y="0"/>
              <a:ext cx="2820211" cy="6858000"/>
            </a:xfrm>
            <a:custGeom>
              <a:avLst/>
              <a:gdLst>
                <a:gd name="connsiteX0" fmla="*/ 0 w 2820211"/>
                <a:gd name="connsiteY0" fmla="*/ 0 h 6858000"/>
                <a:gd name="connsiteX1" fmla="*/ 2474068 w 2820211"/>
                <a:gd name="connsiteY1" fmla="*/ 0 h 6858000"/>
                <a:gd name="connsiteX2" fmla="*/ 2474068 w 2820211"/>
                <a:gd name="connsiteY2" fmla="*/ 816814 h 6858000"/>
                <a:gd name="connsiteX3" fmla="*/ 2820211 w 2820211"/>
                <a:gd name="connsiteY3" fmla="*/ 1223257 h 6858000"/>
                <a:gd name="connsiteX4" fmla="*/ 2474068 w 2820211"/>
                <a:gd name="connsiteY4" fmla="*/ 1629700 h 6858000"/>
                <a:gd name="connsiteX5" fmla="*/ 2474068 w 2820211"/>
                <a:gd name="connsiteY5" fmla="*/ 6858000 h 6858000"/>
                <a:gd name="connsiteX6" fmla="*/ 0 w 282021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0211" h="6858000">
                  <a:moveTo>
                    <a:pt x="0" y="0"/>
                  </a:moveTo>
                  <a:lnTo>
                    <a:pt x="2474068" y="0"/>
                  </a:lnTo>
                  <a:lnTo>
                    <a:pt x="2474068" y="816814"/>
                  </a:lnTo>
                  <a:lnTo>
                    <a:pt x="2820211" y="1223257"/>
                  </a:lnTo>
                  <a:lnTo>
                    <a:pt x="2474068" y="1629700"/>
                  </a:lnTo>
                  <a:lnTo>
                    <a:pt x="2474068" y="6858000"/>
                  </a:lnTo>
                  <a:lnTo>
                    <a:pt x="0" y="6858000"/>
                  </a:lnTo>
                  <a:close/>
                </a:path>
              </a:pathLst>
            </a:custGeom>
            <a:solidFill>
              <a:schemeClr val="accent2">
                <a:lumMod val="20000"/>
                <a:lumOff val="8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solidFill>
                  <a:schemeClr val="accent4">
                    <a:lumMod val="20000"/>
                    <a:lumOff val="80000"/>
                  </a:schemeClr>
                </a:solidFill>
              </a:endParaRPr>
            </a:p>
          </p:txBody>
        </p:sp>
        <p:sp>
          <p:nvSpPr>
            <p:cNvPr id="26" name="TextBox 25">
              <a:extLst>
                <a:ext uri="{FF2B5EF4-FFF2-40B4-BE49-F238E27FC236}">
                  <a16:creationId xmlns:a16="http://schemas.microsoft.com/office/drawing/2014/main" id="{A0891D9E-19B9-4A1A-9DD8-0010BD8EF49E}"/>
                </a:ext>
              </a:extLst>
            </p:cNvPr>
            <p:cNvSpPr txBox="1"/>
            <p:nvPr/>
          </p:nvSpPr>
          <p:spPr>
            <a:xfrm>
              <a:off x="432006" y="244362"/>
              <a:ext cx="1541833" cy="2215991"/>
            </a:xfrm>
            <a:prstGeom prst="rect">
              <a:avLst/>
            </a:prstGeom>
            <a:noFill/>
          </p:spPr>
          <p:txBody>
            <a:bodyPr wrap="square" rtlCol="0">
              <a:spAutoFit/>
            </a:bodyPr>
            <a:lstStyle/>
            <a:p>
              <a:r>
                <a:rPr lang="en-US" sz="13800" dirty="0">
                  <a:latin typeface="Comic Sans MS" panose="030F0702030302020204" pitchFamily="66" charset="0"/>
                </a:rPr>
                <a:t>A</a:t>
              </a:r>
              <a:endParaRPr lang="en-IN" sz="13800" dirty="0">
                <a:latin typeface="Comic Sans MS" panose="030F0702030302020204" pitchFamily="66" charset="0"/>
              </a:endParaRPr>
            </a:p>
          </p:txBody>
        </p:sp>
        <p:sp>
          <p:nvSpPr>
            <p:cNvPr id="39" name="TextBox 38">
              <a:extLst>
                <a:ext uri="{FF2B5EF4-FFF2-40B4-BE49-F238E27FC236}">
                  <a16:creationId xmlns:a16="http://schemas.microsoft.com/office/drawing/2014/main" id="{38FE8DF8-DD08-4250-8665-1BD9D367A9C9}"/>
                </a:ext>
              </a:extLst>
            </p:cNvPr>
            <p:cNvSpPr txBox="1"/>
            <p:nvPr/>
          </p:nvSpPr>
          <p:spPr>
            <a:xfrm>
              <a:off x="112593" y="2255945"/>
              <a:ext cx="2245243" cy="4278094"/>
            </a:xfrm>
            <a:prstGeom prst="rect">
              <a:avLst/>
            </a:prstGeom>
            <a:noFill/>
          </p:spPr>
          <p:txBody>
            <a:bodyPr wrap="square" rtlCol="0">
              <a:spAutoFit/>
            </a:bodyPr>
            <a:lstStyle/>
            <a:p>
              <a:r>
                <a:rPr lang="en-US" sz="1700" b="1" dirty="0">
                  <a:latin typeface="Consolas" panose="020B0609020204030204" pitchFamily="49" charset="0"/>
                </a:rPr>
                <a:t>Case Documents Acquisition:</a:t>
              </a:r>
            </a:p>
            <a:p>
              <a:pPr marL="285750" indent="-285750">
                <a:buFont typeface="Arial" panose="020B0604020202020204" pitchFamily="34" charset="0"/>
                <a:buChar char="•"/>
              </a:pPr>
              <a:r>
                <a:rPr lang="en-US" sz="1700" dirty="0">
                  <a:latin typeface="Consolas" panose="020B0609020204030204" pitchFamily="49" charset="0"/>
                </a:rPr>
                <a:t>Obtained Indian Supreme Court judgments from kaggle.com, resulting in a corpus of over 3000 cases.</a:t>
              </a:r>
            </a:p>
            <a:p>
              <a:pPr marL="285750" indent="-285750">
                <a:buFont typeface="Arial" panose="020B0604020202020204" pitchFamily="34" charset="0"/>
                <a:buChar char="•"/>
              </a:pPr>
              <a:r>
                <a:rPr lang="en-US" sz="1700" dirty="0">
                  <a:latin typeface="Consolas" panose="020B0609020204030204" pitchFamily="49" charset="0"/>
                </a:rPr>
                <a:t>Refined to 1001 cleaned and finalized cases for analysis.</a:t>
              </a:r>
            </a:p>
            <a:p>
              <a:endParaRPr lang="en-IN" sz="1700" dirty="0">
                <a:latin typeface="Consolas" panose="020B0609020204030204" pitchFamily="49" charset="0"/>
              </a:endParaRPr>
            </a:p>
          </p:txBody>
        </p:sp>
      </p:grpSp>
      <p:sp>
        <p:nvSpPr>
          <p:cNvPr id="2" name="TextBox 1">
            <a:extLst>
              <a:ext uri="{FF2B5EF4-FFF2-40B4-BE49-F238E27FC236}">
                <a16:creationId xmlns:a16="http://schemas.microsoft.com/office/drawing/2014/main" id="{E54F5712-DA37-4547-BCE5-64FCFA4DAA8C}"/>
              </a:ext>
            </a:extLst>
          </p:cNvPr>
          <p:cNvSpPr txBox="1"/>
          <p:nvPr/>
        </p:nvSpPr>
        <p:spPr>
          <a:xfrm>
            <a:off x="4330284" y="-69940"/>
            <a:ext cx="3025317" cy="523220"/>
          </a:xfrm>
          <a:prstGeom prst="rect">
            <a:avLst/>
          </a:prstGeom>
          <a:noFill/>
        </p:spPr>
        <p:txBody>
          <a:bodyPr wrap="square" rtlCol="0">
            <a:spAutoFit/>
          </a:bodyPr>
          <a:lstStyle/>
          <a:p>
            <a:r>
              <a:rPr lang="en-US" sz="2800" dirty="0">
                <a:latin typeface="Sitka Subheading Semibold" pitchFamily="2" charset="0"/>
              </a:rPr>
              <a:t>Data Preparation</a:t>
            </a:r>
            <a:endParaRPr lang="en-IN" sz="2000" dirty="0">
              <a:latin typeface="Sitka Subheading Semibold" pitchFamily="2" charset="0"/>
            </a:endParaRPr>
          </a:p>
        </p:txBody>
      </p:sp>
    </p:spTree>
    <p:extLst>
      <p:ext uri="{BB962C8B-B14F-4D97-AF65-F5344CB8AC3E}">
        <p14:creationId xmlns:p14="http://schemas.microsoft.com/office/powerpoint/2010/main" val="2107557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65000"/>
              </a:schemeClr>
            </a:gs>
            <a:gs pos="100000">
              <a:schemeClr val="accent3">
                <a:lumMod val="75000"/>
              </a:schemeClr>
            </a:gs>
            <a:gs pos="98000">
              <a:schemeClr val="accent3"/>
            </a:gs>
          </a:gsLst>
          <a:path path="circle">
            <a:fillToRect l="100000" t="100000"/>
          </a:path>
        </a:gra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8B0431C-64E6-4A3C-BF12-6258F1E9C26D}"/>
              </a:ext>
            </a:extLst>
          </p:cNvPr>
          <p:cNvSpPr txBox="1"/>
          <p:nvPr/>
        </p:nvSpPr>
        <p:spPr>
          <a:xfrm>
            <a:off x="231252" y="1931886"/>
            <a:ext cx="11841803" cy="4493538"/>
          </a:xfrm>
          <a:prstGeom prst="rect">
            <a:avLst/>
          </a:prstGeom>
          <a:noFill/>
        </p:spPr>
        <p:txBody>
          <a:bodyPr wrap="square" rtlCol="0">
            <a:spAutoFit/>
          </a:bodyPr>
          <a:lstStyle/>
          <a:p>
            <a:pPr algn="l">
              <a:buFont typeface="+mj-lt"/>
              <a:buAutoNum type="arabicPeriod"/>
            </a:pPr>
            <a:r>
              <a:rPr lang="en-US" sz="2600" b="1" i="0" dirty="0">
                <a:solidFill>
                  <a:srgbClr val="FF0000"/>
                </a:solidFill>
                <a:effectLst>
                  <a:outerShdw blurRad="177800" dist="38100" dir="2700000" algn="tl" rotWithShape="0">
                    <a:prstClr val="black">
                      <a:alpha val="58000"/>
                    </a:prstClr>
                  </a:outerShdw>
                </a:effectLst>
                <a:latin typeface="Arial" panose="020B0604020202020204" pitchFamily="34" charset="0"/>
                <a:cs typeface="Arial" panose="020B0604020202020204" pitchFamily="34" charset="0"/>
              </a:rPr>
              <a:t>Leveraging Advanced Machine Learning Techniques:</a:t>
            </a:r>
            <a:r>
              <a:rPr lang="en-US" sz="2600" b="0" i="0" dirty="0">
                <a:solidFill>
                  <a:srgbClr val="FF0000"/>
                </a:solidFill>
                <a:effectLst>
                  <a:outerShdw blurRad="177800" dist="38100" dir="2700000" algn="tl" rotWithShape="0">
                    <a:prstClr val="black">
                      <a:alpha val="58000"/>
                    </a:prstClr>
                  </a:outerShdw>
                </a:effectLst>
                <a:latin typeface="Arial" panose="020B0604020202020204" pitchFamily="34" charset="0"/>
                <a:cs typeface="Arial" panose="020B0604020202020204" pitchFamily="34" charset="0"/>
              </a:rPr>
              <a:t> </a:t>
            </a:r>
            <a:r>
              <a:rPr lang="en-US" sz="2600" b="0" i="0" dirty="0">
                <a:effectLst>
                  <a:outerShdw blurRad="177800" dist="38100" dir="2700000" algn="tl" rotWithShape="0">
                    <a:prstClr val="black">
                      <a:alpha val="58000"/>
                    </a:prstClr>
                  </a:outerShdw>
                </a:effectLst>
                <a:latin typeface="Arial" panose="020B0604020202020204" pitchFamily="34" charset="0"/>
                <a:cs typeface="Arial" panose="020B0604020202020204" pitchFamily="34" charset="0"/>
              </a:rPr>
              <a:t>Legal Acumen relies on cutting-edge machine learning methods, including Support Vector Machine (SVM) and K-Means Clustering, to yield precise predictions from legal case documents.</a:t>
            </a:r>
          </a:p>
          <a:p>
            <a:pPr algn="l">
              <a:buFont typeface="+mj-lt"/>
              <a:buAutoNum type="arabicPeriod"/>
            </a:pPr>
            <a:r>
              <a:rPr lang="en-US" sz="2600" b="1" i="0" dirty="0">
                <a:solidFill>
                  <a:srgbClr val="FF0000"/>
                </a:solidFill>
                <a:effectLst>
                  <a:outerShdw blurRad="177800" dist="38100" dir="2700000" algn="tl" rotWithShape="0">
                    <a:prstClr val="black">
                      <a:alpha val="58000"/>
                    </a:prstClr>
                  </a:outerShdw>
                </a:effectLst>
                <a:latin typeface="Arial" panose="020B0604020202020204" pitchFamily="34" charset="0"/>
                <a:cs typeface="Arial" panose="020B0604020202020204" pitchFamily="34" charset="0"/>
              </a:rPr>
              <a:t>Hyperparameter Tuning:</a:t>
            </a:r>
            <a:r>
              <a:rPr lang="en-US" sz="2600" b="0" i="0" dirty="0">
                <a:solidFill>
                  <a:srgbClr val="FF0000"/>
                </a:solidFill>
                <a:effectLst>
                  <a:outerShdw blurRad="177800" dist="38100" dir="2700000" algn="tl" rotWithShape="0">
                    <a:prstClr val="black">
                      <a:alpha val="58000"/>
                    </a:prstClr>
                  </a:outerShdw>
                </a:effectLst>
                <a:latin typeface="Arial" panose="020B0604020202020204" pitchFamily="34" charset="0"/>
                <a:cs typeface="Arial" panose="020B0604020202020204" pitchFamily="34" charset="0"/>
              </a:rPr>
              <a:t> </a:t>
            </a:r>
            <a:r>
              <a:rPr lang="en-US" sz="2600" b="0" i="0" dirty="0">
                <a:effectLst>
                  <a:outerShdw blurRad="177800" dist="38100" dir="2700000" algn="tl" rotWithShape="0">
                    <a:prstClr val="black">
                      <a:alpha val="58000"/>
                    </a:prstClr>
                  </a:outerShdw>
                </a:effectLst>
                <a:latin typeface="Arial" panose="020B0604020202020204" pitchFamily="34" charset="0"/>
                <a:cs typeface="Arial" panose="020B0604020202020204" pitchFamily="34" charset="0"/>
              </a:rPr>
              <a:t>The hyperparameters of SVM and K-Means have been meticulously fine-tuned to optimize their performance in the domain of legal predictions [7].</a:t>
            </a:r>
          </a:p>
          <a:p>
            <a:pPr algn="l">
              <a:buFont typeface="+mj-lt"/>
              <a:buAutoNum type="arabicPeriod"/>
            </a:pPr>
            <a:r>
              <a:rPr lang="en-US" sz="2600" b="1" i="0" dirty="0">
                <a:solidFill>
                  <a:srgbClr val="FF0000"/>
                </a:solidFill>
                <a:effectLst>
                  <a:outerShdw blurRad="177800" dist="38100" dir="2700000" algn="tl" rotWithShape="0">
                    <a:prstClr val="black">
                      <a:alpha val="58000"/>
                    </a:prstClr>
                  </a:outerShdw>
                </a:effectLst>
                <a:latin typeface="Arial" panose="020B0604020202020204" pitchFamily="34" charset="0"/>
                <a:cs typeface="Arial" panose="020B0604020202020204" pitchFamily="34" charset="0"/>
              </a:rPr>
              <a:t>Data Split for Reliability:</a:t>
            </a:r>
            <a:r>
              <a:rPr lang="en-US" sz="2600" b="0" i="0" dirty="0">
                <a:solidFill>
                  <a:srgbClr val="FF0000"/>
                </a:solidFill>
                <a:effectLst>
                  <a:outerShdw blurRad="177800" dist="38100" dir="2700000" algn="tl" rotWithShape="0">
                    <a:prstClr val="black">
                      <a:alpha val="58000"/>
                    </a:prstClr>
                  </a:outerShdw>
                </a:effectLst>
                <a:latin typeface="Arial" panose="020B0604020202020204" pitchFamily="34" charset="0"/>
                <a:cs typeface="Arial" panose="020B0604020202020204" pitchFamily="34" charset="0"/>
              </a:rPr>
              <a:t> </a:t>
            </a:r>
            <a:r>
              <a:rPr lang="en-US" sz="2600" b="0" i="0" dirty="0">
                <a:effectLst>
                  <a:outerShdw blurRad="177800" dist="38100" dir="2700000" algn="tl" rotWithShape="0">
                    <a:prstClr val="black">
                      <a:alpha val="58000"/>
                    </a:prstClr>
                  </a:outerShdw>
                </a:effectLst>
                <a:latin typeface="Arial" panose="020B0604020202020204" pitchFamily="34" charset="0"/>
                <a:cs typeface="Arial" panose="020B0604020202020204" pitchFamily="34" charset="0"/>
              </a:rPr>
              <a:t>A rigorous 80%-20% data split has been employed, with 80% designated for training and 20% for thorough testing and validation to ensure the reliability and generalizability of the model.</a:t>
            </a:r>
          </a:p>
          <a:p>
            <a:endParaRPr lang="en-US" sz="2600" dirty="0">
              <a:effectLst>
                <a:outerShdw blurRad="177800" dist="38100" dir="2700000" algn="tl" rotWithShape="0">
                  <a:prstClr val="black">
                    <a:alpha val="58000"/>
                  </a:prstClr>
                </a:outerShdw>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CC2521CB-1291-47E9-BA1D-D0B2503A1D4F}"/>
              </a:ext>
            </a:extLst>
          </p:cNvPr>
          <p:cNvSpPr txBox="1"/>
          <p:nvPr/>
        </p:nvSpPr>
        <p:spPr>
          <a:xfrm>
            <a:off x="2204209" y="394446"/>
            <a:ext cx="7638171" cy="1015663"/>
          </a:xfrm>
          <a:prstGeom prst="rect">
            <a:avLst/>
          </a:prstGeom>
          <a:noFill/>
        </p:spPr>
        <p:txBody>
          <a:bodyPr wrap="square" rtlCol="0">
            <a:spAutoFit/>
          </a:bodyPr>
          <a:lstStyle/>
          <a:p>
            <a:r>
              <a:rPr lang="en-IN" sz="6000" b="0" i="0" dirty="0">
                <a:solidFill>
                  <a:srgbClr val="FF0000"/>
                </a:solidFill>
                <a:effectLst>
                  <a:outerShdw blurRad="177800" dist="38100" dir="5400000" algn="t" rotWithShape="0">
                    <a:prstClr val="black">
                      <a:alpha val="63000"/>
                    </a:prstClr>
                  </a:outerShdw>
                </a:effectLst>
                <a:latin typeface="Segoe Print" panose="02000600000000000000" pitchFamily="2" charset="0"/>
                <a:ea typeface="SimSun" panose="02010600030101010101" pitchFamily="2" charset="-122"/>
              </a:rPr>
              <a:t>Classifier Modelling </a:t>
            </a:r>
            <a:endParaRPr lang="en-IN" sz="6000" dirty="0">
              <a:solidFill>
                <a:srgbClr val="FF0000"/>
              </a:solidFill>
              <a:effectLst>
                <a:outerShdw blurRad="177800" dist="38100" dir="5400000" algn="t" rotWithShape="0">
                  <a:prstClr val="black">
                    <a:alpha val="63000"/>
                  </a:prstClr>
                </a:outerShdw>
              </a:effectLst>
              <a:latin typeface="Segoe Print" panose="02000600000000000000" pitchFamily="2" charset="0"/>
              <a:ea typeface="SimSun" panose="02010600030101010101" pitchFamily="2" charset="-122"/>
            </a:endParaRPr>
          </a:p>
        </p:txBody>
      </p:sp>
      <p:grpSp>
        <p:nvGrpSpPr>
          <p:cNvPr id="5" name="Group 4">
            <a:extLst>
              <a:ext uri="{FF2B5EF4-FFF2-40B4-BE49-F238E27FC236}">
                <a16:creationId xmlns:a16="http://schemas.microsoft.com/office/drawing/2014/main" id="{2DCA7750-1BCC-41A6-801A-62C7B6230E02}"/>
              </a:ext>
            </a:extLst>
          </p:cNvPr>
          <p:cNvGrpSpPr/>
          <p:nvPr/>
        </p:nvGrpSpPr>
        <p:grpSpPr>
          <a:xfrm>
            <a:off x="15466391" y="14494"/>
            <a:ext cx="3190516" cy="6899343"/>
            <a:chOff x="9395455" y="-1"/>
            <a:chExt cx="3190516" cy="6899343"/>
          </a:xfrm>
        </p:grpSpPr>
        <p:sp>
          <p:nvSpPr>
            <p:cNvPr id="6" name="Freeform: Shape 5">
              <a:extLst>
                <a:ext uri="{FF2B5EF4-FFF2-40B4-BE49-F238E27FC236}">
                  <a16:creationId xmlns:a16="http://schemas.microsoft.com/office/drawing/2014/main" id="{7308783A-67D6-4F8A-8FA6-28F21A2D1D98}"/>
                </a:ext>
              </a:extLst>
            </p:cNvPr>
            <p:cNvSpPr/>
            <p:nvPr/>
          </p:nvSpPr>
          <p:spPr>
            <a:xfrm>
              <a:off x="9395455" y="26751"/>
              <a:ext cx="3190516" cy="6872591"/>
            </a:xfrm>
            <a:custGeom>
              <a:avLst/>
              <a:gdLst>
                <a:gd name="connsiteX0" fmla="*/ 0 w 2900469"/>
                <a:gd name="connsiteY0" fmla="*/ 0 h 6872591"/>
                <a:gd name="connsiteX1" fmla="*/ 2563239 w 2900469"/>
                <a:gd name="connsiteY1" fmla="*/ 0 h 6872591"/>
                <a:gd name="connsiteX2" fmla="*/ 2563239 w 2900469"/>
                <a:gd name="connsiteY2" fmla="*/ 832142 h 6872591"/>
                <a:gd name="connsiteX3" fmla="*/ 2900469 w 2900469"/>
                <a:gd name="connsiteY3" fmla="*/ 1228121 h 6872591"/>
                <a:gd name="connsiteX4" fmla="*/ 2563239 w 2900469"/>
                <a:gd name="connsiteY4" fmla="*/ 1624100 h 6872591"/>
                <a:gd name="connsiteX5" fmla="*/ 2563239 w 2900469"/>
                <a:gd name="connsiteY5" fmla="*/ 6872591 h 6872591"/>
                <a:gd name="connsiteX6" fmla="*/ 0 w 2900469"/>
                <a:gd name="connsiteY6" fmla="*/ 6872591 h 687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0469" h="6872591">
                  <a:moveTo>
                    <a:pt x="0" y="0"/>
                  </a:moveTo>
                  <a:lnTo>
                    <a:pt x="2563239" y="0"/>
                  </a:lnTo>
                  <a:lnTo>
                    <a:pt x="2563239" y="832142"/>
                  </a:lnTo>
                  <a:lnTo>
                    <a:pt x="2900469" y="1228121"/>
                  </a:lnTo>
                  <a:lnTo>
                    <a:pt x="2563239" y="1624100"/>
                  </a:lnTo>
                  <a:lnTo>
                    <a:pt x="2563239" y="6872591"/>
                  </a:lnTo>
                  <a:lnTo>
                    <a:pt x="0" y="6872591"/>
                  </a:lnTo>
                  <a:close/>
                </a:path>
              </a:pathLst>
            </a:custGeom>
            <a:solidFill>
              <a:schemeClr val="accent2">
                <a:lumMod val="5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7" name="TextBox 6">
              <a:extLst>
                <a:ext uri="{FF2B5EF4-FFF2-40B4-BE49-F238E27FC236}">
                  <a16:creationId xmlns:a16="http://schemas.microsoft.com/office/drawing/2014/main" id="{CAA0629F-22E4-47C5-8399-3A5B8ED7AC3C}"/>
                </a:ext>
              </a:extLst>
            </p:cNvPr>
            <p:cNvSpPr txBox="1"/>
            <p:nvPr/>
          </p:nvSpPr>
          <p:spPr>
            <a:xfrm>
              <a:off x="10238586" y="-1"/>
              <a:ext cx="1541833" cy="2215991"/>
            </a:xfrm>
            <a:prstGeom prst="rect">
              <a:avLst/>
            </a:prstGeom>
            <a:noFill/>
          </p:spPr>
          <p:txBody>
            <a:bodyPr wrap="square" rtlCol="0">
              <a:spAutoFit/>
            </a:bodyPr>
            <a:lstStyle/>
            <a:p>
              <a:r>
                <a:rPr lang="en-US" sz="13800" dirty="0">
                  <a:latin typeface="Comic Sans MS" panose="030F0702030302020204" pitchFamily="66" charset="0"/>
                </a:rPr>
                <a:t>E</a:t>
              </a:r>
              <a:endParaRPr lang="en-IN" sz="13800" dirty="0">
                <a:latin typeface="Comic Sans MS" panose="030F0702030302020204" pitchFamily="66" charset="0"/>
              </a:endParaRPr>
            </a:p>
          </p:txBody>
        </p:sp>
        <p:sp>
          <p:nvSpPr>
            <p:cNvPr id="9" name="TextBox 8">
              <a:extLst>
                <a:ext uri="{FF2B5EF4-FFF2-40B4-BE49-F238E27FC236}">
                  <a16:creationId xmlns:a16="http://schemas.microsoft.com/office/drawing/2014/main" id="{17E1AB40-9775-4E7E-8CA6-7BAB682A5B39}"/>
                </a:ext>
              </a:extLst>
            </p:cNvPr>
            <p:cNvSpPr txBox="1"/>
            <p:nvPr/>
          </p:nvSpPr>
          <p:spPr>
            <a:xfrm>
              <a:off x="9834164" y="2255945"/>
              <a:ext cx="2245243" cy="3754874"/>
            </a:xfrm>
            <a:prstGeom prst="rect">
              <a:avLst/>
            </a:prstGeom>
            <a:noFill/>
          </p:spPr>
          <p:txBody>
            <a:bodyPr wrap="square" rtlCol="0">
              <a:spAutoFit/>
            </a:bodyPr>
            <a:lstStyle/>
            <a:p>
              <a:r>
                <a:rPr lang="en-US" sz="1700" b="1" dirty="0">
                  <a:latin typeface="Consolas" panose="020B0609020204030204" pitchFamily="49" charset="0"/>
                </a:rPr>
                <a:t>Scaling and Normalization:</a:t>
              </a:r>
            </a:p>
            <a:p>
              <a:r>
                <a:rPr lang="en-US" sz="1700" dirty="0">
                  <a:latin typeface="Consolas" panose="020B0609020204030204" pitchFamily="49" charset="0"/>
                </a:rPr>
                <a:t>Scaled 'age' and '</a:t>
              </a:r>
              <a:r>
                <a:rPr lang="en-US" sz="1700" dirty="0" err="1">
                  <a:latin typeface="Consolas" panose="020B0609020204030204" pitchFamily="49" charset="0"/>
                </a:rPr>
                <a:t>majority_vote</a:t>
              </a:r>
              <a:r>
                <a:rPr lang="en-US" sz="1700" dirty="0">
                  <a:latin typeface="Consolas" panose="020B0609020204030204" pitchFamily="49" charset="0"/>
                </a:rPr>
                <a:t>' attributes for homogeneity using Standard Scaler.</a:t>
              </a:r>
            </a:p>
            <a:p>
              <a:r>
                <a:rPr lang="en-US" sz="1700" dirty="0">
                  <a:latin typeface="Consolas" panose="020B0609020204030204" pitchFamily="49" charset="0"/>
                </a:rPr>
                <a:t>Ensured the dataset's effectiveness and robustness for subsequent analysis.</a:t>
              </a:r>
            </a:p>
            <a:p>
              <a:endParaRPr lang="en-IN" sz="1700" dirty="0">
                <a:latin typeface="Consolas" panose="020B0609020204030204" pitchFamily="49" charset="0"/>
              </a:endParaRPr>
            </a:p>
          </p:txBody>
        </p:sp>
      </p:grpSp>
      <p:grpSp>
        <p:nvGrpSpPr>
          <p:cNvPr id="10" name="Group 9">
            <a:extLst>
              <a:ext uri="{FF2B5EF4-FFF2-40B4-BE49-F238E27FC236}">
                <a16:creationId xmlns:a16="http://schemas.microsoft.com/office/drawing/2014/main" id="{E8CA38E3-9C6C-46FD-8AC7-071981A935E6}"/>
              </a:ext>
            </a:extLst>
          </p:cNvPr>
          <p:cNvGrpSpPr/>
          <p:nvPr/>
        </p:nvGrpSpPr>
        <p:grpSpPr>
          <a:xfrm>
            <a:off x="15705551" y="40031"/>
            <a:ext cx="2806431" cy="6872591"/>
            <a:chOff x="7200089" y="0"/>
            <a:chExt cx="2806431" cy="6872591"/>
          </a:xfrm>
        </p:grpSpPr>
        <p:sp>
          <p:nvSpPr>
            <p:cNvPr id="11" name="Freeform: Shape 10">
              <a:extLst>
                <a:ext uri="{FF2B5EF4-FFF2-40B4-BE49-F238E27FC236}">
                  <a16:creationId xmlns:a16="http://schemas.microsoft.com/office/drawing/2014/main" id="{E925E204-2285-4AA7-A564-0840412A0752}"/>
                </a:ext>
              </a:extLst>
            </p:cNvPr>
            <p:cNvSpPr/>
            <p:nvPr/>
          </p:nvSpPr>
          <p:spPr>
            <a:xfrm>
              <a:off x="7200089" y="0"/>
              <a:ext cx="2806431" cy="6872591"/>
            </a:xfrm>
            <a:custGeom>
              <a:avLst/>
              <a:gdLst>
                <a:gd name="connsiteX0" fmla="*/ 2448129 w 2806431"/>
                <a:gd name="connsiteY0" fmla="*/ 802534 h 6872591"/>
                <a:gd name="connsiteX1" fmla="*/ 2806431 w 2806431"/>
                <a:gd name="connsiteY1" fmla="*/ 1223256 h 6872591"/>
                <a:gd name="connsiteX2" fmla="*/ 2448129 w 2806431"/>
                <a:gd name="connsiteY2" fmla="*/ 1643978 h 6872591"/>
                <a:gd name="connsiteX3" fmla="*/ 0 w 2806431"/>
                <a:gd name="connsiteY3" fmla="*/ 0 h 6872591"/>
                <a:gd name="connsiteX4" fmla="*/ 2448128 w 2806431"/>
                <a:gd name="connsiteY4" fmla="*/ 0 h 6872591"/>
                <a:gd name="connsiteX5" fmla="*/ 2448128 w 2806431"/>
                <a:gd name="connsiteY5" fmla="*/ 6872591 h 6872591"/>
                <a:gd name="connsiteX6" fmla="*/ 0 w 2806431"/>
                <a:gd name="connsiteY6" fmla="*/ 6872591 h 687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6431" h="6872591">
                  <a:moveTo>
                    <a:pt x="2448129" y="802534"/>
                  </a:moveTo>
                  <a:lnTo>
                    <a:pt x="2806431" y="1223256"/>
                  </a:lnTo>
                  <a:lnTo>
                    <a:pt x="2448129" y="1643978"/>
                  </a:lnTo>
                  <a:close/>
                  <a:moveTo>
                    <a:pt x="0" y="0"/>
                  </a:moveTo>
                  <a:lnTo>
                    <a:pt x="2448128" y="0"/>
                  </a:lnTo>
                  <a:lnTo>
                    <a:pt x="2448128" y="6872591"/>
                  </a:lnTo>
                  <a:lnTo>
                    <a:pt x="0" y="6872591"/>
                  </a:lnTo>
                  <a:close/>
                </a:path>
              </a:pathLst>
            </a:custGeom>
            <a:solidFill>
              <a:schemeClr val="accent2">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2" name="TextBox 11">
              <a:extLst>
                <a:ext uri="{FF2B5EF4-FFF2-40B4-BE49-F238E27FC236}">
                  <a16:creationId xmlns:a16="http://schemas.microsoft.com/office/drawing/2014/main" id="{92A5BE57-BFAA-472E-BC69-FCB836866D98}"/>
                </a:ext>
              </a:extLst>
            </p:cNvPr>
            <p:cNvSpPr txBox="1"/>
            <p:nvPr/>
          </p:nvSpPr>
          <p:spPr>
            <a:xfrm>
              <a:off x="7773211" y="0"/>
              <a:ext cx="1541833" cy="2215991"/>
            </a:xfrm>
            <a:prstGeom prst="rect">
              <a:avLst/>
            </a:prstGeom>
            <a:noFill/>
          </p:spPr>
          <p:txBody>
            <a:bodyPr wrap="square" rtlCol="0">
              <a:spAutoFit/>
            </a:bodyPr>
            <a:lstStyle/>
            <a:p>
              <a:r>
                <a:rPr lang="en-US" sz="13800" dirty="0">
                  <a:latin typeface="Comic Sans MS" panose="030F0702030302020204" pitchFamily="66" charset="0"/>
                </a:rPr>
                <a:t>D</a:t>
              </a:r>
              <a:endParaRPr lang="en-IN" sz="13800" dirty="0">
                <a:latin typeface="Comic Sans MS" panose="030F0702030302020204" pitchFamily="66" charset="0"/>
              </a:endParaRPr>
            </a:p>
          </p:txBody>
        </p:sp>
        <p:sp>
          <p:nvSpPr>
            <p:cNvPr id="13" name="TextBox 12">
              <a:extLst>
                <a:ext uri="{FF2B5EF4-FFF2-40B4-BE49-F238E27FC236}">
                  <a16:creationId xmlns:a16="http://schemas.microsoft.com/office/drawing/2014/main" id="{34B16258-FD00-4CF9-82A3-EE80DC701898}"/>
                </a:ext>
              </a:extLst>
            </p:cNvPr>
            <p:cNvSpPr txBox="1"/>
            <p:nvPr/>
          </p:nvSpPr>
          <p:spPr>
            <a:xfrm>
              <a:off x="7369790" y="2255945"/>
              <a:ext cx="2245243" cy="4016484"/>
            </a:xfrm>
            <a:prstGeom prst="rect">
              <a:avLst/>
            </a:prstGeom>
            <a:noFill/>
          </p:spPr>
          <p:txBody>
            <a:bodyPr wrap="square" rtlCol="0">
              <a:spAutoFit/>
            </a:bodyPr>
            <a:lstStyle/>
            <a:p>
              <a:r>
                <a:rPr lang="en-US" sz="1700" b="1" dirty="0">
                  <a:latin typeface="Consolas" panose="020B0609020204030204" pitchFamily="49" charset="0"/>
                </a:rPr>
                <a:t>Categorical Encoding:</a:t>
              </a:r>
            </a:p>
            <a:p>
              <a:r>
                <a:rPr lang="en-US" sz="1700" dirty="0">
                  <a:latin typeface="Consolas" panose="020B0609020204030204" pitchFamily="49" charset="0"/>
                </a:rPr>
                <a:t>Encoded '</a:t>
              </a:r>
              <a:r>
                <a:rPr lang="en-US" sz="1700" dirty="0" err="1">
                  <a:latin typeface="Consolas" panose="020B0609020204030204" pitchFamily="49" charset="0"/>
                </a:rPr>
                <a:t>decision_type</a:t>
              </a:r>
              <a:r>
                <a:rPr lang="en-US" sz="1700" dirty="0">
                  <a:latin typeface="Consolas" panose="020B0609020204030204" pitchFamily="49" charset="0"/>
                </a:rPr>
                <a:t>' using Label Encoder for machine learning compatibility.</a:t>
              </a:r>
            </a:p>
            <a:p>
              <a:r>
                <a:rPr lang="en-US" sz="1700" dirty="0">
                  <a:latin typeface="Consolas" panose="020B0609020204030204" pitchFamily="49" charset="0"/>
                </a:rPr>
                <a:t>Selected a subset of relevant entries for manageable computational complexity.</a:t>
              </a:r>
            </a:p>
            <a:p>
              <a:endParaRPr lang="en-IN" sz="1700" dirty="0">
                <a:latin typeface="Consolas" panose="020B0609020204030204" pitchFamily="49" charset="0"/>
              </a:endParaRPr>
            </a:p>
          </p:txBody>
        </p:sp>
      </p:grpSp>
      <p:grpSp>
        <p:nvGrpSpPr>
          <p:cNvPr id="14" name="Group 13">
            <a:extLst>
              <a:ext uri="{FF2B5EF4-FFF2-40B4-BE49-F238E27FC236}">
                <a16:creationId xmlns:a16="http://schemas.microsoft.com/office/drawing/2014/main" id="{B7DA9227-5BDE-4B36-AB69-8CCD4472B817}"/>
              </a:ext>
            </a:extLst>
          </p:cNvPr>
          <p:cNvGrpSpPr/>
          <p:nvPr/>
        </p:nvGrpSpPr>
        <p:grpSpPr>
          <a:xfrm>
            <a:off x="15654338" y="31518"/>
            <a:ext cx="2723749" cy="6882319"/>
            <a:chOff x="4842304" y="-9729"/>
            <a:chExt cx="2723749" cy="6882319"/>
          </a:xfrm>
        </p:grpSpPr>
        <p:sp>
          <p:nvSpPr>
            <p:cNvPr id="15" name="Freeform: Shape 14">
              <a:extLst>
                <a:ext uri="{FF2B5EF4-FFF2-40B4-BE49-F238E27FC236}">
                  <a16:creationId xmlns:a16="http://schemas.microsoft.com/office/drawing/2014/main" id="{863FBFD0-D5B8-4344-B40B-2DBEDEAD2239}"/>
                </a:ext>
              </a:extLst>
            </p:cNvPr>
            <p:cNvSpPr/>
            <p:nvPr/>
          </p:nvSpPr>
          <p:spPr>
            <a:xfrm>
              <a:off x="4842304" y="-9729"/>
              <a:ext cx="2723749" cy="6882319"/>
            </a:xfrm>
            <a:custGeom>
              <a:avLst/>
              <a:gdLst>
                <a:gd name="connsiteX0" fmla="*/ 0 w 2723749"/>
                <a:gd name="connsiteY0" fmla="*/ 0 h 6858000"/>
                <a:gd name="connsiteX1" fmla="*/ 2373546 w 2723749"/>
                <a:gd name="connsiteY1" fmla="*/ 0 h 6858000"/>
                <a:gd name="connsiteX2" fmla="*/ 2373546 w 2723749"/>
                <a:gd name="connsiteY2" fmla="*/ 812047 h 6858000"/>
                <a:gd name="connsiteX3" fmla="*/ 2723749 w 2723749"/>
                <a:gd name="connsiteY3" fmla="*/ 1223258 h 6858000"/>
                <a:gd name="connsiteX4" fmla="*/ 2373546 w 2723749"/>
                <a:gd name="connsiteY4" fmla="*/ 1634468 h 6858000"/>
                <a:gd name="connsiteX5" fmla="*/ 2373546 w 2723749"/>
                <a:gd name="connsiteY5" fmla="*/ 6858000 h 6858000"/>
                <a:gd name="connsiteX6" fmla="*/ 0 w 272374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3749" h="6858000">
                  <a:moveTo>
                    <a:pt x="0" y="0"/>
                  </a:moveTo>
                  <a:lnTo>
                    <a:pt x="2373546" y="0"/>
                  </a:lnTo>
                  <a:lnTo>
                    <a:pt x="2373546" y="812047"/>
                  </a:lnTo>
                  <a:lnTo>
                    <a:pt x="2723749" y="1223258"/>
                  </a:lnTo>
                  <a:lnTo>
                    <a:pt x="2373546" y="1634468"/>
                  </a:lnTo>
                  <a:lnTo>
                    <a:pt x="2373546" y="6858000"/>
                  </a:lnTo>
                  <a:lnTo>
                    <a:pt x="0" y="6858000"/>
                  </a:lnTo>
                  <a:close/>
                </a:path>
              </a:pathLst>
            </a:custGeom>
            <a:solidFill>
              <a:schemeClr val="accent2">
                <a:lumMod val="60000"/>
                <a:lumOff val="4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6" name="TextBox 15">
              <a:extLst>
                <a:ext uri="{FF2B5EF4-FFF2-40B4-BE49-F238E27FC236}">
                  <a16:creationId xmlns:a16="http://schemas.microsoft.com/office/drawing/2014/main" id="{505BA880-034F-44CC-B455-54B9894F4A79}"/>
                </a:ext>
              </a:extLst>
            </p:cNvPr>
            <p:cNvSpPr txBox="1"/>
            <p:nvPr/>
          </p:nvSpPr>
          <p:spPr>
            <a:xfrm>
              <a:off x="5325083" y="-9728"/>
              <a:ext cx="1541833" cy="2215991"/>
            </a:xfrm>
            <a:prstGeom prst="rect">
              <a:avLst/>
            </a:prstGeom>
            <a:noFill/>
          </p:spPr>
          <p:txBody>
            <a:bodyPr wrap="square" rtlCol="0">
              <a:spAutoFit/>
            </a:bodyPr>
            <a:lstStyle/>
            <a:p>
              <a:r>
                <a:rPr lang="en-US" sz="13800" dirty="0">
                  <a:latin typeface="Comic Sans MS" panose="030F0702030302020204" pitchFamily="66" charset="0"/>
                </a:rPr>
                <a:t>C</a:t>
              </a:r>
              <a:endParaRPr lang="en-IN" sz="13800" dirty="0">
                <a:latin typeface="Comic Sans MS" panose="030F0702030302020204" pitchFamily="66" charset="0"/>
              </a:endParaRPr>
            </a:p>
          </p:txBody>
        </p:sp>
        <p:sp>
          <p:nvSpPr>
            <p:cNvPr id="17" name="TextBox 16">
              <a:extLst>
                <a:ext uri="{FF2B5EF4-FFF2-40B4-BE49-F238E27FC236}">
                  <a16:creationId xmlns:a16="http://schemas.microsoft.com/office/drawing/2014/main" id="{2A428160-0EC6-4A08-B4BD-C2F50D508ACA}"/>
                </a:ext>
              </a:extLst>
            </p:cNvPr>
            <p:cNvSpPr txBox="1"/>
            <p:nvPr/>
          </p:nvSpPr>
          <p:spPr>
            <a:xfrm>
              <a:off x="4930731" y="2255945"/>
              <a:ext cx="2245243" cy="3493264"/>
            </a:xfrm>
            <a:prstGeom prst="rect">
              <a:avLst/>
            </a:prstGeom>
            <a:noFill/>
          </p:spPr>
          <p:txBody>
            <a:bodyPr wrap="square" rtlCol="0">
              <a:spAutoFit/>
            </a:bodyPr>
            <a:lstStyle/>
            <a:p>
              <a:r>
                <a:rPr lang="en-US" sz="1700" b="1" dirty="0">
                  <a:latin typeface="Consolas" panose="020B0609020204030204" pitchFamily="49" charset="0"/>
                </a:rPr>
                <a:t>Data Cleansing:</a:t>
              </a:r>
            </a:p>
            <a:p>
              <a:r>
                <a:rPr lang="en-US" sz="1700" dirty="0">
                  <a:latin typeface="Consolas" panose="020B0609020204030204" pitchFamily="49" charset="0"/>
                </a:rPr>
                <a:t>Identified and addressed outliers and inconsistent values in '</a:t>
              </a:r>
              <a:r>
                <a:rPr lang="en-US" sz="1700" dirty="0" err="1">
                  <a:latin typeface="Consolas" panose="020B0609020204030204" pitchFamily="49" charset="0"/>
                </a:rPr>
                <a:t>majority_vote</a:t>
              </a:r>
              <a:r>
                <a:rPr lang="en-US" sz="1700" dirty="0">
                  <a:latin typeface="Consolas" panose="020B0609020204030204" pitchFamily="49" charset="0"/>
                </a:rPr>
                <a:t>.'</a:t>
              </a:r>
            </a:p>
            <a:p>
              <a:r>
                <a:rPr lang="en-US" sz="1700" dirty="0">
                  <a:latin typeface="Consolas" panose="020B0609020204030204" pitchFamily="49" charset="0"/>
                </a:rPr>
                <a:t>Removed instances with missing or erroneous data for dataset reliability.</a:t>
              </a:r>
            </a:p>
            <a:p>
              <a:endParaRPr lang="en-IN" sz="1700" dirty="0">
                <a:latin typeface="Consolas" panose="020B0609020204030204" pitchFamily="49" charset="0"/>
              </a:endParaRPr>
            </a:p>
          </p:txBody>
        </p:sp>
      </p:grpSp>
      <p:sp>
        <p:nvSpPr>
          <p:cNvPr id="18" name="TextBox 17">
            <a:extLst>
              <a:ext uri="{FF2B5EF4-FFF2-40B4-BE49-F238E27FC236}">
                <a16:creationId xmlns:a16="http://schemas.microsoft.com/office/drawing/2014/main" id="{BA1D932F-5F2A-4C5D-B845-EE147CA2D6E3}"/>
              </a:ext>
            </a:extLst>
          </p:cNvPr>
          <p:cNvSpPr txBox="1"/>
          <p:nvPr/>
        </p:nvSpPr>
        <p:spPr>
          <a:xfrm>
            <a:off x="15519816" y="2809751"/>
            <a:ext cx="2087895" cy="3145971"/>
          </a:xfrm>
          <a:prstGeom prst="rect">
            <a:avLst/>
          </a:prstGeom>
          <a:noFill/>
        </p:spPr>
        <p:txBody>
          <a:bodyPr wrap="square" rtlCol="0">
            <a:spAutoFit/>
          </a:bodyPr>
          <a:lstStyle/>
          <a:p>
            <a:endParaRPr lang="en-IN" dirty="0"/>
          </a:p>
        </p:txBody>
      </p:sp>
      <p:grpSp>
        <p:nvGrpSpPr>
          <p:cNvPr id="19" name="Group 18">
            <a:extLst>
              <a:ext uri="{FF2B5EF4-FFF2-40B4-BE49-F238E27FC236}">
                <a16:creationId xmlns:a16="http://schemas.microsoft.com/office/drawing/2014/main" id="{04D61150-97D6-4C23-970A-32735D041334}"/>
              </a:ext>
            </a:extLst>
          </p:cNvPr>
          <p:cNvGrpSpPr/>
          <p:nvPr/>
        </p:nvGrpSpPr>
        <p:grpSpPr>
          <a:xfrm>
            <a:off x="15400731" y="14496"/>
            <a:ext cx="2803191" cy="6889613"/>
            <a:chOff x="2465044" y="-31613"/>
            <a:chExt cx="2803191" cy="6889613"/>
          </a:xfrm>
        </p:grpSpPr>
        <p:sp>
          <p:nvSpPr>
            <p:cNvPr id="20" name="Freeform: Shape 19">
              <a:extLst>
                <a:ext uri="{FF2B5EF4-FFF2-40B4-BE49-F238E27FC236}">
                  <a16:creationId xmlns:a16="http://schemas.microsoft.com/office/drawing/2014/main" id="{6CC77735-2D74-4961-A87A-2679DB9894C9}"/>
                </a:ext>
              </a:extLst>
            </p:cNvPr>
            <p:cNvSpPr/>
            <p:nvPr/>
          </p:nvSpPr>
          <p:spPr>
            <a:xfrm>
              <a:off x="2465044" y="-14591"/>
              <a:ext cx="2803191" cy="6872591"/>
            </a:xfrm>
            <a:custGeom>
              <a:avLst/>
              <a:gdLst>
                <a:gd name="connsiteX0" fmla="*/ 0 w 2803191"/>
                <a:gd name="connsiteY0" fmla="*/ 0 h 6872591"/>
                <a:gd name="connsiteX1" fmla="*/ 2482174 w 2803191"/>
                <a:gd name="connsiteY1" fmla="*/ 0 h 6872591"/>
                <a:gd name="connsiteX2" fmla="*/ 2482174 w 2803191"/>
                <a:gd name="connsiteY2" fmla="*/ 851181 h 6872591"/>
                <a:gd name="connsiteX3" fmla="*/ 2803191 w 2803191"/>
                <a:gd name="connsiteY3" fmla="*/ 1228121 h 6872591"/>
                <a:gd name="connsiteX4" fmla="*/ 2482174 w 2803191"/>
                <a:gd name="connsiteY4" fmla="*/ 1605061 h 6872591"/>
                <a:gd name="connsiteX5" fmla="*/ 2482174 w 2803191"/>
                <a:gd name="connsiteY5" fmla="*/ 6872591 h 6872591"/>
                <a:gd name="connsiteX6" fmla="*/ 0 w 2803191"/>
                <a:gd name="connsiteY6" fmla="*/ 6872591 h 687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3191" h="6872591">
                  <a:moveTo>
                    <a:pt x="0" y="0"/>
                  </a:moveTo>
                  <a:lnTo>
                    <a:pt x="2482174" y="0"/>
                  </a:lnTo>
                  <a:lnTo>
                    <a:pt x="2482174" y="851181"/>
                  </a:lnTo>
                  <a:lnTo>
                    <a:pt x="2803191" y="1228121"/>
                  </a:lnTo>
                  <a:lnTo>
                    <a:pt x="2482174" y="1605061"/>
                  </a:lnTo>
                  <a:lnTo>
                    <a:pt x="2482174" y="6872591"/>
                  </a:lnTo>
                  <a:lnTo>
                    <a:pt x="0" y="6872591"/>
                  </a:lnTo>
                  <a:close/>
                </a:path>
              </a:pathLst>
            </a:custGeom>
            <a:solidFill>
              <a:schemeClr val="accent2">
                <a:lumMod val="40000"/>
                <a:lumOff val="6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IN" sz="9600" dirty="0">
                <a:latin typeface="Comic Sans MS" panose="030F0702030302020204" pitchFamily="66" charset="0"/>
              </a:endParaRPr>
            </a:p>
          </p:txBody>
        </p:sp>
        <p:sp>
          <p:nvSpPr>
            <p:cNvPr id="21" name="TextBox 20">
              <a:extLst>
                <a:ext uri="{FF2B5EF4-FFF2-40B4-BE49-F238E27FC236}">
                  <a16:creationId xmlns:a16="http://schemas.microsoft.com/office/drawing/2014/main" id="{EBC8CF4B-6532-4C84-9A62-165F39898BCF}"/>
                </a:ext>
              </a:extLst>
            </p:cNvPr>
            <p:cNvSpPr txBox="1"/>
            <p:nvPr/>
          </p:nvSpPr>
          <p:spPr>
            <a:xfrm>
              <a:off x="2806292" y="-31613"/>
              <a:ext cx="1351736" cy="2215991"/>
            </a:xfrm>
            <a:prstGeom prst="rect">
              <a:avLst/>
            </a:prstGeom>
            <a:noFill/>
          </p:spPr>
          <p:txBody>
            <a:bodyPr wrap="square" rtlCol="0">
              <a:spAutoFit/>
            </a:bodyPr>
            <a:lstStyle/>
            <a:p>
              <a:r>
                <a:rPr lang="en-US" sz="13800" dirty="0">
                  <a:latin typeface="Comic Sans MS" panose="030F0702030302020204" pitchFamily="66" charset="0"/>
                </a:rPr>
                <a:t>B</a:t>
              </a:r>
              <a:endParaRPr lang="en-IN" sz="13800" dirty="0">
                <a:latin typeface="Comic Sans MS" panose="030F0702030302020204" pitchFamily="66" charset="0"/>
              </a:endParaRPr>
            </a:p>
          </p:txBody>
        </p:sp>
        <p:sp>
          <p:nvSpPr>
            <p:cNvPr id="22" name="TextBox 21">
              <a:extLst>
                <a:ext uri="{FF2B5EF4-FFF2-40B4-BE49-F238E27FC236}">
                  <a16:creationId xmlns:a16="http://schemas.microsoft.com/office/drawing/2014/main" id="{47C22157-333F-4619-8B14-2786293B5C94}"/>
                </a:ext>
              </a:extLst>
            </p:cNvPr>
            <p:cNvSpPr txBox="1"/>
            <p:nvPr/>
          </p:nvSpPr>
          <p:spPr>
            <a:xfrm>
              <a:off x="2520409" y="2234060"/>
              <a:ext cx="2245243" cy="4016484"/>
            </a:xfrm>
            <a:prstGeom prst="rect">
              <a:avLst/>
            </a:prstGeom>
            <a:noFill/>
          </p:spPr>
          <p:txBody>
            <a:bodyPr wrap="square" rtlCol="0">
              <a:spAutoFit/>
            </a:bodyPr>
            <a:lstStyle/>
            <a:p>
              <a:r>
                <a:rPr lang="en-US" sz="1700" b="1" dirty="0">
                  <a:latin typeface="Consolas" panose="020B0609020204030204" pitchFamily="49" charset="0"/>
                </a:rPr>
                <a:t>Data Preparation:</a:t>
              </a:r>
            </a:p>
            <a:p>
              <a:r>
                <a:rPr lang="en-US" sz="1700" dirty="0">
                  <a:latin typeface="Consolas" panose="020B0609020204030204" pitchFamily="49" charset="0"/>
                </a:rPr>
                <a:t>Transformed 'judgement' attribute into uppercase strings, retaining instances with 'TRUE' values.</a:t>
              </a:r>
            </a:p>
            <a:p>
              <a:r>
                <a:rPr lang="en-US" sz="1700" dirty="0">
                  <a:latin typeface="Consolas" panose="020B0609020204030204" pitchFamily="49" charset="0"/>
                </a:rPr>
                <a:t>Added an 'age' column based on timestamps for contextual information.</a:t>
              </a:r>
            </a:p>
            <a:p>
              <a:endParaRPr lang="en-IN" sz="1700" dirty="0">
                <a:latin typeface="Consolas" panose="020B0609020204030204" pitchFamily="49" charset="0"/>
              </a:endParaRPr>
            </a:p>
          </p:txBody>
        </p:sp>
      </p:grpSp>
      <p:grpSp>
        <p:nvGrpSpPr>
          <p:cNvPr id="23" name="Group 22">
            <a:extLst>
              <a:ext uri="{FF2B5EF4-FFF2-40B4-BE49-F238E27FC236}">
                <a16:creationId xmlns:a16="http://schemas.microsoft.com/office/drawing/2014/main" id="{3B53F0CB-8276-4B57-B1C3-BA3C83E9BE3B}"/>
              </a:ext>
            </a:extLst>
          </p:cNvPr>
          <p:cNvGrpSpPr/>
          <p:nvPr/>
        </p:nvGrpSpPr>
        <p:grpSpPr>
          <a:xfrm>
            <a:off x="15249875" y="27871"/>
            <a:ext cx="2820211" cy="6867727"/>
            <a:chOff x="0" y="-9727"/>
            <a:chExt cx="2820211" cy="6867727"/>
          </a:xfrm>
        </p:grpSpPr>
        <p:sp>
          <p:nvSpPr>
            <p:cNvPr id="24" name="Freeform: Shape 23">
              <a:extLst>
                <a:ext uri="{FF2B5EF4-FFF2-40B4-BE49-F238E27FC236}">
                  <a16:creationId xmlns:a16="http://schemas.microsoft.com/office/drawing/2014/main" id="{2CD1CAC2-5C70-4821-BCC9-D73C22EF32B6}"/>
                </a:ext>
              </a:extLst>
            </p:cNvPr>
            <p:cNvSpPr/>
            <p:nvPr/>
          </p:nvSpPr>
          <p:spPr>
            <a:xfrm>
              <a:off x="0" y="0"/>
              <a:ext cx="2820211" cy="6858000"/>
            </a:xfrm>
            <a:custGeom>
              <a:avLst/>
              <a:gdLst>
                <a:gd name="connsiteX0" fmla="*/ 0 w 2820211"/>
                <a:gd name="connsiteY0" fmla="*/ 0 h 6858000"/>
                <a:gd name="connsiteX1" fmla="*/ 2474068 w 2820211"/>
                <a:gd name="connsiteY1" fmla="*/ 0 h 6858000"/>
                <a:gd name="connsiteX2" fmla="*/ 2474068 w 2820211"/>
                <a:gd name="connsiteY2" fmla="*/ 816814 h 6858000"/>
                <a:gd name="connsiteX3" fmla="*/ 2820211 w 2820211"/>
                <a:gd name="connsiteY3" fmla="*/ 1223257 h 6858000"/>
                <a:gd name="connsiteX4" fmla="*/ 2474068 w 2820211"/>
                <a:gd name="connsiteY4" fmla="*/ 1629700 h 6858000"/>
                <a:gd name="connsiteX5" fmla="*/ 2474068 w 2820211"/>
                <a:gd name="connsiteY5" fmla="*/ 6858000 h 6858000"/>
                <a:gd name="connsiteX6" fmla="*/ 0 w 282021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0211" h="6858000">
                  <a:moveTo>
                    <a:pt x="0" y="0"/>
                  </a:moveTo>
                  <a:lnTo>
                    <a:pt x="2474068" y="0"/>
                  </a:lnTo>
                  <a:lnTo>
                    <a:pt x="2474068" y="816814"/>
                  </a:lnTo>
                  <a:lnTo>
                    <a:pt x="2820211" y="1223257"/>
                  </a:lnTo>
                  <a:lnTo>
                    <a:pt x="2474068" y="1629700"/>
                  </a:lnTo>
                  <a:lnTo>
                    <a:pt x="2474068" y="6858000"/>
                  </a:lnTo>
                  <a:lnTo>
                    <a:pt x="0" y="6858000"/>
                  </a:lnTo>
                  <a:close/>
                </a:path>
              </a:pathLst>
            </a:custGeom>
            <a:solidFill>
              <a:schemeClr val="accent2">
                <a:lumMod val="20000"/>
                <a:lumOff val="8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solidFill>
                  <a:schemeClr val="accent4">
                    <a:lumMod val="20000"/>
                    <a:lumOff val="80000"/>
                  </a:schemeClr>
                </a:solidFill>
              </a:endParaRPr>
            </a:p>
          </p:txBody>
        </p:sp>
        <p:sp>
          <p:nvSpPr>
            <p:cNvPr id="25" name="TextBox 24">
              <a:extLst>
                <a:ext uri="{FF2B5EF4-FFF2-40B4-BE49-F238E27FC236}">
                  <a16:creationId xmlns:a16="http://schemas.microsoft.com/office/drawing/2014/main" id="{3CD1CD91-DF22-4615-8EDE-20197F89E48E}"/>
                </a:ext>
              </a:extLst>
            </p:cNvPr>
            <p:cNvSpPr txBox="1"/>
            <p:nvPr/>
          </p:nvSpPr>
          <p:spPr>
            <a:xfrm>
              <a:off x="269941" y="-9727"/>
              <a:ext cx="1541833" cy="2215991"/>
            </a:xfrm>
            <a:prstGeom prst="rect">
              <a:avLst/>
            </a:prstGeom>
            <a:noFill/>
          </p:spPr>
          <p:txBody>
            <a:bodyPr wrap="square" rtlCol="0">
              <a:spAutoFit/>
            </a:bodyPr>
            <a:lstStyle/>
            <a:p>
              <a:r>
                <a:rPr lang="en-US" sz="13800" dirty="0">
                  <a:latin typeface="Comic Sans MS" panose="030F0702030302020204" pitchFamily="66" charset="0"/>
                </a:rPr>
                <a:t>A</a:t>
              </a:r>
              <a:endParaRPr lang="en-IN" sz="13800" dirty="0">
                <a:latin typeface="Comic Sans MS" panose="030F0702030302020204" pitchFamily="66" charset="0"/>
              </a:endParaRPr>
            </a:p>
          </p:txBody>
        </p:sp>
        <p:sp>
          <p:nvSpPr>
            <p:cNvPr id="26" name="TextBox 25">
              <a:extLst>
                <a:ext uri="{FF2B5EF4-FFF2-40B4-BE49-F238E27FC236}">
                  <a16:creationId xmlns:a16="http://schemas.microsoft.com/office/drawing/2014/main" id="{3684858C-5CA3-4DD2-B620-E620A028E719}"/>
                </a:ext>
              </a:extLst>
            </p:cNvPr>
            <p:cNvSpPr txBox="1"/>
            <p:nvPr/>
          </p:nvSpPr>
          <p:spPr>
            <a:xfrm>
              <a:off x="112593" y="2255945"/>
              <a:ext cx="2245243" cy="4278094"/>
            </a:xfrm>
            <a:prstGeom prst="rect">
              <a:avLst/>
            </a:prstGeom>
            <a:noFill/>
          </p:spPr>
          <p:txBody>
            <a:bodyPr wrap="square" rtlCol="0">
              <a:spAutoFit/>
            </a:bodyPr>
            <a:lstStyle/>
            <a:p>
              <a:r>
                <a:rPr lang="en-US" sz="1700" b="1" dirty="0">
                  <a:latin typeface="Consolas" panose="020B0609020204030204" pitchFamily="49" charset="0"/>
                </a:rPr>
                <a:t>Case Documents Acquisition:</a:t>
              </a:r>
            </a:p>
            <a:p>
              <a:pPr marL="285750" indent="-285750">
                <a:buFont typeface="Arial" panose="020B0604020202020204" pitchFamily="34" charset="0"/>
                <a:buChar char="•"/>
              </a:pPr>
              <a:r>
                <a:rPr lang="en-US" sz="1700" dirty="0">
                  <a:latin typeface="Consolas" panose="020B0609020204030204" pitchFamily="49" charset="0"/>
                </a:rPr>
                <a:t>Obtained Indian Supreme Court judgments from kaggle.com, resulting in a corpus of over 3000 cases.</a:t>
              </a:r>
            </a:p>
            <a:p>
              <a:pPr marL="285750" indent="-285750">
                <a:buFont typeface="Arial" panose="020B0604020202020204" pitchFamily="34" charset="0"/>
                <a:buChar char="•"/>
              </a:pPr>
              <a:r>
                <a:rPr lang="en-US" sz="1700" dirty="0">
                  <a:latin typeface="Consolas" panose="020B0609020204030204" pitchFamily="49" charset="0"/>
                </a:rPr>
                <a:t>Refined to 1001 cleaned and finalized cases for analysis.</a:t>
              </a:r>
            </a:p>
            <a:p>
              <a:endParaRPr lang="en-IN" sz="1700" dirty="0">
                <a:latin typeface="Consolas" panose="020B0609020204030204" pitchFamily="49" charset="0"/>
              </a:endParaRPr>
            </a:p>
          </p:txBody>
        </p:sp>
      </p:grpSp>
      <p:sp>
        <p:nvSpPr>
          <p:cNvPr id="27" name="TextBox 26">
            <a:extLst>
              <a:ext uri="{FF2B5EF4-FFF2-40B4-BE49-F238E27FC236}">
                <a16:creationId xmlns:a16="http://schemas.microsoft.com/office/drawing/2014/main" id="{96DDA6DF-ECB5-464D-907C-215435EF263A}"/>
              </a:ext>
            </a:extLst>
          </p:cNvPr>
          <p:cNvSpPr txBox="1"/>
          <p:nvPr/>
        </p:nvSpPr>
        <p:spPr>
          <a:xfrm>
            <a:off x="12215679" y="40031"/>
            <a:ext cx="3025317" cy="523220"/>
          </a:xfrm>
          <a:prstGeom prst="rect">
            <a:avLst/>
          </a:prstGeom>
          <a:noFill/>
        </p:spPr>
        <p:txBody>
          <a:bodyPr wrap="square" rtlCol="0">
            <a:spAutoFit/>
          </a:bodyPr>
          <a:lstStyle/>
          <a:p>
            <a:r>
              <a:rPr lang="en-US" sz="2800" dirty="0">
                <a:latin typeface="Sitka Subheading Semibold" pitchFamily="2" charset="0"/>
              </a:rPr>
              <a:t>Data Preparation</a:t>
            </a:r>
            <a:endParaRPr lang="en-IN" sz="2000" dirty="0">
              <a:latin typeface="Sitka Subheading Semibold" pitchFamily="2" charset="0"/>
            </a:endParaRPr>
          </a:p>
        </p:txBody>
      </p:sp>
    </p:spTree>
    <p:extLst>
      <p:ext uri="{BB962C8B-B14F-4D97-AF65-F5344CB8AC3E}">
        <p14:creationId xmlns:p14="http://schemas.microsoft.com/office/powerpoint/2010/main" val="6189469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65000"/>
              </a:schemeClr>
            </a:gs>
            <a:gs pos="100000">
              <a:schemeClr val="accent3">
                <a:lumMod val="75000"/>
              </a:schemeClr>
            </a:gs>
            <a:gs pos="98000">
              <a:schemeClr val="accent3"/>
            </a:gs>
          </a:gsLst>
          <a:path path="circle">
            <a:fillToRect l="100000" t="100000"/>
          </a:path>
        </a:gra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8B0431C-64E6-4A3C-BF12-6258F1E9C26D}"/>
              </a:ext>
            </a:extLst>
          </p:cNvPr>
          <p:cNvSpPr txBox="1"/>
          <p:nvPr/>
        </p:nvSpPr>
        <p:spPr>
          <a:xfrm>
            <a:off x="247285" y="2041642"/>
            <a:ext cx="11841803" cy="4893647"/>
          </a:xfrm>
          <a:prstGeom prst="rect">
            <a:avLst/>
          </a:prstGeom>
          <a:noFill/>
        </p:spPr>
        <p:txBody>
          <a:bodyPr wrap="square" rtlCol="0">
            <a:spAutoFit/>
          </a:bodyPr>
          <a:lstStyle/>
          <a:p>
            <a:pPr algn="l">
              <a:buFont typeface="+mj-lt"/>
              <a:buAutoNum type="arabicPeriod"/>
            </a:pPr>
            <a:r>
              <a:rPr lang="en-US" sz="2600" b="1" i="0" dirty="0">
                <a:solidFill>
                  <a:srgbClr val="FF0000"/>
                </a:solidFill>
                <a:effectLst>
                  <a:outerShdw blurRad="266700" dist="38100" dir="5400000" algn="t" rotWithShape="0">
                    <a:prstClr val="black">
                      <a:alpha val="64000"/>
                    </a:prstClr>
                  </a:outerShdw>
                </a:effectLst>
                <a:latin typeface="Arial" panose="020B0604020202020204" pitchFamily="34" charset="0"/>
                <a:cs typeface="Arial" panose="020B0604020202020204" pitchFamily="34" charset="0"/>
              </a:rPr>
              <a:t>Utilizing Scikit-learn and Python:</a:t>
            </a:r>
            <a:r>
              <a:rPr lang="en-US" sz="2600" b="0" i="0" dirty="0">
                <a:solidFill>
                  <a:srgbClr val="FF0000"/>
                </a:solidFill>
                <a:effectLst>
                  <a:outerShdw blurRad="266700" dist="38100" dir="5400000" algn="t" rotWithShape="0">
                    <a:prstClr val="black">
                      <a:alpha val="64000"/>
                    </a:prstClr>
                  </a:outerShdw>
                </a:effectLst>
                <a:latin typeface="Arial" panose="020B0604020202020204" pitchFamily="34" charset="0"/>
                <a:cs typeface="Arial" panose="020B0604020202020204" pitchFamily="34" charset="0"/>
              </a:rPr>
              <a:t> </a:t>
            </a:r>
            <a:r>
              <a:rPr lang="en-US" sz="2600" b="0" i="0" dirty="0">
                <a:effectLst>
                  <a:outerShdw blurRad="266700" dist="38100" dir="5400000" algn="t" rotWithShape="0">
                    <a:prstClr val="black">
                      <a:alpha val="64000"/>
                    </a:prstClr>
                  </a:outerShdw>
                </a:effectLst>
                <a:latin typeface="Arial" panose="020B0604020202020204" pitchFamily="34" charset="0"/>
                <a:cs typeface="Arial" panose="020B0604020202020204" pitchFamily="34" charset="0"/>
              </a:rPr>
              <a:t>This work harmoniously combines the capabilities of Scikit-learn [13],[14], a well-established machine learning library, and Python, providing a robust programming environment that streamlines SVM and K-Means implementation.</a:t>
            </a:r>
          </a:p>
          <a:p>
            <a:pPr algn="l">
              <a:buFont typeface="+mj-lt"/>
              <a:buAutoNum type="arabicPeriod"/>
            </a:pPr>
            <a:r>
              <a:rPr lang="en-US" sz="2600" b="1" i="0" dirty="0">
                <a:solidFill>
                  <a:srgbClr val="FF0000"/>
                </a:solidFill>
                <a:effectLst>
                  <a:outerShdw blurRad="266700" dist="38100" dir="5400000" algn="t" rotWithShape="0">
                    <a:prstClr val="black">
                      <a:alpha val="64000"/>
                    </a:prstClr>
                  </a:outerShdw>
                </a:effectLst>
                <a:latin typeface="Arial" panose="020B0604020202020204" pitchFamily="34" charset="0"/>
                <a:cs typeface="Arial" panose="020B0604020202020204" pitchFamily="34" charset="0"/>
              </a:rPr>
              <a:t>Comprehensive Classification Report:</a:t>
            </a:r>
            <a:r>
              <a:rPr lang="en-US" sz="2600" b="0" i="0" dirty="0">
                <a:solidFill>
                  <a:srgbClr val="FF0000"/>
                </a:solidFill>
                <a:effectLst>
                  <a:outerShdw blurRad="266700" dist="38100" dir="5400000" algn="t" rotWithShape="0">
                    <a:prstClr val="black">
                      <a:alpha val="64000"/>
                    </a:prstClr>
                  </a:outerShdw>
                </a:effectLst>
                <a:latin typeface="Arial" panose="020B0604020202020204" pitchFamily="34" charset="0"/>
                <a:cs typeface="Arial" panose="020B0604020202020204" pitchFamily="34" charset="0"/>
              </a:rPr>
              <a:t> </a:t>
            </a:r>
            <a:r>
              <a:rPr lang="en-US" sz="2600" b="0" i="0" dirty="0">
                <a:effectLst>
                  <a:outerShdw blurRad="266700" dist="38100" dir="5400000" algn="t" rotWithShape="0">
                    <a:prstClr val="black">
                      <a:alpha val="64000"/>
                    </a:prstClr>
                  </a:outerShdw>
                </a:effectLst>
                <a:latin typeface="Arial" panose="020B0604020202020204" pitchFamily="34" charset="0"/>
                <a:cs typeface="Arial" panose="020B0604020202020204" pitchFamily="34" charset="0"/>
              </a:rPr>
              <a:t>After successfully training the SVM and K-Means classifiers [6], a comprehensive classification report is presented for each classifier, shedding light on their predictive abilities and performance characteristics.</a:t>
            </a:r>
          </a:p>
          <a:p>
            <a:pPr algn="l">
              <a:buFont typeface="+mj-lt"/>
              <a:buAutoNum type="arabicPeriod"/>
            </a:pPr>
            <a:r>
              <a:rPr lang="en-US" sz="2600" b="1" i="0" dirty="0">
                <a:solidFill>
                  <a:srgbClr val="FF0000"/>
                </a:solidFill>
                <a:effectLst>
                  <a:outerShdw blurRad="266700" dist="38100" dir="5400000" algn="t" rotWithShape="0">
                    <a:prstClr val="black">
                      <a:alpha val="64000"/>
                    </a:prstClr>
                  </a:outerShdw>
                </a:effectLst>
                <a:latin typeface="Arial" panose="020B0604020202020204" pitchFamily="34" charset="0"/>
                <a:cs typeface="Arial" panose="020B0604020202020204" pitchFamily="34" charset="0"/>
              </a:rPr>
              <a:t>Evaluating Model Effectiveness:</a:t>
            </a:r>
            <a:r>
              <a:rPr lang="en-US" sz="2600" b="0" i="0" dirty="0">
                <a:solidFill>
                  <a:srgbClr val="FF0000"/>
                </a:solidFill>
                <a:effectLst>
                  <a:outerShdw blurRad="266700" dist="38100" dir="5400000" algn="t" rotWithShape="0">
                    <a:prstClr val="black">
                      <a:alpha val="64000"/>
                    </a:prstClr>
                  </a:outerShdw>
                </a:effectLst>
                <a:latin typeface="Arial" panose="020B0604020202020204" pitchFamily="34" charset="0"/>
                <a:cs typeface="Arial" panose="020B0604020202020204" pitchFamily="34" charset="0"/>
              </a:rPr>
              <a:t> </a:t>
            </a:r>
            <a:r>
              <a:rPr lang="en-US" sz="2600" b="0" i="0" dirty="0">
                <a:effectLst>
                  <a:outerShdw blurRad="266700" dist="38100" dir="5400000" algn="t" rotWithShape="0">
                    <a:prstClr val="black">
                      <a:alpha val="64000"/>
                    </a:prstClr>
                  </a:outerShdw>
                </a:effectLst>
                <a:latin typeface="Arial" panose="020B0604020202020204" pitchFamily="34" charset="0"/>
                <a:cs typeface="Arial" panose="020B0604020202020204" pitchFamily="34" charset="0"/>
              </a:rPr>
              <a:t>These results hold significance in evaluating Legal Acumen's effectiveness, providing profound insights into its predictive accuracy and potential real-world applications.</a:t>
            </a:r>
          </a:p>
          <a:p>
            <a:endParaRPr lang="en-US" sz="2600" dirty="0">
              <a:effectLst>
                <a:outerShdw blurRad="266700" dist="38100" dir="5400000" algn="t" rotWithShape="0">
                  <a:prstClr val="black">
                    <a:alpha val="64000"/>
                  </a:prstClr>
                </a:outerShdw>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CC2521CB-1291-47E9-BA1D-D0B2503A1D4F}"/>
              </a:ext>
            </a:extLst>
          </p:cNvPr>
          <p:cNvSpPr txBox="1"/>
          <p:nvPr/>
        </p:nvSpPr>
        <p:spPr>
          <a:xfrm>
            <a:off x="2240382" y="563251"/>
            <a:ext cx="7625283" cy="1015663"/>
          </a:xfrm>
          <a:prstGeom prst="rect">
            <a:avLst/>
          </a:prstGeom>
          <a:noFill/>
        </p:spPr>
        <p:txBody>
          <a:bodyPr wrap="square" rtlCol="0">
            <a:spAutoFit/>
          </a:bodyPr>
          <a:lstStyle/>
          <a:p>
            <a:r>
              <a:rPr lang="en-IN" sz="6000" b="0" i="0" dirty="0">
                <a:solidFill>
                  <a:srgbClr val="FF0000"/>
                </a:solidFill>
                <a:effectLst>
                  <a:outerShdw blurRad="177800" dist="38100" dir="5400000" algn="t" rotWithShape="0">
                    <a:prstClr val="black">
                      <a:alpha val="63000"/>
                    </a:prstClr>
                  </a:outerShdw>
                </a:effectLst>
                <a:latin typeface="Segoe Print" panose="02000600000000000000" pitchFamily="2" charset="0"/>
                <a:ea typeface="SimSun" panose="02010600030101010101" pitchFamily="2" charset="-122"/>
              </a:rPr>
              <a:t>Classifier Modelling </a:t>
            </a:r>
            <a:endParaRPr lang="en-IN" sz="6000" dirty="0">
              <a:solidFill>
                <a:srgbClr val="FF0000"/>
              </a:solidFill>
              <a:effectLst>
                <a:outerShdw blurRad="177800" dist="38100" dir="5400000" algn="t" rotWithShape="0">
                  <a:prstClr val="black">
                    <a:alpha val="63000"/>
                  </a:prstClr>
                </a:outerShdw>
              </a:effectLst>
              <a:latin typeface="Segoe Print" panose="02000600000000000000" pitchFamily="2" charset="0"/>
              <a:ea typeface="SimSun" panose="02010600030101010101" pitchFamily="2" charset="-122"/>
            </a:endParaRPr>
          </a:p>
        </p:txBody>
      </p:sp>
      <p:grpSp>
        <p:nvGrpSpPr>
          <p:cNvPr id="5" name="Group 4">
            <a:extLst>
              <a:ext uri="{FF2B5EF4-FFF2-40B4-BE49-F238E27FC236}">
                <a16:creationId xmlns:a16="http://schemas.microsoft.com/office/drawing/2014/main" id="{2DCA7750-1BCC-41A6-801A-62C7B6230E02}"/>
              </a:ext>
            </a:extLst>
          </p:cNvPr>
          <p:cNvGrpSpPr/>
          <p:nvPr/>
        </p:nvGrpSpPr>
        <p:grpSpPr>
          <a:xfrm>
            <a:off x="15466391" y="14494"/>
            <a:ext cx="3190516" cy="6899343"/>
            <a:chOff x="9395455" y="-1"/>
            <a:chExt cx="3190516" cy="6899343"/>
          </a:xfrm>
        </p:grpSpPr>
        <p:sp>
          <p:nvSpPr>
            <p:cNvPr id="6" name="Freeform: Shape 5">
              <a:extLst>
                <a:ext uri="{FF2B5EF4-FFF2-40B4-BE49-F238E27FC236}">
                  <a16:creationId xmlns:a16="http://schemas.microsoft.com/office/drawing/2014/main" id="{7308783A-67D6-4F8A-8FA6-28F21A2D1D98}"/>
                </a:ext>
              </a:extLst>
            </p:cNvPr>
            <p:cNvSpPr/>
            <p:nvPr/>
          </p:nvSpPr>
          <p:spPr>
            <a:xfrm>
              <a:off x="9395455" y="26751"/>
              <a:ext cx="3190516" cy="6872591"/>
            </a:xfrm>
            <a:custGeom>
              <a:avLst/>
              <a:gdLst>
                <a:gd name="connsiteX0" fmla="*/ 0 w 2900469"/>
                <a:gd name="connsiteY0" fmla="*/ 0 h 6872591"/>
                <a:gd name="connsiteX1" fmla="*/ 2563239 w 2900469"/>
                <a:gd name="connsiteY1" fmla="*/ 0 h 6872591"/>
                <a:gd name="connsiteX2" fmla="*/ 2563239 w 2900469"/>
                <a:gd name="connsiteY2" fmla="*/ 832142 h 6872591"/>
                <a:gd name="connsiteX3" fmla="*/ 2900469 w 2900469"/>
                <a:gd name="connsiteY3" fmla="*/ 1228121 h 6872591"/>
                <a:gd name="connsiteX4" fmla="*/ 2563239 w 2900469"/>
                <a:gd name="connsiteY4" fmla="*/ 1624100 h 6872591"/>
                <a:gd name="connsiteX5" fmla="*/ 2563239 w 2900469"/>
                <a:gd name="connsiteY5" fmla="*/ 6872591 h 6872591"/>
                <a:gd name="connsiteX6" fmla="*/ 0 w 2900469"/>
                <a:gd name="connsiteY6" fmla="*/ 6872591 h 687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00469" h="6872591">
                  <a:moveTo>
                    <a:pt x="0" y="0"/>
                  </a:moveTo>
                  <a:lnTo>
                    <a:pt x="2563239" y="0"/>
                  </a:lnTo>
                  <a:lnTo>
                    <a:pt x="2563239" y="832142"/>
                  </a:lnTo>
                  <a:lnTo>
                    <a:pt x="2900469" y="1228121"/>
                  </a:lnTo>
                  <a:lnTo>
                    <a:pt x="2563239" y="1624100"/>
                  </a:lnTo>
                  <a:lnTo>
                    <a:pt x="2563239" y="6872591"/>
                  </a:lnTo>
                  <a:lnTo>
                    <a:pt x="0" y="6872591"/>
                  </a:lnTo>
                  <a:close/>
                </a:path>
              </a:pathLst>
            </a:custGeom>
            <a:solidFill>
              <a:schemeClr val="accent2">
                <a:lumMod val="5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7" name="TextBox 6">
              <a:extLst>
                <a:ext uri="{FF2B5EF4-FFF2-40B4-BE49-F238E27FC236}">
                  <a16:creationId xmlns:a16="http://schemas.microsoft.com/office/drawing/2014/main" id="{CAA0629F-22E4-47C5-8399-3A5B8ED7AC3C}"/>
                </a:ext>
              </a:extLst>
            </p:cNvPr>
            <p:cNvSpPr txBox="1"/>
            <p:nvPr/>
          </p:nvSpPr>
          <p:spPr>
            <a:xfrm>
              <a:off x="10238586" y="-1"/>
              <a:ext cx="1541833" cy="2215991"/>
            </a:xfrm>
            <a:prstGeom prst="rect">
              <a:avLst/>
            </a:prstGeom>
            <a:noFill/>
          </p:spPr>
          <p:txBody>
            <a:bodyPr wrap="square" rtlCol="0">
              <a:spAutoFit/>
            </a:bodyPr>
            <a:lstStyle/>
            <a:p>
              <a:r>
                <a:rPr lang="en-US" sz="13800" dirty="0">
                  <a:latin typeface="Comic Sans MS" panose="030F0702030302020204" pitchFamily="66" charset="0"/>
                </a:rPr>
                <a:t>E</a:t>
              </a:r>
              <a:endParaRPr lang="en-IN" sz="13800" dirty="0">
                <a:latin typeface="Comic Sans MS" panose="030F0702030302020204" pitchFamily="66" charset="0"/>
              </a:endParaRPr>
            </a:p>
          </p:txBody>
        </p:sp>
        <p:sp>
          <p:nvSpPr>
            <p:cNvPr id="9" name="TextBox 8">
              <a:extLst>
                <a:ext uri="{FF2B5EF4-FFF2-40B4-BE49-F238E27FC236}">
                  <a16:creationId xmlns:a16="http://schemas.microsoft.com/office/drawing/2014/main" id="{17E1AB40-9775-4E7E-8CA6-7BAB682A5B39}"/>
                </a:ext>
              </a:extLst>
            </p:cNvPr>
            <p:cNvSpPr txBox="1"/>
            <p:nvPr/>
          </p:nvSpPr>
          <p:spPr>
            <a:xfrm>
              <a:off x="9834164" y="2255945"/>
              <a:ext cx="2245243" cy="3754874"/>
            </a:xfrm>
            <a:prstGeom prst="rect">
              <a:avLst/>
            </a:prstGeom>
            <a:noFill/>
          </p:spPr>
          <p:txBody>
            <a:bodyPr wrap="square" rtlCol="0">
              <a:spAutoFit/>
            </a:bodyPr>
            <a:lstStyle/>
            <a:p>
              <a:r>
                <a:rPr lang="en-US" sz="1700" b="1" dirty="0">
                  <a:latin typeface="Consolas" panose="020B0609020204030204" pitchFamily="49" charset="0"/>
                </a:rPr>
                <a:t>Scaling and Normalization:</a:t>
              </a:r>
            </a:p>
            <a:p>
              <a:r>
                <a:rPr lang="en-US" sz="1700" dirty="0">
                  <a:latin typeface="Consolas" panose="020B0609020204030204" pitchFamily="49" charset="0"/>
                </a:rPr>
                <a:t>Scaled 'age' and '</a:t>
              </a:r>
              <a:r>
                <a:rPr lang="en-US" sz="1700" dirty="0" err="1">
                  <a:latin typeface="Consolas" panose="020B0609020204030204" pitchFamily="49" charset="0"/>
                </a:rPr>
                <a:t>majority_vote</a:t>
              </a:r>
              <a:r>
                <a:rPr lang="en-US" sz="1700" dirty="0">
                  <a:latin typeface="Consolas" panose="020B0609020204030204" pitchFamily="49" charset="0"/>
                </a:rPr>
                <a:t>' attributes for homogeneity using Standard Scaler.</a:t>
              </a:r>
            </a:p>
            <a:p>
              <a:r>
                <a:rPr lang="en-US" sz="1700" dirty="0">
                  <a:latin typeface="Consolas" panose="020B0609020204030204" pitchFamily="49" charset="0"/>
                </a:rPr>
                <a:t>Ensured the dataset's effectiveness and robustness for subsequent analysis.</a:t>
              </a:r>
            </a:p>
            <a:p>
              <a:endParaRPr lang="en-IN" sz="1700" dirty="0">
                <a:latin typeface="Consolas" panose="020B0609020204030204" pitchFamily="49" charset="0"/>
              </a:endParaRPr>
            </a:p>
          </p:txBody>
        </p:sp>
      </p:grpSp>
      <p:grpSp>
        <p:nvGrpSpPr>
          <p:cNvPr id="10" name="Group 9">
            <a:extLst>
              <a:ext uri="{FF2B5EF4-FFF2-40B4-BE49-F238E27FC236}">
                <a16:creationId xmlns:a16="http://schemas.microsoft.com/office/drawing/2014/main" id="{E8CA38E3-9C6C-46FD-8AC7-071981A935E6}"/>
              </a:ext>
            </a:extLst>
          </p:cNvPr>
          <p:cNvGrpSpPr/>
          <p:nvPr/>
        </p:nvGrpSpPr>
        <p:grpSpPr>
          <a:xfrm>
            <a:off x="15705551" y="40031"/>
            <a:ext cx="2806431" cy="6872591"/>
            <a:chOff x="7200089" y="0"/>
            <a:chExt cx="2806431" cy="6872591"/>
          </a:xfrm>
        </p:grpSpPr>
        <p:sp>
          <p:nvSpPr>
            <p:cNvPr id="11" name="Freeform: Shape 10">
              <a:extLst>
                <a:ext uri="{FF2B5EF4-FFF2-40B4-BE49-F238E27FC236}">
                  <a16:creationId xmlns:a16="http://schemas.microsoft.com/office/drawing/2014/main" id="{E925E204-2285-4AA7-A564-0840412A0752}"/>
                </a:ext>
              </a:extLst>
            </p:cNvPr>
            <p:cNvSpPr/>
            <p:nvPr/>
          </p:nvSpPr>
          <p:spPr>
            <a:xfrm>
              <a:off x="7200089" y="0"/>
              <a:ext cx="2806431" cy="6872591"/>
            </a:xfrm>
            <a:custGeom>
              <a:avLst/>
              <a:gdLst>
                <a:gd name="connsiteX0" fmla="*/ 2448129 w 2806431"/>
                <a:gd name="connsiteY0" fmla="*/ 802534 h 6872591"/>
                <a:gd name="connsiteX1" fmla="*/ 2806431 w 2806431"/>
                <a:gd name="connsiteY1" fmla="*/ 1223256 h 6872591"/>
                <a:gd name="connsiteX2" fmla="*/ 2448129 w 2806431"/>
                <a:gd name="connsiteY2" fmla="*/ 1643978 h 6872591"/>
                <a:gd name="connsiteX3" fmla="*/ 0 w 2806431"/>
                <a:gd name="connsiteY3" fmla="*/ 0 h 6872591"/>
                <a:gd name="connsiteX4" fmla="*/ 2448128 w 2806431"/>
                <a:gd name="connsiteY4" fmla="*/ 0 h 6872591"/>
                <a:gd name="connsiteX5" fmla="*/ 2448128 w 2806431"/>
                <a:gd name="connsiteY5" fmla="*/ 6872591 h 6872591"/>
                <a:gd name="connsiteX6" fmla="*/ 0 w 2806431"/>
                <a:gd name="connsiteY6" fmla="*/ 6872591 h 687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6431" h="6872591">
                  <a:moveTo>
                    <a:pt x="2448129" y="802534"/>
                  </a:moveTo>
                  <a:lnTo>
                    <a:pt x="2806431" y="1223256"/>
                  </a:lnTo>
                  <a:lnTo>
                    <a:pt x="2448129" y="1643978"/>
                  </a:lnTo>
                  <a:close/>
                  <a:moveTo>
                    <a:pt x="0" y="0"/>
                  </a:moveTo>
                  <a:lnTo>
                    <a:pt x="2448128" y="0"/>
                  </a:lnTo>
                  <a:lnTo>
                    <a:pt x="2448128" y="6872591"/>
                  </a:lnTo>
                  <a:lnTo>
                    <a:pt x="0" y="6872591"/>
                  </a:lnTo>
                  <a:close/>
                </a:path>
              </a:pathLst>
            </a:custGeom>
            <a:solidFill>
              <a:schemeClr val="accent2">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2" name="TextBox 11">
              <a:extLst>
                <a:ext uri="{FF2B5EF4-FFF2-40B4-BE49-F238E27FC236}">
                  <a16:creationId xmlns:a16="http://schemas.microsoft.com/office/drawing/2014/main" id="{92A5BE57-BFAA-472E-BC69-FCB836866D98}"/>
                </a:ext>
              </a:extLst>
            </p:cNvPr>
            <p:cNvSpPr txBox="1"/>
            <p:nvPr/>
          </p:nvSpPr>
          <p:spPr>
            <a:xfrm>
              <a:off x="7773211" y="0"/>
              <a:ext cx="1541833" cy="2215991"/>
            </a:xfrm>
            <a:prstGeom prst="rect">
              <a:avLst/>
            </a:prstGeom>
            <a:noFill/>
          </p:spPr>
          <p:txBody>
            <a:bodyPr wrap="square" rtlCol="0">
              <a:spAutoFit/>
            </a:bodyPr>
            <a:lstStyle/>
            <a:p>
              <a:r>
                <a:rPr lang="en-US" sz="13800" dirty="0">
                  <a:latin typeface="Comic Sans MS" panose="030F0702030302020204" pitchFamily="66" charset="0"/>
                </a:rPr>
                <a:t>D</a:t>
              </a:r>
              <a:endParaRPr lang="en-IN" sz="13800" dirty="0">
                <a:latin typeface="Comic Sans MS" panose="030F0702030302020204" pitchFamily="66" charset="0"/>
              </a:endParaRPr>
            </a:p>
          </p:txBody>
        </p:sp>
        <p:sp>
          <p:nvSpPr>
            <p:cNvPr id="13" name="TextBox 12">
              <a:extLst>
                <a:ext uri="{FF2B5EF4-FFF2-40B4-BE49-F238E27FC236}">
                  <a16:creationId xmlns:a16="http://schemas.microsoft.com/office/drawing/2014/main" id="{34B16258-FD00-4CF9-82A3-EE80DC701898}"/>
                </a:ext>
              </a:extLst>
            </p:cNvPr>
            <p:cNvSpPr txBox="1"/>
            <p:nvPr/>
          </p:nvSpPr>
          <p:spPr>
            <a:xfrm>
              <a:off x="7369790" y="2255945"/>
              <a:ext cx="2245243" cy="4016484"/>
            </a:xfrm>
            <a:prstGeom prst="rect">
              <a:avLst/>
            </a:prstGeom>
            <a:noFill/>
          </p:spPr>
          <p:txBody>
            <a:bodyPr wrap="square" rtlCol="0">
              <a:spAutoFit/>
            </a:bodyPr>
            <a:lstStyle/>
            <a:p>
              <a:r>
                <a:rPr lang="en-US" sz="1700" b="1" dirty="0">
                  <a:latin typeface="Consolas" panose="020B0609020204030204" pitchFamily="49" charset="0"/>
                </a:rPr>
                <a:t>Categorical Encoding:</a:t>
              </a:r>
            </a:p>
            <a:p>
              <a:r>
                <a:rPr lang="en-US" sz="1700" dirty="0">
                  <a:latin typeface="Consolas" panose="020B0609020204030204" pitchFamily="49" charset="0"/>
                </a:rPr>
                <a:t>Encoded '</a:t>
              </a:r>
              <a:r>
                <a:rPr lang="en-US" sz="1700" dirty="0" err="1">
                  <a:latin typeface="Consolas" panose="020B0609020204030204" pitchFamily="49" charset="0"/>
                </a:rPr>
                <a:t>decision_type</a:t>
              </a:r>
              <a:r>
                <a:rPr lang="en-US" sz="1700" dirty="0">
                  <a:latin typeface="Consolas" panose="020B0609020204030204" pitchFamily="49" charset="0"/>
                </a:rPr>
                <a:t>' using Label Encoder for machine learning compatibility.</a:t>
              </a:r>
            </a:p>
            <a:p>
              <a:r>
                <a:rPr lang="en-US" sz="1700" dirty="0">
                  <a:latin typeface="Consolas" panose="020B0609020204030204" pitchFamily="49" charset="0"/>
                </a:rPr>
                <a:t>Selected a subset of relevant entries for manageable computational complexity.</a:t>
              </a:r>
            </a:p>
            <a:p>
              <a:endParaRPr lang="en-IN" sz="1700" dirty="0">
                <a:latin typeface="Consolas" panose="020B0609020204030204" pitchFamily="49" charset="0"/>
              </a:endParaRPr>
            </a:p>
          </p:txBody>
        </p:sp>
      </p:grpSp>
      <p:grpSp>
        <p:nvGrpSpPr>
          <p:cNvPr id="14" name="Group 13">
            <a:extLst>
              <a:ext uri="{FF2B5EF4-FFF2-40B4-BE49-F238E27FC236}">
                <a16:creationId xmlns:a16="http://schemas.microsoft.com/office/drawing/2014/main" id="{B7DA9227-5BDE-4B36-AB69-8CCD4472B817}"/>
              </a:ext>
            </a:extLst>
          </p:cNvPr>
          <p:cNvGrpSpPr/>
          <p:nvPr/>
        </p:nvGrpSpPr>
        <p:grpSpPr>
          <a:xfrm>
            <a:off x="15654338" y="31518"/>
            <a:ext cx="2723749" cy="6882319"/>
            <a:chOff x="4842304" y="-9729"/>
            <a:chExt cx="2723749" cy="6882319"/>
          </a:xfrm>
        </p:grpSpPr>
        <p:sp>
          <p:nvSpPr>
            <p:cNvPr id="15" name="Freeform: Shape 14">
              <a:extLst>
                <a:ext uri="{FF2B5EF4-FFF2-40B4-BE49-F238E27FC236}">
                  <a16:creationId xmlns:a16="http://schemas.microsoft.com/office/drawing/2014/main" id="{863FBFD0-D5B8-4344-B40B-2DBEDEAD2239}"/>
                </a:ext>
              </a:extLst>
            </p:cNvPr>
            <p:cNvSpPr/>
            <p:nvPr/>
          </p:nvSpPr>
          <p:spPr>
            <a:xfrm>
              <a:off x="4842304" y="-9729"/>
              <a:ext cx="2723749" cy="6882319"/>
            </a:xfrm>
            <a:custGeom>
              <a:avLst/>
              <a:gdLst>
                <a:gd name="connsiteX0" fmla="*/ 0 w 2723749"/>
                <a:gd name="connsiteY0" fmla="*/ 0 h 6858000"/>
                <a:gd name="connsiteX1" fmla="*/ 2373546 w 2723749"/>
                <a:gd name="connsiteY1" fmla="*/ 0 h 6858000"/>
                <a:gd name="connsiteX2" fmla="*/ 2373546 w 2723749"/>
                <a:gd name="connsiteY2" fmla="*/ 812047 h 6858000"/>
                <a:gd name="connsiteX3" fmla="*/ 2723749 w 2723749"/>
                <a:gd name="connsiteY3" fmla="*/ 1223258 h 6858000"/>
                <a:gd name="connsiteX4" fmla="*/ 2373546 w 2723749"/>
                <a:gd name="connsiteY4" fmla="*/ 1634468 h 6858000"/>
                <a:gd name="connsiteX5" fmla="*/ 2373546 w 2723749"/>
                <a:gd name="connsiteY5" fmla="*/ 6858000 h 6858000"/>
                <a:gd name="connsiteX6" fmla="*/ 0 w 272374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3749" h="6858000">
                  <a:moveTo>
                    <a:pt x="0" y="0"/>
                  </a:moveTo>
                  <a:lnTo>
                    <a:pt x="2373546" y="0"/>
                  </a:lnTo>
                  <a:lnTo>
                    <a:pt x="2373546" y="812047"/>
                  </a:lnTo>
                  <a:lnTo>
                    <a:pt x="2723749" y="1223258"/>
                  </a:lnTo>
                  <a:lnTo>
                    <a:pt x="2373546" y="1634468"/>
                  </a:lnTo>
                  <a:lnTo>
                    <a:pt x="2373546" y="6858000"/>
                  </a:lnTo>
                  <a:lnTo>
                    <a:pt x="0" y="6858000"/>
                  </a:lnTo>
                  <a:close/>
                </a:path>
              </a:pathLst>
            </a:custGeom>
            <a:solidFill>
              <a:schemeClr val="accent2">
                <a:lumMod val="60000"/>
                <a:lumOff val="4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6" name="TextBox 15">
              <a:extLst>
                <a:ext uri="{FF2B5EF4-FFF2-40B4-BE49-F238E27FC236}">
                  <a16:creationId xmlns:a16="http://schemas.microsoft.com/office/drawing/2014/main" id="{505BA880-034F-44CC-B455-54B9894F4A79}"/>
                </a:ext>
              </a:extLst>
            </p:cNvPr>
            <p:cNvSpPr txBox="1"/>
            <p:nvPr/>
          </p:nvSpPr>
          <p:spPr>
            <a:xfrm>
              <a:off x="5325083" y="-9728"/>
              <a:ext cx="1541833" cy="2215991"/>
            </a:xfrm>
            <a:prstGeom prst="rect">
              <a:avLst/>
            </a:prstGeom>
            <a:noFill/>
          </p:spPr>
          <p:txBody>
            <a:bodyPr wrap="square" rtlCol="0">
              <a:spAutoFit/>
            </a:bodyPr>
            <a:lstStyle/>
            <a:p>
              <a:r>
                <a:rPr lang="en-US" sz="13800" dirty="0">
                  <a:latin typeface="Comic Sans MS" panose="030F0702030302020204" pitchFamily="66" charset="0"/>
                </a:rPr>
                <a:t>C</a:t>
              </a:r>
              <a:endParaRPr lang="en-IN" sz="13800" dirty="0">
                <a:latin typeface="Comic Sans MS" panose="030F0702030302020204" pitchFamily="66" charset="0"/>
              </a:endParaRPr>
            </a:p>
          </p:txBody>
        </p:sp>
        <p:sp>
          <p:nvSpPr>
            <p:cNvPr id="17" name="TextBox 16">
              <a:extLst>
                <a:ext uri="{FF2B5EF4-FFF2-40B4-BE49-F238E27FC236}">
                  <a16:creationId xmlns:a16="http://schemas.microsoft.com/office/drawing/2014/main" id="{2A428160-0EC6-4A08-B4BD-C2F50D508ACA}"/>
                </a:ext>
              </a:extLst>
            </p:cNvPr>
            <p:cNvSpPr txBox="1"/>
            <p:nvPr/>
          </p:nvSpPr>
          <p:spPr>
            <a:xfrm>
              <a:off x="4930731" y="2255945"/>
              <a:ext cx="2245243" cy="3493264"/>
            </a:xfrm>
            <a:prstGeom prst="rect">
              <a:avLst/>
            </a:prstGeom>
            <a:noFill/>
          </p:spPr>
          <p:txBody>
            <a:bodyPr wrap="square" rtlCol="0">
              <a:spAutoFit/>
            </a:bodyPr>
            <a:lstStyle/>
            <a:p>
              <a:r>
                <a:rPr lang="en-US" sz="1700" b="1" dirty="0">
                  <a:latin typeface="Consolas" panose="020B0609020204030204" pitchFamily="49" charset="0"/>
                </a:rPr>
                <a:t>Data Cleansing:</a:t>
              </a:r>
            </a:p>
            <a:p>
              <a:r>
                <a:rPr lang="en-US" sz="1700" dirty="0">
                  <a:latin typeface="Consolas" panose="020B0609020204030204" pitchFamily="49" charset="0"/>
                </a:rPr>
                <a:t>Identified and addressed outliers and inconsistent values in '</a:t>
              </a:r>
              <a:r>
                <a:rPr lang="en-US" sz="1700" dirty="0" err="1">
                  <a:latin typeface="Consolas" panose="020B0609020204030204" pitchFamily="49" charset="0"/>
                </a:rPr>
                <a:t>majority_vote</a:t>
              </a:r>
              <a:r>
                <a:rPr lang="en-US" sz="1700" dirty="0">
                  <a:latin typeface="Consolas" panose="020B0609020204030204" pitchFamily="49" charset="0"/>
                </a:rPr>
                <a:t>.'</a:t>
              </a:r>
            </a:p>
            <a:p>
              <a:r>
                <a:rPr lang="en-US" sz="1700" dirty="0">
                  <a:latin typeface="Consolas" panose="020B0609020204030204" pitchFamily="49" charset="0"/>
                </a:rPr>
                <a:t>Removed instances with missing or erroneous data for dataset reliability.</a:t>
              </a:r>
            </a:p>
            <a:p>
              <a:endParaRPr lang="en-IN" sz="1700" dirty="0">
                <a:latin typeface="Consolas" panose="020B0609020204030204" pitchFamily="49" charset="0"/>
              </a:endParaRPr>
            </a:p>
          </p:txBody>
        </p:sp>
      </p:grpSp>
      <p:sp>
        <p:nvSpPr>
          <p:cNvPr id="18" name="TextBox 17">
            <a:extLst>
              <a:ext uri="{FF2B5EF4-FFF2-40B4-BE49-F238E27FC236}">
                <a16:creationId xmlns:a16="http://schemas.microsoft.com/office/drawing/2014/main" id="{BA1D932F-5F2A-4C5D-B845-EE147CA2D6E3}"/>
              </a:ext>
            </a:extLst>
          </p:cNvPr>
          <p:cNvSpPr txBox="1"/>
          <p:nvPr/>
        </p:nvSpPr>
        <p:spPr>
          <a:xfrm>
            <a:off x="15519816" y="2809751"/>
            <a:ext cx="2087895" cy="3145971"/>
          </a:xfrm>
          <a:prstGeom prst="rect">
            <a:avLst/>
          </a:prstGeom>
          <a:noFill/>
        </p:spPr>
        <p:txBody>
          <a:bodyPr wrap="square" rtlCol="0">
            <a:spAutoFit/>
          </a:bodyPr>
          <a:lstStyle/>
          <a:p>
            <a:endParaRPr lang="en-IN" dirty="0"/>
          </a:p>
        </p:txBody>
      </p:sp>
      <p:grpSp>
        <p:nvGrpSpPr>
          <p:cNvPr id="19" name="Group 18">
            <a:extLst>
              <a:ext uri="{FF2B5EF4-FFF2-40B4-BE49-F238E27FC236}">
                <a16:creationId xmlns:a16="http://schemas.microsoft.com/office/drawing/2014/main" id="{04D61150-97D6-4C23-970A-32735D041334}"/>
              </a:ext>
            </a:extLst>
          </p:cNvPr>
          <p:cNvGrpSpPr/>
          <p:nvPr/>
        </p:nvGrpSpPr>
        <p:grpSpPr>
          <a:xfrm>
            <a:off x="15400731" y="14496"/>
            <a:ext cx="2803191" cy="6889613"/>
            <a:chOff x="2465044" y="-31613"/>
            <a:chExt cx="2803191" cy="6889613"/>
          </a:xfrm>
        </p:grpSpPr>
        <p:sp>
          <p:nvSpPr>
            <p:cNvPr id="20" name="Freeform: Shape 19">
              <a:extLst>
                <a:ext uri="{FF2B5EF4-FFF2-40B4-BE49-F238E27FC236}">
                  <a16:creationId xmlns:a16="http://schemas.microsoft.com/office/drawing/2014/main" id="{6CC77735-2D74-4961-A87A-2679DB9894C9}"/>
                </a:ext>
              </a:extLst>
            </p:cNvPr>
            <p:cNvSpPr/>
            <p:nvPr/>
          </p:nvSpPr>
          <p:spPr>
            <a:xfrm>
              <a:off x="2465044" y="-14591"/>
              <a:ext cx="2803191" cy="6872591"/>
            </a:xfrm>
            <a:custGeom>
              <a:avLst/>
              <a:gdLst>
                <a:gd name="connsiteX0" fmla="*/ 0 w 2803191"/>
                <a:gd name="connsiteY0" fmla="*/ 0 h 6872591"/>
                <a:gd name="connsiteX1" fmla="*/ 2482174 w 2803191"/>
                <a:gd name="connsiteY1" fmla="*/ 0 h 6872591"/>
                <a:gd name="connsiteX2" fmla="*/ 2482174 w 2803191"/>
                <a:gd name="connsiteY2" fmla="*/ 851181 h 6872591"/>
                <a:gd name="connsiteX3" fmla="*/ 2803191 w 2803191"/>
                <a:gd name="connsiteY3" fmla="*/ 1228121 h 6872591"/>
                <a:gd name="connsiteX4" fmla="*/ 2482174 w 2803191"/>
                <a:gd name="connsiteY4" fmla="*/ 1605061 h 6872591"/>
                <a:gd name="connsiteX5" fmla="*/ 2482174 w 2803191"/>
                <a:gd name="connsiteY5" fmla="*/ 6872591 h 6872591"/>
                <a:gd name="connsiteX6" fmla="*/ 0 w 2803191"/>
                <a:gd name="connsiteY6" fmla="*/ 6872591 h 687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3191" h="6872591">
                  <a:moveTo>
                    <a:pt x="0" y="0"/>
                  </a:moveTo>
                  <a:lnTo>
                    <a:pt x="2482174" y="0"/>
                  </a:lnTo>
                  <a:lnTo>
                    <a:pt x="2482174" y="851181"/>
                  </a:lnTo>
                  <a:lnTo>
                    <a:pt x="2803191" y="1228121"/>
                  </a:lnTo>
                  <a:lnTo>
                    <a:pt x="2482174" y="1605061"/>
                  </a:lnTo>
                  <a:lnTo>
                    <a:pt x="2482174" y="6872591"/>
                  </a:lnTo>
                  <a:lnTo>
                    <a:pt x="0" y="6872591"/>
                  </a:lnTo>
                  <a:close/>
                </a:path>
              </a:pathLst>
            </a:custGeom>
            <a:solidFill>
              <a:schemeClr val="accent2">
                <a:lumMod val="40000"/>
                <a:lumOff val="6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IN" sz="9600" dirty="0">
                <a:latin typeface="Comic Sans MS" panose="030F0702030302020204" pitchFamily="66" charset="0"/>
              </a:endParaRPr>
            </a:p>
          </p:txBody>
        </p:sp>
        <p:sp>
          <p:nvSpPr>
            <p:cNvPr id="21" name="TextBox 20">
              <a:extLst>
                <a:ext uri="{FF2B5EF4-FFF2-40B4-BE49-F238E27FC236}">
                  <a16:creationId xmlns:a16="http://schemas.microsoft.com/office/drawing/2014/main" id="{EBC8CF4B-6532-4C84-9A62-165F39898BCF}"/>
                </a:ext>
              </a:extLst>
            </p:cNvPr>
            <p:cNvSpPr txBox="1"/>
            <p:nvPr/>
          </p:nvSpPr>
          <p:spPr>
            <a:xfrm>
              <a:off x="2806292" y="-31613"/>
              <a:ext cx="1351736" cy="2215991"/>
            </a:xfrm>
            <a:prstGeom prst="rect">
              <a:avLst/>
            </a:prstGeom>
            <a:noFill/>
          </p:spPr>
          <p:txBody>
            <a:bodyPr wrap="square" rtlCol="0">
              <a:spAutoFit/>
            </a:bodyPr>
            <a:lstStyle/>
            <a:p>
              <a:r>
                <a:rPr lang="en-US" sz="13800" dirty="0">
                  <a:latin typeface="Comic Sans MS" panose="030F0702030302020204" pitchFamily="66" charset="0"/>
                </a:rPr>
                <a:t>B</a:t>
              </a:r>
              <a:endParaRPr lang="en-IN" sz="13800" dirty="0">
                <a:latin typeface="Comic Sans MS" panose="030F0702030302020204" pitchFamily="66" charset="0"/>
              </a:endParaRPr>
            </a:p>
          </p:txBody>
        </p:sp>
        <p:sp>
          <p:nvSpPr>
            <p:cNvPr id="22" name="TextBox 21">
              <a:extLst>
                <a:ext uri="{FF2B5EF4-FFF2-40B4-BE49-F238E27FC236}">
                  <a16:creationId xmlns:a16="http://schemas.microsoft.com/office/drawing/2014/main" id="{47C22157-333F-4619-8B14-2786293B5C94}"/>
                </a:ext>
              </a:extLst>
            </p:cNvPr>
            <p:cNvSpPr txBox="1"/>
            <p:nvPr/>
          </p:nvSpPr>
          <p:spPr>
            <a:xfrm>
              <a:off x="2520409" y="2234060"/>
              <a:ext cx="2245243" cy="4016484"/>
            </a:xfrm>
            <a:prstGeom prst="rect">
              <a:avLst/>
            </a:prstGeom>
            <a:noFill/>
          </p:spPr>
          <p:txBody>
            <a:bodyPr wrap="square" rtlCol="0">
              <a:spAutoFit/>
            </a:bodyPr>
            <a:lstStyle/>
            <a:p>
              <a:r>
                <a:rPr lang="en-US" sz="1700" b="1" dirty="0">
                  <a:latin typeface="Consolas" panose="020B0609020204030204" pitchFamily="49" charset="0"/>
                </a:rPr>
                <a:t>Data Preparation:</a:t>
              </a:r>
            </a:p>
            <a:p>
              <a:r>
                <a:rPr lang="en-US" sz="1700" dirty="0">
                  <a:latin typeface="Consolas" panose="020B0609020204030204" pitchFamily="49" charset="0"/>
                </a:rPr>
                <a:t>Transformed 'judgement' attribute into uppercase strings, retaining instances with 'TRUE' values.</a:t>
              </a:r>
            </a:p>
            <a:p>
              <a:r>
                <a:rPr lang="en-US" sz="1700" dirty="0">
                  <a:latin typeface="Consolas" panose="020B0609020204030204" pitchFamily="49" charset="0"/>
                </a:rPr>
                <a:t>Added an 'age' column based on timestamps for contextual information.</a:t>
              </a:r>
            </a:p>
            <a:p>
              <a:endParaRPr lang="en-IN" sz="1700" dirty="0">
                <a:latin typeface="Consolas" panose="020B0609020204030204" pitchFamily="49" charset="0"/>
              </a:endParaRPr>
            </a:p>
          </p:txBody>
        </p:sp>
      </p:grpSp>
      <p:grpSp>
        <p:nvGrpSpPr>
          <p:cNvPr id="23" name="Group 22">
            <a:extLst>
              <a:ext uri="{FF2B5EF4-FFF2-40B4-BE49-F238E27FC236}">
                <a16:creationId xmlns:a16="http://schemas.microsoft.com/office/drawing/2014/main" id="{3B53F0CB-8276-4B57-B1C3-BA3C83E9BE3B}"/>
              </a:ext>
            </a:extLst>
          </p:cNvPr>
          <p:cNvGrpSpPr/>
          <p:nvPr/>
        </p:nvGrpSpPr>
        <p:grpSpPr>
          <a:xfrm>
            <a:off x="15249875" y="27871"/>
            <a:ext cx="2820211" cy="6867727"/>
            <a:chOff x="0" y="-9727"/>
            <a:chExt cx="2820211" cy="6867727"/>
          </a:xfrm>
        </p:grpSpPr>
        <p:sp>
          <p:nvSpPr>
            <p:cNvPr id="24" name="Freeform: Shape 23">
              <a:extLst>
                <a:ext uri="{FF2B5EF4-FFF2-40B4-BE49-F238E27FC236}">
                  <a16:creationId xmlns:a16="http://schemas.microsoft.com/office/drawing/2014/main" id="{2CD1CAC2-5C70-4821-BCC9-D73C22EF32B6}"/>
                </a:ext>
              </a:extLst>
            </p:cNvPr>
            <p:cNvSpPr/>
            <p:nvPr/>
          </p:nvSpPr>
          <p:spPr>
            <a:xfrm>
              <a:off x="0" y="0"/>
              <a:ext cx="2820211" cy="6858000"/>
            </a:xfrm>
            <a:custGeom>
              <a:avLst/>
              <a:gdLst>
                <a:gd name="connsiteX0" fmla="*/ 0 w 2820211"/>
                <a:gd name="connsiteY0" fmla="*/ 0 h 6858000"/>
                <a:gd name="connsiteX1" fmla="*/ 2474068 w 2820211"/>
                <a:gd name="connsiteY1" fmla="*/ 0 h 6858000"/>
                <a:gd name="connsiteX2" fmla="*/ 2474068 w 2820211"/>
                <a:gd name="connsiteY2" fmla="*/ 816814 h 6858000"/>
                <a:gd name="connsiteX3" fmla="*/ 2820211 w 2820211"/>
                <a:gd name="connsiteY3" fmla="*/ 1223257 h 6858000"/>
                <a:gd name="connsiteX4" fmla="*/ 2474068 w 2820211"/>
                <a:gd name="connsiteY4" fmla="*/ 1629700 h 6858000"/>
                <a:gd name="connsiteX5" fmla="*/ 2474068 w 2820211"/>
                <a:gd name="connsiteY5" fmla="*/ 6858000 h 6858000"/>
                <a:gd name="connsiteX6" fmla="*/ 0 w 282021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0211" h="6858000">
                  <a:moveTo>
                    <a:pt x="0" y="0"/>
                  </a:moveTo>
                  <a:lnTo>
                    <a:pt x="2474068" y="0"/>
                  </a:lnTo>
                  <a:lnTo>
                    <a:pt x="2474068" y="816814"/>
                  </a:lnTo>
                  <a:lnTo>
                    <a:pt x="2820211" y="1223257"/>
                  </a:lnTo>
                  <a:lnTo>
                    <a:pt x="2474068" y="1629700"/>
                  </a:lnTo>
                  <a:lnTo>
                    <a:pt x="2474068" y="6858000"/>
                  </a:lnTo>
                  <a:lnTo>
                    <a:pt x="0" y="6858000"/>
                  </a:lnTo>
                  <a:close/>
                </a:path>
              </a:pathLst>
            </a:custGeom>
            <a:solidFill>
              <a:schemeClr val="accent2">
                <a:lumMod val="20000"/>
                <a:lumOff val="8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solidFill>
                  <a:schemeClr val="accent4">
                    <a:lumMod val="20000"/>
                    <a:lumOff val="80000"/>
                  </a:schemeClr>
                </a:solidFill>
              </a:endParaRPr>
            </a:p>
          </p:txBody>
        </p:sp>
        <p:sp>
          <p:nvSpPr>
            <p:cNvPr id="25" name="TextBox 24">
              <a:extLst>
                <a:ext uri="{FF2B5EF4-FFF2-40B4-BE49-F238E27FC236}">
                  <a16:creationId xmlns:a16="http://schemas.microsoft.com/office/drawing/2014/main" id="{3CD1CD91-DF22-4615-8EDE-20197F89E48E}"/>
                </a:ext>
              </a:extLst>
            </p:cNvPr>
            <p:cNvSpPr txBox="1"/>
            <p:nvPr/>
          </p:nvSpPr>
          <p:spPr>
            <a:xfrm>
              <a:off x="269941" y="-9727"/>
              <a:ext cx="1541833" cy="2215991"/>
            </a:xfrm>
            <a:prstGeom prst="rect">
              <a:avLst/>
            </a:prstGeom>
            <a:noFill/>
          </p:spPr>
          <p:txBody>
            <a:bodyPr wrap="square" rtlCol="0">
              <a:spAutoFit/>
            </a:bodyPr>
            <a:lstStyle/>
            <a:p>
              <a:r>
                <a:rPr lang="en-US" sz="13800" dirty="0">
                  <a:latin typeface="Comic Sans MS" panose="030F0702030302020204" pitchFamily="66" charset="0"/>
                </a:rPr>
                <a:t>A</a:t>
              </a:r>
              <a:endParaRPr lang="en-IN" sz="13800" dirty="0">
                <a:latin typeface="Comic Sans MS" panose="030F0702030302020204" pitchFamily="66" charset="0"/>
              </a:endParaRPr>
            </a:p>
          </p:txBody>
        </p:sp>
        <p:sp>
          <p:nvSpPr>
            <p:cNvPr id="26" name="TextBox 25">
              <a:extLst>
                <a:ext uri="{FF2B5EF4-FFF2-40B4-BE49-F238E27FC236}">
                  <a16:creationId xmlns:a16="http://schemas.microsoft.com/office/drawing/2014/main" id="{3684858C-5CA3-4DD2-B620-E620A028E719}"/>
                </a:ext>
              </a:extLst>
            </p:cNvPr>
            <p:cNvSpPr txBox="1"/>
            <p:nvPr/>
          </p:nvSpPr>
          <p:spPr>
            <a:xfrm>
              <a:off x="112593" y="2255945"/>
              <a:ext cx="2245243" cy="4278094"/>
            </a:xfrm>
            <a:prstGeom prst="rect">
              <a:avLst/>
            </a:prstGeom>
            <a:noFill/>
          </p:spPr>
          <p:txBody>
            <a:bodyPr wrap="square" rtlCol="0">
              <a:spAutoFit/>
            </a:bodyPr>
            <a:lstStyle/>
            <a:p>
              <a:r>
                <a:rPr lang="en-US" sz="1700" b="1" dirty="0">
                  <a:latin typeface="Consolas" panose="020B0609020204030204" pitchFamily="49" charset="0"/>
                </a:rPr>
                <a:t>Case Documents Acquisition:</a:t>
              </a:r>
            </a:p>
            <a:p>
              <a:pPr marL="285750" indent="-285750">
                <a:buFont typeface="Arial" panose="020B0604020202020204" pitchFamily="34" charset="0"/>
                <a:buChar char="•"/>
              </a:pPr>
              <a:r>
                <a:rPr lang="en-US" sz="1700" dirty="0">
                  <a:latin typeface="Consolas" panose="020B0609020204030204" pitchFamily="49" charset="0"/>
                </a:rPr>
                <a:t>Obtained Indian Supreme Court judgments from kaggle.com, resulting in a corpus of over 3000 cases.</a:t>
              </a:r>
            </a:p>
            <a:p>
              <a:pPr marL="285750" indent="-285750">
                <a:buFont typeface="Arial" panose="020B0604020202020204" pitchFamily="34" charset="0"/>
                <a:buChar char="•"/>
              </a:pPr>
              <a:r>
                <a:rPr lang="en-US" sz="1700" dirty="0">
                  <a:latin typeface="Consolas" panose="020B0609020204030204" pitchFamily="49" charset="0"/>
                </a:rPr>
                <a:t>Refined to 1001 cleaned and finalized cases for analysis.</a:t>
              </a:r>
            </a:p>
            <a:p>
              <a:endParaRPr lang="en-IN" sz="1700" dirty="0">
                <a:latin typeface="Consolas" panose="020B0609020204030204" pitchFamily="49" charset="0"/>
              </a:endParaRPr>
            </a:p>
          </p:txBody>
        </p:sp>
      </p:grpSp>
      <p:sp>
        <p:nvSpPr>
          <p:cNvPr id="27" name="TextBox 26">
            <a:extLst>
              <a:ext uri="{FF2B5EF4-FFF2-40B4-BE49-F238E27FC236}">
                <a16:creationId xmlns:a16="http://schemas.microsoft.com/office/drawing/2014/main" id="{96DDA6DF-ECB5-464D-907C-215435EF263A}"/>
              </a:ext>
            </a:extLst>
          </p:cNvPr>
          <p:cNvSpPr txBox="1"/>
          <p:nvPr/>
        </p:nvSpPr>
        <p:spPr>
          <a:xfrm>
            <a:off x="12215679" y="40031"/>
            <a:ext cx="3025317" cy="523220"/>
          </a:xfrm>
          <a:prstGeom prst="rect">
            <a:avLst/>
          </a:prstGeom>
          <a:noFill/>
        </p:spPr>
        <p:txBody>
          <a:bodyPr wrap="square" rtlCol="0">
            <a:spAutoFit/>
          </a:bodyPr>
          <a:lstStyle/>
          <a:p>
            <a:r>
              <a:rPr lang="en-US" sz="2800" dirty="0">
                <a:latin typeface="Sitka Subheading Semibold" pitchFamily="2" charset="0"/>
              </a:rPr>
              <a:t>Data Preparation</a:t>
            </a:r>
            <a:endParaRPr lang="en-IN" sz="2000" dirty="0">
              <a:latin typeface="Sitka Subheading Semibold" pitchFamily="2" charset="0"/>
            </a:endParaRPr>
          </a:p>
        </p:txBody>
      </p:sp>
    </p:spTree>
    <p:extLst>
      <p:ext uri="{BB962C8B-B14F-4D97-AF65-F5344CB8AC3E}">
        <p14:creationId xmlns:p14="http://schemas.microsoft.com/office/powerpoint/2010/main" val="3137743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0"/>
              </a:schemeClr>
            </a:gs>
            <a:gs pos="0">
              <a:schemeClr val="bg1">
                <a:lumMod val="65000"/>
              </a:schemeClr>
            </a:gs>
            <a:gs pos="100000">
              <a:schemeClr val="accent3">
                <a:lumMod val="75000"/>
              </a:schemeClr>
            </a:gs>
            <a:gs pos="73000">
              <a:schemeClr val="accent3"/>
            </a:gs>
          </a:gsLst>
          <a:path path="circle">
            <a:fillToRect l="100000" t="100000"/>
          </a:path>
        </a:gra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8B0431C-64E6-4A3C-BF12-6258F1E9C26D}"/>
              </a:ext>
            </a:extLst>
          </p:cNvPr>
          <p:cNvSpPr txBox="1"/>
          <p:nvPr/>
        </p:nvSpPr>
        <p:spPr>
          <a:xfrm>
            <a:off x="123216" y="1489285"/>
            <a:ext cx="6264614" cy="4693593"/>
          </a:xfrm>
          <a:prstGeom prst="rect">
            <a:avLst/>
          </a:prstGeom>
          <a:noFill/>
        </p:spPr>
        <p:txBody>
          <a:bodyPr wrap="square" rtlCol="0">
            <a:spAutoFit/>
          </a:bodyPr>
          <a:lstStyle/>
          <a:p>
            <a:pPr algn="l"/>
            <a:r>
              <a:rPr lang="en-IN" sz="2300" b="1" i="0" dirty="0">
                <a:solidFill>
                  <a:srgbClr val="FF0000"/>
                </a:solidFill>
                <a:effectLst/>
                <a:latin typeface="Söhne"/>
              </a:rPr>
              <a:t>2. Enhanced Comprehension of Legal Documents:</a:t>
            </a:r>
            <a:endParaRPr lang="en-IN" sz="2300" b="0" i="0" dirty="0">
              <a:solidFill>
                <a:srgbClr val="FF0000"/>
              </a:solidFill>
              <a:effectLst/>
              <a:latin typeface="Söhne"/>
            </a:endParaRPr>
          </a:p>
          <a:p>
            <a:pPr algn="l">
              <a:buFont typeface="Arial" panose="020B0604020202020204" pitchFamily="34" charset="0"/>
              <a:buChar char="•"/>
            </a:pPr>
            <a:r>
              <a:rPr lang="en-IN" sz="2300" b="0" i="0" dirty="0">
                <a:effectLst/>
                <a:latin typeface="Söhne"/>
              </a:rPr>
              <a:t>Focuses on using advanced computational techniques for improved understanding of legal case documents.</a:t>
            </a:r>
          </a:p>
          <a:p>
            <a:pPr algn="l"/>
            <a:r>
              <a:rPr lang="en-IN" sz="2300" b="1" i="0" dirty="0">
                <a:solidFill>
                  <a:srgbClr val="FF0000"/>
                </a:solidFill>
                <a:effectLst/>
                <a:latin typeface="Söhne"/>
              </a:rPr>
              <a:t>2.1 Pivotal SVM Analysis:</a:t>
            </a:r>
            <a:endParaRPr lang="en-IN" sz="2300" b="0" i="0" dirty="0">
              <a:solidFill>
                <a:srgbClr val="FF0000"/>
              </a:solidFill>
              <a:effectLst/>
              <a:latin typeface="Söhne"/>
            </a:endParaRPr>
          </a:p>
          <a:p>
            <a:pPr algn="l">
              <a:buFont typeface="Arial" panose="020B0604020202020204" pitchFamily="34" charset="0"/>
              <a:buChar char="•"/>
            </a:pPr>
            <a:r>
              <a:rPr lang="en-IN" sz="2300" b="0" i="0" dirty="0">
                <a:effectLst/>
                <a:latin typeface="Söhne"/>
              </a:rPr>
              <a:t>Utilizes Support Vector Machines (SVM) to identify distinct patterns in the data.</a:t>
            </a:r>
          </a:p>
          <a:p>
            <a:pPr algn="l">
              <a:buFont typeface="Arial" panose="020B0604020202020204" pitchFamily="34" charset="0"/>
              <a:buChar char="•"/>
            </a:pPr>
            <a:r>
              <a:rPr lang="en-IN" sz="2300" b="0" i="0" dirty="0">
                <a:effectLst/>
                <a:latin typeface="Söhne"/>
              </a:rPr>
              <a:t>Figure 2.1: SVM Analysis for Majority Vote vs. Age.</a:t>
            </a:r>
          </a:p>
          <a:p>
            <a:pPr marL="742950" lvl="1" indent="-285750" algn="l">
              <a:buFont typeface="Arial" panose="020B0604020202020204" pitchFamily="34" charset="0"/>
              <a:buChar char="•"/>
            </a:pPr>
            <a:r>
              <a:rPr lang="en-IN" sz="2300" b="0" i="0" dirty="0">
                <a:effectLst/>
                <a:latin typeface="Söhne"/>
              </a:rPr>
              <a:t>Scatter plot illustrates the relationship between majority vote and age.</a:t>
            </a:r>
          </a:p>
          <a:p>
            <a:pPr marL="742950" lvl="1" indent="-285750" algn="l">
              <a:buFont typeface="Arial" panose="020B0604020202020204" pitchFamily="34" charset="0"/>
              <a:buChar char="•"/>
            </a:pPr>
            <a:r>
              <a:rPr lang="en-IN" sz="2300" b="0" i="0" dirty="0">
                <a:effectLst/>
                <a:latin typeface="Söhne"/>
              </a:rPr>
              <a:t>Data points coloured by class labels.</a:t>
            </a:r>
          </a:p>
          <a:p>
            <a:pPr marL="742950" lvl="1" indent="-285750" algn="l">
              <a:buFont typeface="Arial" panose="020B0604020202020204" pitchFamily="34" charset="0"/>
              <a:buChar char="•"/>
            </a:pPr>
            <a:r>
              <a:rPr lang="en-IN" sz="2300" b="0" i="0" dirty="0">
                <a:effectLst/>
                <a:latin typeface="Söhne"/>
              </a:rPr>
              <a:t>SVM classifier maximizes margin between classes, defining the decision boundary.</a:t>
            </a:r>
          </a:p>
        </p:txBody>
      </p:sp>
      <p:sp>
        <p:nvSpPr>
          <p:cNvPr id="2" name="TextBox 1">
            <a:extLst>
              <a:ext uri="{FF2B5EF4-FFF2-40B4-BE49-F238E27FC236}">
                <a16:creationId xmlns:a16="http://schemas.microsoft.com/office/drawing/2014/main" id="{CC2521CB-1291-47E9-BA1D-D0B2503A1D4F}"/>
              </a:ext>
            </a:extLst>
          </p:cNvPr>
          <p:cNvSpPr txBox="1"/>
          <p:nvPr/>
        </p:nvSpPr>
        <p:spPr>
          <a:xfrm>
            <a:off x="3459804" y="0"/>
            <a:ext cx="6264614" cy="830997"/>
          </a:xfrm>
          <a:prstGeom prst="rect">
            <a:avLst/>
          </a:prstGeom>
          <a:noFill/>
        </p:spPr>
        <p:txBody>
          <a:bodyPr wrap="square" rtlCol="0">
            <a:spAutoFit/>
          </a:bodyPr>
          <a:lstStyle/>
          <a:p>
            <a:r>
              <a:rPr lang="en-IN" sz="4800" dirty="0">
                <a:solidFill>
                  <a:srgbClr val="FF0000"/>
                </a:solidFill>
                <a:effectLst>
                  <a:outerShdw blurRad="177800" dist="38100" dir="5400000" algn="t" rotWithShape="0">
                    <a:prstClr val="black">
                      <a:alpha val="63000"/>
                    </a:prstClr>
                  </a:outerShdw>
                </a:effectLst>
                <a:latin typeface="Segoe Print" panose="02000600000000000000" pitchFamily="2" charset="0"/>
                <a:ea typeface="SimSun" panose="02010600030101010101" pitchFamily="2" charset="-122"/>
              </a:rPr>
              <a:t>Result analysis</a:t>
            </a:r>
          </a:p>
        </p:txBody>
      </p:sp>
      <p:pic>
        <p:nvPicPr>
          <p:cNvPr id="5" name="Picture 4">
            <a:extLst>
              <a:ext uri="{FF2B5EF4-FFF2-40B4-BE49-F238E27FC236}">
                <a16:creationId xmlns:a16="http://schemas.microsoft.com/office/drawing/2014/main" id="{7DC59253-212A-4E61-A206-B1E73D0A538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71619" y="1489285"/>
            <a:ext cx="5697165" cy="4036979"/>
          </a:xfrm>
          <a:prstGeom prst="rect">
            <a:avLst/>
          </a:prstGeom>
          <a:noFill/>
          <a:ln>
            <a:noFill/>
          </a:ln>
        </p:spPr>
      </p:pic>
    </p:spTree>
    <p:extLst>
      <p:ext uri="{BB962C8B-B14F-4D97-AF65-F5344CB8AC3E}">
        <p14:creationId xmlns:p14="http://schemas.microsoft.com/office/powerpoint/2010/main" val="307949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0"/>
              </a:schemeClr>
            </a:gs>
            <a:gs pos="0">
              <a:schemeClr val="bg1">
                <a:lumMod val="65000"/>
              </a:schemeClr>
            </a:gs>
            <a:gs pos="100000">
              <a:schemeClr val="accent3">
                <a:lumMod val="75000"/>
              </a:schemeClr>
            </a:gs>
            <a:gs pos="73000">
              <a:schemeClr val="accent3"/>
            </a:gs>
          </a:gsLst>
          <a:path path="circle">
            <a:fillToRect l="100000" t="100000"/>
          </a:path>
        </a:gra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8B0431C-64E6-4A3C-BF12-6258F1E9C26D}"/>
              </a:ext>
            </a:extLst>
          </p:cNvPr>
          <p:cNvSpPr txBox="1"/>
          <p:nvPr/>
        </p:nvSpPr>
        <p:spPr>
          <a:xfrm>
            <a:off x="5339267" y="891664"/>
            <a:ext cx="6852733" cy="5755422"/>
          </a:xfrm>
          <a:prstGeom prst="rect">
            <a:avLst/>
          </a:prstGeom>
          <a:noFill/>
        </p:spPr>
        <p:txBody>
          <a:bodyPr wrap="square" rtlCol="0">
            <a:spAutoFit/>
          </a:bodyPr>
          <a:lstStyle/>
          <a:p>
            <a:pPr algn="l"/>
            <a:r>
              <a:rPr lang="en-US" sz="2300" i="0" dirty="0">
                <a:solidFill>
                  <a:srgbClr val="FF0000"/>
                </a:solidFill>
                <a:effectLst/>
                <a:latin typeface="Arial" panose="020B0604020202020204" pitchFamily="34" charset="0"/>
                <a:cs typeface="Arial" panose="020B0604020202020204" pitchFamily="34" charset="0"/>
              </a:rPr>
              <a:t>2.2 SVM Classifier and Hyperplane:</a:t>
            </a:r>
          </a:p>
          <a:p>
            <a:pPr algn="l"/>
            <a:endParaRPr lang="en-US" sz="2300" i="0" dirty="0">
              <a:solidFill>
                <a:srgbClr val="FF0000"/>
              </a:solidFill>
              <a:effectLst/>
              <a:latin typeface="Arial" panose="020B0604020202020204" pitchFamily="34" charset="0"/>
              <a:cs typeface="Arial" panose="020B0604020202020204" pitchFamily="34" charset="0"/>
            </a:endParaRPr>
          </a:p>
          <a:p>
            <a:pPr algn="l"/>
            <a:r>
              <a:rPr lang="en-US" sz="2300" i="0" dirty="0">
                <a:effectLst/>
                <a:latin typeface="Arial" panose="020B0604020202020204" pitchFamily="34" charset="0"/>
                <a:cs typeface="Arial" panose="020B0604020202020204" pitchFamily="34" charset="0"/>
              </a:rPr>
              <a:t>Demonstrates the SVM classifier's use of a hyperplane to separate classes.</a:t>
            </a:r>
          </a:p>
          <a:p>
            <a:pPr algn="l"/>
            <a:r>
              <a:rPr lang="en-US" sz="2300" i="0" dirty="0">
                <a:effectLst/>
                <a:latin typeface="Arial" panose="020B0604020202020204" pitchFamily="34" charset="0"/>
                <a:cs typeface="Arial" panose="020B0604020202020204" pitchFamily="34" charset="0"/>
              </a:rPr>
              <a:t>Figure 2.2: SVM Hyperplane for Class Separation.</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Scatter plot with data points, different colors for two classes.</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The hyperplane, depicted as a straight line, acts as the decision boundary.</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Determined by the SVM algorithm using provided data.</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Hyperplane's slope and intercept calculated from SVM classifier's coefficients and intercept [11].</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SVM positions the hyperplane to maximize the margin, effectively classifying new data points based on their side of the hyperplane.</a:t>
            </a:r>
            <a:endParaRPr lang="en-IN" sz="2300" i="0" dirty="0">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CC2521CB-1291-47E9-BA1D-D0B2503A1D4F}"/>
              </a:ext>
            </a:extLst>
          </p:cNvPr>
          <p:cNvSpPr txBox="1"/>
          <p:nvPr/>
        </p:nvSpPr>
        <p:spPr>
          <a:xfrm>
            <a:off x="3459804" y="0"/>
            <a:ext cx="6264614" cy="830997"/>
          </a:xfrm>
          <a:prstGeom prst="rect">
            <a:avLst/>
          </a:prstGeom>
          <a:noFill/>
        </p:spPr>
        <p:txBody>
          <a:bodyPr wrap="square" rtlCol="0">
            <a:spAutoFit/>
          </a:bodyPr>
          <a:lstStyle/>
          <a:p>
            <a:r>
              <a:rPr lang="en-IN" sz="4800" dirty="0">
                <a:solidFill>
                  <a:srgbClr val="FF0000"/>
                </a:solidFill>
                <a:effectLst>
                  <a:outerShdw blurRad="177800" dist="38100" dir="5400000" algn="t" rotWithShape="0">
                    <a:prstClr val="black">
                      <a:alpha val="63000"/>
                    </a:prstClr>
                  </a:outerShdw>
                </a:effectLst>
                <a:latin typeface="Segoe Print" panose="02000600000000000000" pitchFamily="2" charset="0"/>
                <a:ea typeface="SimSun" panose="02010600030101010101" pitchFamily="2" charset="-122"/>
              </a:rPr>
              <a:t>Result analysis</a:t>
            </a:r>
          </a:p>
        </p:txBody>
      </p:sp>
      <p:pic>
        <p:nvPicPr>
          <p:cNvPr id="7" name="Picture 6">
            <a:extLst>
              <a:ext uri="{FF2B5EF4-FFF2-40B4-BE49-F238E27FC236}">
                <a16:creationId xmlns:a16="http://schemas.microsoft.com/office/drawing/2014/main" id="{976E3345-1551-4DEE-B1FF-884D6A4EE6D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7862" y="2060033"/>
            <a:ext cx="5011694" cy="3418684"/>
          </a:xfrm>
          <a:prstGeom prst="rect">
            <a:avLst/>
          </a:prstGeom>
          <a:noFill/>
          <a:ln>
            <a:noFill/>
          </a:ln>
        </p:spPr>
      </p:pic>
    </p:spTree>
    <p:extLst>
      <p:ext uri="{BB962C8B-B14F-4D97-AF65-F5344CB8AC3E}">
        <p14:creationId xmlns:p14="http://schemas.microsoft.com/office/powerpoint/2010/main" val="3053818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0"/>
              </a:schemeClr>
            </a:gs>
            <a:gs pos="0">
              <a:schemeClr val="bg1">
                <a:lumMod val="65000"/>
              </a:schemeClr>
            </a:gs>
            <a:gs pos="100000">
              <a:schemeClr val="accent3">
                <a:lumMod val="75000"/>
              </a:schemeClr>
            </a:gs>
            <a:gs pos="73000">
              <a:schemeClr val="accent3"/>
            </a:gs>
          </a:gsLst>
          <a:path path="circle">
            <a:fillToRect l="100000" t="100000"/>
          </a:path>
        </a:gra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8B0431C-64E6-4A3C-BF12-6258F1E9C26D}"/>
              </a:ext>
            </a:extLst>
          </p:cNvPr>
          <p:cNvSpPr txBox="1"/>
          <p:nvPr/>
        </p:nvSpPr>
        <p:spPr>
          <a:xfrm>
            <a:off x="99479" y="1035278"/>
            <a:ext cx="6962802" cy="5047536"/>
          </a:xfrm>
          <a:prstGeom prst="rect">
            <a:avLst/>
          </a:prstGeom>
          <a:noFill/>
        </p:spPr>
        <p:txBody>
          <a:bodyPr wrap="square" rtlCol="0">
            <a:spAutoFit/>
          </a:bodyPr>
          <a:lstStyle/>
          <a:p>
            <a:pPr algn="l"/>
            <a:r>
              <a:rPr lang="en-US" sz="2300" i="0" dirty="0">
                <a:solidFill>
                  <a:srgbClr val="FF0000"/>
                </a:solidFill>
                <a:effectLst/>
                <a:latin typeface="Arial" panose="020B0604020202020204" pitchFamily="34" charset="0"/>
                <a:cs typeface="Arial" panose="020B0604020202020204" pitchFamily="34" charset="0"/>
              </a:rPr>
              <a:t>2.3 Data Filtering for Improved Accuracy:</a:t>
            </a:r>
          </a:p>
          <a:p>
            <a:pPr algn="l"/>
            <a:endParaRPr lang="en-US" sz="2300" i="0" dirty="0">
              <a:solidFill>
                <a:srgbClr val="FF0000"/>
              </a:solidFill>
              <a:effectLst/>
              <a:latin typeface="Arial" panose="020B0604020202020204" pitchFamily="34" charset="0"/>
              <a:cs typeface="Arial" panose="020B0604020202020204" pitchFamily="34" charset="0"/>
            </a:endParaRPr>
          </a:p>
          <a:p>
            <a:pPr algn="l"/>
            <a:r>
              <a:rPr lang="en-US" sz="2300" i="0" dirty="0">
                <a:solidFill>
                  <a:srgbClr val="FF0000"/>
                </a:solidFill>
                <a:effectLst/>
                <a:latin typeface="Arial" panose="020B0604020202020204" pitchFamily="34" charset="0"/>
                <a:cs typeface="Arial" panose="020B0604020202020204" pitchFamily="34" charset="0"/>
              </a:rPr>
              <a:t>Figure 2.3 illustrates data filtering for optimal results.</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Scatter plot with data points, distinct colors for two classes.</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Focus: Eliminating misclassified points to enhance accuracy.</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SVM classifier predicts class labels for all data points, identifying misclassified points.</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By excluding misclassified points, the figure showcases the improved SVM classifier's accuracy.</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Filtering process optimizes the decision boundary (hyperplane) for accurate class separation</a:t>
            </a:r>
            <a:endParaRPr lang="en-IN" sz="2300" i="0" dirty="0">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CC2521CB-1291-47E9-BA1D-D0B2503A1D4F}"/>
              </a:ext>
            </a:extLst>
          </p:cNvPr>
          <p:cNvSpPr txBox="1"/>
          <p:nvPr/>
        </p:nvSpPr>
        <p:spPr>
          <a:xfrm>
            <a:off x="3459804" y="0"/>
            <a:ext cx="6264614" cy="830997"/>
          </a:xfrm>
          <a:prstGeom prst="rect">
            <a:avLst/>
          </a:prstGeom>
          <a:noFill/>
        </p:spPr>
        <p:txBody>
          <a:bodyPr wrap="square" rtlCol="0">
            <a:spAutoFit/>
          </a:bodyPr>
          <a:lstStyle/>
          <a:p>
            <a:r>
              <a:rPr lang="en-IN" sz="4800" dirty="0">
                <a:solidFill>
                  <a:srgbClr val="FF0000"/>
                </a:solidFill>
                <a:effectLst>
                  <a:outerShdw blurRad="177800" dist="38100" dir="5400000" algn="t" rotWithShape="0">
                    <a:prstClr val="black">
                      <a:alpha val="63000"/>
                    </a:prstClr>
                  </a:outerShdw>
                </a:effectLst>
                <a:latin typeface="Segoe Print" panose="02000600000000000000" pitchFamily="2" charset="0"/>
                <a:ea typeface="SimSun" panose="02010600030101010101" pitchFamily="2" charset="-122"/>
              </a:rPr>
              <a:t>Result analysis</a:t>
            </a:r>
          </a:p>
        </p:txBody>
      </p:sp>
      <p:pic>
        <p:nvPicPr>
          <p:cNvPr id="5" name="Picture 4">
            <a:extLst>
              <a:ext uri="{FF2B5EF4-FFF2-40B4-BE49-F238E27FC236}">
                <a16:creationId xmlns:a16="http://schemas.microsoft.com/office/drawing/2014/main" id="{2B8C50E4-7A9D-49FC-AB83-60032ADF1A6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147667" y="1481716"/>
            <a:ext cx="4420751" cy="3734219"/>
          </a:xfrm>
          <a:prstGeom prst="rect">
            <a:avLst/>
          </a:prstGeom>
          <a:noFill/>
          <a:ln>
            <a:noFill/>
          </a:ln>
        </p:spPr>
      </p:pic>
      <p:pic>
        <p:nvPicPr>
          <p:cNvPr id="6" name="Picture 5">
            <a:extLst>
              <a:ext uri="{FF2B5EF4-FFF2-40B4-BE49-F238E27FC236}">
                <a16:creationId xmlns:a16="http://schemas.microsoft.com/office/drawing/2014/main" id="{484C2014-7263-4DDD-AB09-121C06DA115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7031" y="1860790"/>
            <a:ext cx="5685718" cy="3632993"/>
          </a:xfrm>
          <a:prstGeom prst="rect">
            <a:avLst/>
          </a:prstGeom>
          <a:noFill/>
          <a:ln>
            <a:noFill/>
          </a:ln>
        </p:spPr>
      </p:pic>
    </p:spTree>
    <p:extLst>
      <p:ext uri="{BB962C8B-B14F-4D97-AF65-F5344CB8AC3E}">
        <p14:creationId xmlns:p14="http://schemas.microsoft.com/office/powerpoint/2010/main" val="104456971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0"/>
              </a:schemeClr>
            </a:gs>
            <a:gs pos="0">
              <a:schemeClr val="bg1">
                <a:lumMod val="65000"/>
              </a:schemeClr>
            </a:gs>
            <a:gs pos="100000">
              <a:schemeClr val="accent3">
                <a:lumMod val="75000"/>
              </a:schemeClr>
            </a:gs>
            <a:gs pos="73000">
              <a:schemeClr val="accent3"/>
            </a:gs>
          </a:gsLst>
          <a:path path="circle">
            <a:fillToRect l="100000" t="100000"/>
          </a:path>
        </a:gra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8B0431C-64E6-4A3C-BF12-6258F1E9C26D}"/>
              </a:ext>
            </a:extLst>
          </p:cNvPr>
          <p:cNvSpPr txBox="1"/>
          <p:nvPr/>
        </p:nvSpPr>
        <p:spPr>
          <a:xfrm>
            <a:off x="170576" y="1299071"/>
            <a:ext cx="5996521" cy="5047536"/>
          </a:xfrm>
          <a:prstGeom prst="rect">
            <a:avLst/>
          </a:prstGeom>
          <a:noFill/>
        </p:spPr>
        <p:txBody>
          <a:bodyPr wrap="square" rtlCol="0">
            <a:spAutoFit/>
          </a:bodyPr>
          <a:lstStyle/>
          <a:p>
            <a:pPr algn="l"/>
            <a:r>
              <a:rPr lang="en-US" sz="2300" i="0" dirty="0">
                <a:solidFill>
                  <a:srgbClr val="FF0000"/>
                </a:solidFill>
                <a:effectLst/>
                <a:latin typeface="Arial" panose="020B0604020202020204" pitchFamily="34" charset="0"/>
                <a:cs typeface="Arial" panose="020B0604020202020204" pitchFamily="34" charset="0"/>
              </a:rPr>
              <a:t>3. K-Means Clustering for Hidden Patterns:</a:t>
            </a:r>
          </a:p>
          <a:p>
            <a:pPr algn="l"/>
            <a:endParaRPr lang="en-US" sz="2300" i="0" dirty="0">
              <a:solidFill>
                <a:srgbClr val="FF0000"/>
              </a:solidFill>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Utilizes K-Means clustering to unveil concealed patterns in legal case data.</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Process involves dataset preprocessing by filtering 'TRUE' judgments and encoding decision types.</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K-Means identifies clusters based on decision types, with a scatter plot illustrating '</a:t>
            </a:r>
            <a:r>
              <a:rPr lang="en-US" sz="2300" i="0" dirty="0" err="1">
                <a:effectLst/>
                <a:latin typeface="Arial" panose="020B0604020202020204" pitchFamily="34" charset="0"/>
                <a:cs typeface="Arial" panose="020B0604020202020204" pitchFamily="34" charset="0"/>
              </a:rPr>
              <a:t>majority_vote</a:t>
            </a:r>
            <a:r>
              <a:rPr lang="en-US" sz="2300" i="0" dirty="0">
                <a:effectLst/>
                <a:latin typeface="Arial" panose="020B0604020202020204" pitchFamily="34" charset="0"/>
                <a:cs typeface="Arial" panose="020B0604020202020204" pitchFamily="34" charset="0"/>
              </a:rPr>
              <a:t>' and 'age'.</a:t>
            </a:r>
          </a:p>
          <a:p>
            <a:pPr algn="l"/>
            <a:r>
              <a:rPr lang="en-US" sz="2300" i="0" dirty="0">
                <a:solidFill>
                  <a:srgbClr val="FF0000"/>
                </a:solidFill>
                <a:effectLst/>
                <a:latin typeface="Arial" panose="020B0604020202020204" pitchFamily="34" charset="0"/>
                <a:cs typeface="Arial" panose="020B0604020202020204" pitchFamily="34" charset="0"/>
              </a:rPr>
              <a:t>3.1 Visual Representation of Clusters:</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Scatter plot visually represents the clusters, revealing correlations between clusters and decision types.</a:t>
            </a:r>
          </a:p>
        </p:txBody>
      </p:sp>
      <p:sp>
        <p:nvSpPr>
          <p:cNvPr id="2" name="TextBox 1">
            <a:extLst>
              <a:ext uri="{FF2B5EF4-FFF2-40B4-BE49-F238E27FC236}">
                <a16:creationId xmlns:a16="http://schemas.microsoft.com/office/drawing/2014/main" id="{CC2521CB-1291-47E9-BA1D-D0B2503A1D4F}"/>
              </a:ext>
            </a:extLst>
          </p:cNvPr>
          <p:cNvSpPr txBox="1"/>
          <p:nvPr/>
        </p:nvSpPr>
        <p:spPr>
          <a:xfrm>
            <a:off x="3459804" y="0"/>
            <a:ext cx="6264614" cy="830997"/>
          </a:xfrm>
          <a:prstGeom prst="rect">
            <a:avLst/>
          </a:prstGeom>
          <a:noFill/>
        </p:spPr>
        <p:txBody>
          <a:bodyPr wrap="square" rtlCol="0">
            <a:spAutoFit/>
          </a:bodyPr>
          <a:lstStyle/>
          <a:p>
            <a:r>
              <a:rPr lang="en-IN" sz="4800" dirty="0">
                <a:solidFill>
                  <a:srgbClr val="FF0000"/>
                </a:solidFill>
                <a:effectLst>
                  <a:outerShdw blurRad="177800" dist="38100" dir="5400000" algn="t" rotWithShape="0">
                    <a:prstClr val="black">
                      <a:alpha val="63000"/>
                    </a:prstClr>
                  </a:outerShdw>
                </a:effectLst>
                <a:latin typeface="Segoe Print" panose="02000600000000000000" pitchFamily="2" charset="0"/>
                <a:ea typeface="SimSun" panose="02010600030101010101" pitchFamily="2" charset="-122"/>
              </a:rPr>
              <a:t>Result analysis</a:t>
            </a:r>
          </a:p>
        </p:txBody>
      </p:sp>
      <p:pic>
        <p:nvPicPr>
          <p:cNvPr id="6" name="Picture 5">
            <a:extLst>
              <a:ext uri="{FF2B5EF4-FFF2-40B4-BE49-F238E27FC236}">
                <a16:creationId xmlns:a16="http://schemas.microsoft.com/office/drawing/2014/main" id="{5DE3A7B7-B5F3-4FDC-A438-BEC2DF9FC7D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35706" y="1875714"/>
            <a:ext cx="5685718" cy="3632993"/>
          </a:xfrm>
          <a:prstGeom prst="rect">
            <a:avLst/>
          </a:prstGeom>
          <a:noFill/>
          <a:ln>
            <a:noFill/>
          </a:ln>
        </p:spPr>
      </p:pic>
      <p:pic>
        <p:nvPicPr>
          <p:cNvPr id="5" name="Picture 4">
            <a:extLst>
              <a:ext uri="{FF2B5EF4-FFF2-40B4-BE49-F238E27FC236}">
                <a16:creationId xmlns:a16="http://schemas.microsoft.com/office/drawing/2014/main" id="{B84AB24A-799F-47D0-9013-866BCEC956C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575204" y="1656483"/>
            <a:ext cx="4420751" cy="3734219"/>
          </a:xfrm>
          <a:prstGeom prst="rect">
            <a:avLst/>
          </a:prstGeom>
          <a:noFill/>
          <a:ln>
            <a:noFill/>
          </a:ln>
        </p:spPr>
      </p:pic>
    </p:spTree>
    <p:extLst>
      <p:ext uri="{BB962C8B-B14F-4D97-AF65-F5344CB8AC3E}">
        <p14:creationId xmlns:p14="http://schemas.microsoft.com/office/powerpoint/2010/main" val="11421912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0"/>
              </a:schemeClr>
            </a:gs>
            <a:gs pos="0">
              <a:schemeClr val="bg1">
                <a:lumMod val="65000"/>
              </a:schemeClr>
            </a:gs>
            <a:gs pos="100000">
              <a:schemeClr val="accent3">
                <a:lumMod val="75000"/>
              </a:schemeClr>
            </a:gs>
            <a:gs pos="73000">
              <a:schemeClr val="accent3"/>
            </a:gs>
          </a:gsLst>
          <a:path path="circle">
            <a:fillToRect l="100000" t="100000"/>
          </a:path>
        </a:gra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8B0431C-64E6-4A3C-BF12-6258F1E9C26D}"/>
              </a:ext>
            </a:extLst>
          </p:cNvPr>
          <p:cNvSpPr txBox="1"/>
          <p:nvPr/>
        </p:nvSpPr>
        <p:spPr>
          <a:xfrm>
            <a:off x="6488468" y="1796379"/>
            <a:ext cx="5703532" cy="3985706"/>
          </a:xfrm>
          <a:prstGeom prst="rect">
            <a:avLst/>
          </a:prstGeom>
          <a:noFill/>
        </p:spPr>
        <p:txBody>
          <a:bodyPr wrap="square" rtlCol="0">
            <a:spAutoFit/>
          </a:bodyPr>
          <a:lstStyle/>
          <a:p>
            <a:pPr algn="l"/>
            <a:r>
              <a:rPr lang="en-US" sz="2300" i="0" dirty="0">
                <a:solidFill>
                  <a:srgbClr val="FF0000"/>
                </a:solidFill>
                <a:effectLst/>
                <a:latin typeface="Arial" panose="020B0604020202020204" pitchFamily="34" charset="0"/>
                <a:cs typeface="Arial" panose="020B0604020202020204" pitchFamily="34" charset="0"/>
              </a:rPr>
              <a:t>3.2 Quantifying Clustering Performance:</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Metrics include precision, recall, accuracy, and F1 score.</a:t>
            </a:r>
          </a:p>
          <a:p>
            <a:pPr marL="285750" indent="-285750" algn="l">
              <a:buFont typeface="Arial" panose="020B0604020202020204" pitchFamily="34" charset="0"/>
              <a:buChar char="•"/>
            </a:pPr>
            <a:r>
              <a:rPr lang="en-US" sz="2300" i="0" dirty="0">
                <a:effectLst/>
                <a:latin typeface="Arial" panose="020B0604020202020204" pitchFamily="34" charset="0"/>
                <a:cs typeface="Arial" panose="020B0604020202020204" pitchFamily="34" charset="0"/>
              </a:rPr>
              <a:t>Confusion matrix vividly illustrates predicted versus actual decision type assignments.</a:t>
            </a:r>
          </a:p>
          <a:p>
            <a:pPr algn="l"/>
            <a:r>
              <a:rPr lang="en-US" sz="2300" i="0" dirty="0">
                <a:solidFill>
                  <a:srgbClr val="FF0000"/>
                </a:solidFill>
                <a:effectLst/>
                <a:latin typeface="Arial" panose="020B0604020202020204" pitchFamily="34" charset="0"/>
                <a:cs typeface="Arial" panose="020B0604020202020204" pitchFamily="34" charset="0"/>
              </a:rPr>
              <a:t>3.3 Interpretation via "Figure 3":</a:t>
            </a:r>
          </a:p>
          <a:p>
            <a:pPr algn="l"/>
            <a:r>
              <a:rPr lang="en-US" sz="2300" i="0" dirty="0">
                <a:effectLst/>
                <a:latin typeface="Arial" panose="020B0604020202020204" pitchFamily="34" charset="0"/>
                <a:cs typeface="Arial" panose="020B0604020202020204" pitchFamily="34" charset="0"/>
              </a:rPr>
              <a:t>Output figure, labeled as "Figure 3," encapsulates insights and enhances the understanding of the legal case data's structure and relationships.</a:t>
            </a:r>
            <a:endParaRPr lang="en-IN" sz="2300" i="0" dirty="0">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CC2521CB-1291-47E9-BA1D-D0B2503A1D4F}"/>
              </a:ext>
            </a:extLst>
          </p:cNvPr>
          <p:cNvSpPr txBox="1"/>
          <p:nvPr/>
        </p:nvSpPr>
        <p:spPr>
          <a:xfrm>
            <a:off x="3459804" y="0"/>
            <a:ext cx="6264614" cy="830997"/>
          </a:xfrm>
          <a:prstGeom prst="rect">
            <a:avLst/>
          </a:prstGeom>
          <a:noFill/>
        </p:spPr>
        <p:txBody>
          <a:bodyPr wrap="square" rtlCol="0">
            <a:spAutoFit/>
          </a:bodyPr>
          <a:lstStyle/>
          <a:p>
            <a:r>
              <a:rPr lang="en-IN" sz="4800" dirty="0">
                <a:solidFill>
                  <a:srgbClr val="FF0000"/>
                </a:solidFill>
                <a:effectLst>
                  <a:outerShdw blurRad="177800" dist="38100" dir="5400000" algn="t" rotWithShape="0">
                    <a:prstClr val="black">
                      <a:alpha val="63000"/>
                    </a:prstClr>
                  </a:outerShdw>
                </a:effectLst>
                <a:latin typeface="Segoe Print" panose="02000600000000000000" pitchFamily="2" charset="0"/>
                <a:ea typeface="SimSun" panose="02010600030101010101" pitchFamily="2" charset="-122"/>
              </a:rPr>
              <a:t>Result analysis</a:t>
            </a:r>
          </a:p>
        </p:txBody>
      </p:sp>
      <p:pic>
        <p:nvPicPr>
          <p:cNvPr id="6" name="Picture 5">
            <a:extLst>
              <a:ext uri="{FF2B5EF4-FFF2-40B4-BE49-F238E27FC236}">
                <a16:creationId xmlns:a16="http://schemas.microsoft.com/office/drawing/2014/main" id="{5DE3A7B7-B5F3-4FDC-A438-BEC2DF9FC7D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5942" y="1796379"/>
            <a:ext cx="6181829" cy="3832633"/>
          </a:xfrm>
          <a:prstGeom prst="rect">
            <a:avLst/>
          </a:prstGeom>
          <a:noFill/>
          <a:ln>
            <a:noFill/>
          </a:ln>
        </p:spPr>
      </p:pic>
    </p:spTree>
    <p:extLst>
      <p:ext uri="{BB962C8B-B14F-4D97-AF65-F5344CB8AC3E}">
        <p14:creationId xmlns:p14="http://schemas.microsoft.com/office/powerpoint/2010/main" val="39188306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0"/>
              </a:schemeClr>
            </a:gs>
            <a:gs pos="0">
              <a:schemeClr val="bg1">
                <a:lumMod val="65000"/>
              </a:schemeClr>
            </a:gs>
            <a:gs pos="100000">
              <a:schemeClr val="accent3">
                <a:lumMod val="75000"/>
              </a:schemeClr>
            </a:gs>
            <a:gs pos="73000">
              <a:schemeClr val="accent3"/>
            </a:gs>
          </a:gsLst>
          <a:path path="circle">
            <a:fillToRect l="100000" t="100000"/>
          </a:path>
        </a:gra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8B0431C-64E6-4A3C-BF12-6258F1E9C26D}"/>
              </a:ext>
            </a:extLst>
          </p:cNvPr>
          <p:cNvSpPr txBox="1"/>
          <p:nvPr/>
        </p:nvSpPr>
        <p:spPr>
          <a:xfrm>
            <a:off x="261666" y="994272"/>
            <a:ext cx="11756163" cy="5909310"/>
          </a:xfrm>
          <a:prstGeom prst="rect">
            <a:avLst/>
          </a:prstGeom>
          <a:noFill/>
        </p:spPr>
        <p:txBody>
          <a:bodyPr wrap="square" rtlCol="0">
            <a:spAutoFit/>
          </a:bodyPr>
          <a:lstStyle/>
          <a:p>
            <a:pPr algn="l"/>
            <a:r>
              <a:rPr lang="en-US" sz="2100" i="0" dirty="0">
                <a:solidFill>
                  <a:srgbClr val="FF0000"/>
                </a:solidFill>
                <a:effectLst/>
                <a:latin typeface="Arial" panose="020B0604020202020204" pitchFamily="34" charset="0"/>
                <a:cs typeface="Arial" panose="020B0604020202020204" pitchFamily="34" charset="0"/>
              </a:rPr>
              <a:t>4. Enhancing Legal Decision-Making:</a:t>
            </a:r>
          </a:p>
          <a:p>
            <a:pPr marL="285750" indent="-285750" algn="l">
              <a:buFont typeface="Arial" panose="020B0604020202020204" pitchFamily="34" charset="0"/>
              <a:buChar char="•"/>
            </a:pPr>
            <a:r>
              <a:rPr lang="en-US" sz="2100" i="0" dirty="0">
                <a:effectLst/>
                <a:latin typeface="Arial" panose="020B0604020202020204" pitchFamily="34" charset="0"/>
                <a:cs typeface="Arial" panose="020B0604020202020204" pitchFamily="34" charset="0"/>
              </a:rPr>
              <a:t>Presented framework using machine learning for predicting judicial outcomes.</a:t>
            </a:r>
          </a:p>
          <a:p>
            <a:pPr algn="l"/>
            <a:endParaRPr lang="en-US" sz="2100" i="0" dirty="0">
              <a:effectLst/>
              <a:latin typeface="Arial" panose="020B0604020202020204" pitchFamily="34" charset="0"/>
              <a:cs typeface="Arial" panose="020B0604020202020204" pitchFamily="34" charset="0"/>
            </a:endParaRPr>
          </a:p>
          <a:p>
            <a:pPr algn="l"/>
            <a:r>
              <a:rPr lang="en-US" sz="2100" i="0" dirty="0">
                <a:solidFill>
                  <a:srgbClr val="FF0000"/>
                </a:solidFill>
                <a:effectLst/>
                <a:latin typeface="Arial" panose="020B0604020202020204" pitchFamily="34" charset="0"/>
                <a:cs typeface="Arial" panose="020B0604020202020204" pitchFamily="34" charset="0"/>
              </a:rPr>
              <a:t>4.1 Real-Time Data Integration:</a:t>
            </a:r>
          </a:p>
          <a:p>
            <a:pPr marL="285750" indent="-285750" algn="l">
              <a:buFont typeface="Arial" panose="020B0604020202020204" pitchFamily="34" charset="0"/>
              <a:buChar char="•"/>
            </a:pPr>
            <a:r>
              <a:rPr lang="en-US" sz="2100" i="0" dirty="0">
                <a:effectLst/>
                <a:latin typeface="Arial" panose="020B0604020202020204" pitchFamily="34" charset="0"/>
                <a:cs typeface="Arial" panose="020B0604020202020204" pitchFamily="34" charset="0"/>
              </a:rPr>
              <a:t>Explore extending the model to real-time data streams for live courtroom proceedings.</a:t>
            </a:r>
          </a:p>
          <a:p>
            <a:pPr marL="285750" indent="-285750" algn="l">
              <a:buFont typeface="Arial" panose="020B0604020202020204" pitchFamily="34" charset="0"/>
              <a:buChar char="•"/>
            </a:pPr>
            <a:r>
              <a:rPr lang="en-US" sz="2100" i="0" dirty="0">
                <a:effectLst/>
                <a:latin typeface="Arial" panose="020B0604020202020204" pitchFamily="34" charset="0"/>
                <a:cs typeface="Arial" panose="020B0604020202020204" pitchFamily="34" charset="0"/>
              </a:rPr>
              <a:t>Enhance predictive accuracy for judges, legal practitioners, and stakeholders.</a:t>
            </a:r>
          </a:p>
          <a:p>
            <a:pPr algn="l"/>
            <a:endParaRPr lang="en-US" sz="2100" i="0" dirty="0">
              <a:effectLst/>
              <a:latin typeface="Arial" panose="020B0604020202020204" pitchFamily="34" charset="0"/>
              <a:cs typeface="Arial" panose="020B0604020202020204" pitchFamily="34" charset="0"/>
            </a:endParaRPr>
          </a:p>
          <a:p>
            <a:pPr algn="l"/>
            <a:r>
              <a:rPr lang="en-US" sz="2100" i="0" dirty="0">
                <a:solidFill>
                  <a:srgbClr val="FF0000"/>
                </a:solidFill>
                <a:effectLst/>
                <a:latin typeface="Arial" panose="020B0604020202020204" pitchFamily="34" charset="0"/>
                <a:cs typeface="Arial" panose="020B0604020202020204" pitchFamily="34" charset="0"/>
              </a:rPr>
              <a:t>4.2 Application Across Legal Domains:</a:t>
            </a:r>
          </a:p>
          <a:p>
            <a:pPr marL="285750" indent="-285750" algn="l">
              <a:buFont typeface="Arial" panose="020B0604020202020204" pitchFamily="34" charset="0"/>
              <a:buChar char="•"/>
            </a:pPr>
            <a:r>
              <a:rPr lang="en-US" sz="2100" i="0" dirty="0">
                <a:effectLst/>
                <a:latin typeface="Arial" panose="020B0604020202020204" pitchFamily="34" charset="0"/>
                <a:cs typeface="Arial" panose="020B0604020202020204" pitchFamily="34" charset="0"/>
              </a:rPr>
              <a:t>Adapt the model for various sections of law: criminal, civil, constitutional, administrative.</a:t>
            </a:r>
          </a:p>
          <a:p>
            <a:pPr marL="285750" indent="-285750" algn="l">
              <a:buFont typeface="Arial" panose="020B0604020202020204" pitchFamily="34" charset="0"/>
              <a:buChar char="•"/>
            </a:pPr>
            <a:r>
              <a:rPr lang="en-US" sz="2100" i="0" dirty="0">
                <a:effectLst/>
                <a:latin typeface="Arial" panose="020B0604020202020204" pitchFamily="34" charset="0"/>
                <a:cs typeface="Arial" panose="020B0604020202020204" pitchFamily="34" charset="0"/>
              </a:rPr>
              <a:t>Facilitate tailored recommendations for legal professionals, aiding in case strategy and resource allocation.</a:t>
            </a:r>
          </a:p>
          <a:p>
            <a:pPr algn="l"/>
            <a:endParaRPr lang="en-US" sz="2100" i="0" dirty="0">
              <a:effectLst/>
              <a:latin typeface="Arial" panose="020B0604020202020204" pitchFamily="34" charset="0"/>
              <a:cs typeface="Arial" panose="020B0604020202020204" pitchFamily="34" charset="0"/>
            </a:endParaRPr>
          </a:p>
          <a:p>
            <a:pPr algn="l"/>
            <a:r>
              <a:rPr lang="en-US" sz="2100" i="0" dirty="0">
                <a:solidFill>
                  <a:srgbClr val="FF0000"/>
                </a:solidFill>
                <a:effectLst/>
                <a:latin typeface="Arial" panose="020B0604020202020204" pitchFamily="34" charset="0"/>
                <a:cs typeface="Arial" panose="020B0604020202020204" pitchFamily="34" charset="0"/>
              </a:rPr>
              <a:t>4.3 Beyond Prediction:</a:t>
            </a:r>
          </a:p>
          <a:p>
            <a:pPr marL="285750" indent="-285750" algn="l">
              <a:buFont typeface="Arial" panose="020B0604020202020204" pitchFamily="34" charset="0"/>
              <a:buChar char="•"/>
            </a:pPr>
            <a:r>
              <a:rPr lang="en-US" sz="2100" i="0" dirty="0">
                <a:effectLst/>
                <a:latin typeface="Arial" panose="020B0604020202020204" pitchFamily="34" charset="0"/>
                <a:cs typeface="Arial" panose="020B0604020202020204" pitchFamily="34" charset="0"/>
              </a:rPr>
              <a:t>Move beyond outcome prediction to identify jurisprudential trends, inconsistencies, and biases in the legal system.</a:t>
            </a:r>
          </a:p>
          <a:p>
            <a:pPr marL="285750" indent="-285750" algn="l">
              <a:buFont typeface="Arial" panose="020B0604020202020204" pitchFamily="34" charset="0"/>
              <a:buChar char="•"/>
            </a:pPr>
            <a:r>
              <a:rPr lang="en-US" sz="2100" i="0" dirty="0">
                <a:effectLst/>
                <a:latin typeface="Arial" panose="020B0604020202020204" pitchFamily="34" charset="0"/>
                <a:cs typeface="Arial" panose="020B0604020202020204" pitchFamily="34" charset="0"/>
              </a:rPr>
              <a:t>Insights for judicial reforms and policy-making, promoting transparency, efficiency, and equity in the legal ecosystem.</a:t>
            </a:r>
          </a:p>
          <a:p>
            <a:pPr algn="l"/>
            <a:endParaRPr lang="en-US" sz="2100" i="0" dirty="0">
              <a:solidFill>
                <a:srgbClr val="FF0000"/>
              </a:solidFill>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CC2521CB-1291-47E9-BA1D-D0B2503A1D4F}"/>
              </a:ext>
            </a:extLst>
          </p:cNvPr>
          <p:cNvSpPr txBox="1"/>
          <p:nvPr/>
        </p:nvSpPr>
        <p:spPr>
          <a:xfrm>
            <a:off x="1830198" y="0"/>
            <a:ext cx="8531604" cy="830997"/>
          </a:xfrm>
          <a:prstGeom prst="rect">
            <a:avLst/>
          </a:prstGeom>
          <a:noFill/>
        </p:spPr>
        <p:txBody>
          <a:bodyPr wrap="square" rtlCol="0">
            <a:spAutoFit/>
          </a:bodyPr>
          <a:lstStyle/>
          <a:p>
            <a:r>
              <a:rPr lang="en-IN" sz="4800" dirty="0">
                <a:solidFill>
                  <a:srgbClr val="FF0000"/>
                </a:solidFill>
                <a:effectLst>
                  <a:outerShdw blurRad="177800" dist="38100" dir="5400000" algn="t" rotWithShape="0">
                    <a:prstClr val="black">
                      <a:alpha val="63000"/>
                    </a:prstClr>
                  </a:outerShdw>
                </a:effectLst>
                <a:latin typeface="Segoe Print" panose="02000600000000000000" pitchFamily="2" charset="0"/>
                <a:ea typeface="SimSun" panose="02010600030101010101" pitchFamily="2" charset="-122"/>
              </a:rPr>
              <a:t>Result analysis - </a:t>
            </a:r>
            <a:r>
              <a:rPr lang="en-IN" sz="4800" dirty="0" err="1">
                <a:solidFill>
                  <a:srgbClr val="FF0000"/>
                </a:solidFill>
                <a:effectLst>
                  <a:outerShdw blurRad="177800" dist="38100" dir="5400000" algn="t" rotWithShape="0">
                    <a:prstClr val="black">
                      <a:alpha val="63000"/>
                    </a:prstClr>
                  </a:outerShdw>
                </a:effectLst>
                <a:latin typeface="Segoe Print" panose="02000600000000000000" pitchFamily="2" charset="0"/>
                <a:ea typeface="SimSun" panose="02010600030101010101" pitchFamily="2" charset="-122"/>
              </a:rPr>
              <a:t>Kmeans</a:t>
            </a:r>
            <a:endParaRPr lang="en-IN" sz="4800" dirty="0">
              <a:solidFill>
                <a:srgbClr val="FF0000"/>
              </a:solidFill>
              <a:effectLst>
                <a:outerShdw blurRad="177800" dist="38100" dir="5400000" algn="t" rotWithShape="0">
                  <a:prstClr val="black">
                    <a:alpha val="63000"/>
                  </a:prstClr>
                </a:outerShdw>
              </a:effectLst>
              <a:latin typeface="Segoe Print" panose="02000600000000000000" pitchFamily="2" charset="0"/>
              <a:ea typeface="SimSun" panose="02010600030101010101" pitchFamily="2" charset="-122"/>
            </a:endParaRPr>
          </a:p>
        </p:txBody>
      </p:sp>
      <p:pic>
        <p:nvPicPr>
          <p:cNvPr id="5" name="Picture 4">
            <a:extLst>
              <a:ext uri="{FF2B5EF4-FFF2-40B4-BE49-F238E27FC236}">
                <a16:creationId xmlns:a16="http://schemas.microsoft.com/office/drawing/2014/main" id="{81652089-4AF3-4787-A898-B1C5F2D9A89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70173" y="1611322"/>
            <a:ext cx="6181829" cy="3832633"/>
          </a:xfrm>
          <a:prstGeom prst="rect">
            <a:avLst/>
          </a:prstGeom>
          <a:noFill/>
          <a:ln>
            <a:noFill/>
          </a:ln>
        </p:spPr>
      </p:pic>
    </p:spTree>
    <p:extLst>
      <p:ext uri="{BB962C8B-B14F-4D97-AF65-F5344CB8AC3E}">
        <p14:creationId xmlns:p14="http://schemas.microsoft.com/office/powerpoint/2010/main" val="10554865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exels-sora-shimazaki-5637951 (2160p)">
            <a:hlinkClick r:id="" action="ppaction://media"/>
            <a:extLst>
              <a:ext uri="{FF2B5EF4-FFF2-40B4-BE49-F238E27FC236}">
                <a16:creationId xmlns:a16="http://schemas.microsoft.com/office/drawing/2014/main" id="{AC0497D5-0FA1-4E57-96E9-870A805D993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B278AE9C-A6A1-4200-86F1-7D16E57A8C68}"/>
              </a:ext>
            </a:extLst>
          </p:cNvPr>
          <p:cNvSpPr txBox="1"/>
          <p:nvPr/>
        </p:nvSpPr>
        <p:spPr>
          <a:xfrm>
            <a:off x="1791167" y="972060"/>
            <a:ext cx="7937770" cy="1569660"/>
          </a:xfrm>
          <a:prstGeom prst="rect">
            <a:avLst/>
          </a:prstGeom>
          <a:noFill/>
        </p:spPr>
        <p:txBody>
          <a:bodyPr wrap="square" rtlCol="0">
            <a:spAutoFit/>
          </a:bodyPr>
          <a:lstStyle/>
          <a:p>
            <a:r>
              <a:rPr lang="en-US" sz="9600" dirty="0">
                <a:latin typeface="Sitka Small Semibold" pitchFamily="2" charset="0"/>
                <a:ea typeface="Verdana" panose="020B0604030504040204" pitchFamily="34" charset="0"/>
                <a:cs typeface="Cascadia Mono SemiBold" panose="020B0609020000020004" pitchFamily="49" charset="0"/>
              </a:rPr>
              <a:t>Conclusion</a:t>
            </a:r>
            <a:endParaRPr lang="en-IN" sz="9600" dirty="0">
              <a:latin typeface="Sitka Small Semibold" pitchFamily="2" charset="0"/>
              <a:ea typeface="Verdana" panose="020B0604030504040204" pitchFamily="34" charset="0"/>
              <a:cs typeface="Cascadia Mono SemiBold" panose="020B0609020000020004" pitchFamily="49" charset="0"/>
            </a:endParaRPr>
          </a:p>
        </p:txBody>
      </p:sp>
    </p:spTree>
    <p:extLst>
      <p:ext uri="{BB962C8B-B14F-4D97-AF65-F5344CB8AC3E}">
        <p14:creationId xmlns:p14="http://schemas.microsoft.com/office/powerpoint/2010/main" val="1359960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023" fill="hold"/>
                                        <p:tgtEl>
                                          <p:spTgt spid="4"/>
                                        </p:tgtEl>
                                      </p:cBhvr>
                                    </p:cmd>
                                  </p:childTnLst>
                                </p:cTn>
                              </p:par>
                              <p:par>
                                <p:cTn id="7" presetID="2" presetClass="entr" presetSubtype="4" fill="hold" grpId="0" nodeType="withEffect">
                                  <p:stCondLst>
                                    <p:cond delay="6250"/>
                                  </p:stCondLst>
                                  <p:childTnLst>
                                    <p:set>
                                      <p:cBhvr>
                                        <p:cTn id="8" dur="1" fill="hold">
                                          <p:stCondLst>
                                            <p:cond delay="0"/>
                                          </p:stCondLst>
                                        </p:cTn>
                                        <p:tgtEl>
                                          <p:spTgt spid="5"/>
                                        </p:tgtEl>
                                        <p:attrNameLst>
                                          <p:attrName>style.visibility</p:attrName>
                                        </p:attrNameLst>
                                      </p:cBhvr>
                                      <p:to>
                                        <p:strVal val="visible"/>
                                      </p:to>
                                    </p:set>
                                    <p:anim calcmode="lin" valueType="num">
                                      <p:cBhvr additive="base">
                                        <p:cTn id="9" dur="3000" fill="hold"/>
                                        <p:tgtEl>
                                          <p:spTgt spid="5"/>
                                        </p:tgtEl>
                                        <p:attrNameLst>
                                          <p:attrName>ppt_x</p:attrName>
                                        </p:attrNameLst>
                                      </p:cBhvr>
                                      <p:tavLst>
                                        <p:tav tm="0">
                                          <p:val>
                                            <p:strVal val="#ppt_x"/>
                                          </p:val>
                                        </p:tav>
                                        <p:tav tm="100000">
                                          <p:val>
                                            <p:strVal val="#ppt_x"/>
                                          </p:val>
                                        </p:tav>
                                      </p:tavLst>
                                    </p:anim>
                                    <p:anim calcmode="lin" valueType="num">
                                      <p:cBhvr additive="base">
                                        <p:cTn id="10" dur="3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4"/>
                </p:tgtEl>
              </p:cMediaNode>
            </p:video>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0"/>
              </a:schemeClr>
            </a:gs>
            <a:gs pos="0">
              <a:schemeClr val="bg1">
                <a:lumMod val="65000"/>
              </a:schemeClr>
            </a:gs>
            <a:gs pos="100000">
              <a:schemeClr val="accent3">
                <a:lumMod val="75000"/>
              </a:schemeClr>
            </a:gs>
            <a:gs pos="73000">
              <a:schemeClr val="accent3"/>
            </a:gs>
          </a:gsLst>
          <a:path path="circle">
            <a:fillToRect l="100000" t="100000"/>
          </a:path>
        </a:gra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8B0431C-64E6-4A3C-BF12-6258F1E9C26D}"/>
              </a:ext>
            </a:extLst>
          </p:cNvPr>
          <p:cNvSpPr txBox="1"/>
          <p:nvPr/>
        </p:nvSpPr>
        <p:spPr>
          <a:xfrm>
            <a:off x="101287" y="1032697"/>
            <a:ext cx="11749940" cy="5755422"/>
          </a:xfrm>
          <a:prstGeom prst="rect">
            <a:avLst/>
          </a:prstGeom>
          <a:noFill/>
        </p:spPr>
        <p:txBody>
          <a:bodyPr wrap="square" rtlCol="0">
            <a:spAutoFit/>
          </a:bodyPr>
          <a:lstStyle/>
          <a:p>
            <a:pPr marL="342900" indent="-342900" algn="l">
              <a:buFont typeface="Arial" panose="020B0604020202020204" pitchFamily="34" charset="0"/>
              <a:buChar char="•"/>
            </a:pPr>
            <a:r>
              <a:rPr lang="en-US" sz="2300" i="0" dirty="0">
                <a:solidFill>
                  <a:srgbClr val="FF0000"/>
                </a:solidFill>
                <a:effectLst>
                  <a:outerShdw blurRad="482600" dist="38100" dir="18900000" algn="bl" rotWithShape="0">
                    <a:prstClr val="black">
                      <a:alpha val="48000"/>
                    </a:prstClr>
                  </a:outerShdw>
                </a:effectLst>
                <a:latin typeface="Times New Roman" panose="02020603050405020304" pitchFamily="18" charset="0"/>
                <a:cs typeface="Times New Roman" panose="02020603050405020304" pitchFamily="18" charset="0"/>
              </a:rPr>
              <a:t>Utilizing Machine Learning Techniques: </a:t>
            </a:r>
            <a:r>
              <a:rPr lang="en-US" sz="2300" i="0" dirty="0">
                <a:effectLst>
                  <a:outerShdw blurRad="482600" dist="38100" dir="18900000" algn="bl" rotWithShape="0">
                    <a:prstClr val="black">
                      <a:alpha val="48000"/>
                    </a:prstClr>
                  </a:outerShdw>
                </a:effectLst>
                <a:latin typeface="Times New Roman" panose="02020603050405020304" pitchFamily="18" charset="0"/>
                <a:cs typeface="Times New Roman" panose="02020603050405020304" pitchFamily="18" charset="0"/>
              </a:rPr>
              <a:t>This study harnesses machine learning, specifically Support Vector Machine (SVM) and K-Means clustering, to enhance predictive capabilities in legal decision outcomes. The research dataset encompasses crucial legal attributes, such as majority vote and the age of individuals involved in legal cases.</a:t>
            </a:r>
          </a:p>
          <a:p>
            <a:pPr marL="342900" indent="-342900" algn="l">
              <a:buFont typeface="Arial" panose="020B0604020202020204" pitchFamily="34" charset="0"/>
              <a:buChar char="•"/>
            </a:pPr>
            <a:r>
              <a:rPr lang="en-US" sz="2300" i="0" dirty="0">
                <a:solidFill>
                  <a:srgbClr val="FF0000"/>
                </a:solidFill>
                <a:effectLst>
                  <a:outerShdw blurRad="482600" dist="38100" dir="18900000" algn="bl" rotWithShape="0">
                    <a:prstClr val="black">
                      <a:alpha val="48000"/>
                    </a:prstClr>
                  </a:outerShdw>
                </a:effectLst>
                <a:latin typeface="Times New Roman" panose="02020603050405020304" pitchFamily="18" charset="0"/>
                <a:cs typeface="Times New Roman" panose="02020603050405020304" pitchFamily="18" charset="0"/>
              </a:rPr>
              <a:t>SVM Classifier for Decision Patterns:</a:t>
            </a:r>
            <a:r>
              <a:rPr lang="en-US" sz="2300" i="0" dirty="0">
                <a:effectLst>
                  <a:outerShdw blurRad="482600" dist="38100" dir="18900000" algn="bl" rotWithShape="0">
                    <a:prstClr val="black">
                      <a:alpha val="48000"/>
                    </a:prstClr>
                  </a:outerShdw>
                </a:effectLst>
                <a:latin typeface="Times New Roman" panose="02020603050405020304" pitchFamily="18" charset="0"/>
                <a:cs typeface="Times New Roman" panose="02020603050405020304" pitchFamily="18" charset="0"/>
              </a:rPr>
              <a:t> SVM is deployed to detect patterns in the dataset and establish a hyperplane effectively segregating two distinct classes within the 'judgment' column, achieving an accuracy of 81.3%.</a:t>
            </a:r>
          </a:p>
          <a:p>
            <a:pPr marL="342900" indent="-342900" algn="l">
              <a:buFont typeface="Arial" panose="020B0604020202020204" pitchFamily="34" charset="0"/>
              <a:buChar char="•"/>
            </a:pPr>
            <a:r>
              <a:rPr lang="en-US" sz="2300" i="0" dirty="0">
                <a:solidFill>
                  <a:srgbClr val="FF0000"/>
                </a:solidFill>
                <a:effectLst>
                  <a:outerShdw blurRad="482600" dist="38100" dir="18900000" algn="bl" rotWithShape="0">
                    <a:prstClr val="black">
                      <a:alpha val="48000"/>
                    </a:prstClr>
                  </a:outerShdw>
                </a:effectLst>
                <a:latin typeface="Times New Roman" panose="02020603050405020304" pitchFamily="18" charset="0"/>
                <a:cs typeface="Times New Roman" panose="02020603050405020304" pitchFamily="18" charset="0"/>
              </a:rPr>
              <a:t>K-Means Clustering for Decision Types: </a:t>
            </a:r>
            <a:r>
              <a:rPr lang="en-US" sz="2300" i="0" dirty="0">
                <a:effectLst>
                  <a:outerShdw blurRad="482600" dist="38100" dir="18900000" algn="bl" rotWithShape="0">
                    <a:prstClr val="black">
                      <a:alpha val="48000"/>
                    </a:prstClr>
                  </a:outerShdw>
                </a:effectLst>
                <a:latin typeface="Times New Roman" panose="02020603050405020304" pitchFamily="18" charset="0"/>
                <a:cs typeface="Times New Roman" panose="02020603050405020304" pitchFamily="18" charset="0"/>
              </a:rPr>
              <a:t>K-Means clustering is applied to identify inherent groupings among cases based on the encoded '</a:t>
            </a:r>
            <a:r>
              <a:rPr lang="en-US" sz="2300" i="0" dirty="0" err="1">
                <a:effectLst>
                  <a:outerShdw blurRad="482600" dist="38100" dir="18900000" algn="bl" rotWithShape="0">
                    <a:prstClr val="black">
                      <a:alpha val="48000"/>
                    </a:prstClr>
                  </a:outerShdw>
                </a:effectLst>
                <a:latin typeface="Times New Roman" panose="02020603050405020304" pitchFamily="18" charset="0"/>
                <a:cs typeface="Times New Roman" panose="02020603050405020304" pitchFamily="18" charset="0"/>
              </a:rPr>
              <a:t>decision_type</a:t>
            </a:r>
            <a:r>
              <a:rPr lang="en-US" sz="2300" i="0" dirty="0">
                <a:effectLst>
                  <a:outerShdw blurRad="482600" dist="38100" dir="18900000" algn="bl" rotWithShape="0">
                    <a:prstClr val="black">
                      <a:alpha val="48000"/>
                    </a:prstClr>
                  </a:outerShdw>
                </a:effectLst>
                <a:latin typeface="Times New Roman" panose="02020603050405020304" pitchFamily="18" charset="0"/>
                <a:cs typeface="Times New Roman" panose="02020603050405020304" pitchFamily="18" charset="0"/>
              </a:rPr>
              <a:t>' column, visualizing distinct</a:t>
            </a:r>
            <a:r>
              <a:rPr lang="en-US" sz="2300" i="0" dirty="0">
                <a:solidFill>
                  <a:srgbClr val="FF0000"/>
                </a:solidFill>
                <a:effectLst>
                  <a:outerShdw blurRad="482600" dist="38100" dir="18900000" algn="bl" rotWithShape="0">
                    <a:prstClr val="black">
                      <a:alpha val="48000"/>
                    </a:prstClr>
                  </a:outerShdw>
                </a:effectLst>
                <a:latin typeface="Times New Roman" panose="02020603050405020304" pitchFamily="18" charset="0"/>
                <a:cs typeface="Times New Roman" panose="02020603050405020304" pitchFamily="18" charset="0"/>
              </a:rPr>
              <a:t> </a:t>
            </a:r>
            <a:r>
              <a:rPr lang="en-US" sz="2300" i="0" dirty="0">
                <a:effectLst>
                  <a:outerShdw blurRad="482600" dist="38100" dir="18900000" algn="bl" rotWithShape="0">
                    <a:prstClr val="black">
                      <a:alpha val="48000"/>
                    </a:prstClr>
                  </a:outerShdw>
                </a:effectLst>
                <a:latin typeface="Times New Roman" panose="02020603050405020304" pitchFamily="18" charset="0"/>
                <a:cs typeface="Times New Roman" panose="02020603050405020304" pitchFamily="18" charset="0"/>
              </a:rPr>
              <a:t>decision types in the majority vote-age space.</a:t>
            </a:r>
          </a:p>
          <a:p>
            <a:pPr marL="342900" indent="-342900" algn="l">
              <a:buFont typeface="Arial" panose="020B0604020202020204" pitchFamily="34" charset="0"/>
              <a:buChar char="•"/>
            </a:pPr>
            <a:r>
              <a:rPr lang="en-US" sz="2300" i="0" dirty="0">
                <a:solidFill>
                  <a:srgbClr val="FF0000"/>
                </a:solidFill>
                <a:effectLst>
                  <a:outerShdw blurRad="482600" dist="38100" dir="18900000" algn="bl" rotWithShape="0">
                    <a:prstClr val="black">
                      <a:alpha val="48000"/>
                    </a:prstClr>
                  </a:outerShdw>
                </a:effectLst>
                <a:latin typeface="Times New Roman" panose="02020603050405020304" pitchFamily="18" charset="0"/>
                <a:cs typeface="Times New Roman" panose="02020603050405020304" pitchFamily="18" charset="0"/>
              </a:rPr>
              <a:t>Quantitative Evaluation: </a:t>
            </a:r>
            <a:r>
              <a:rPr lang="en-US" sz="2300" i="0" dirty="0">
                <a:effectLst>
                  <a:outerShdw blurRad="482600" dist="38100" dir="18900000" algn="bl" rotWithShape="0">
                    <a:prstClr val="black">
                      <a:alpha val="48000"/>
                    </a:prstClr>
                  </a:outerShdw>
                </a:effectLst>
                <a:latin typeface="Times New Roman" panose="02020603050405020304" pitchFamily="18" charset="0"/>
                <a:cs typeface="Times New Roman" panose="02020603050405020304" pitchFamily="18" charset="0"/>
              </a:rPr>
              <a:t>The study presents quantitative evaluation results, including an accuracy of 79.8%, a recall of 76.8%, a precision of 77.2%, and an F1 Score of 75.6%, affirming the approach's effectiveness.</a:t>
            </a:r>
          </a:p>
          <a:p>
            <a:pPr marL="342900" indent="-342900" algn="l">
              <a:buFont typeface="Arial" panose="020B0604020202020204" pitchFamily="34" charset="0"/>
              <a:buChar char="•"/>
            </a:pPr>
            <a:r>
              <a:rPr lang="en-US" sz="2300" i="0" dirty="0">
                <a:solidFill>
                  <a:srgbClr val="FF0000"/>
                </a:solidFill>
                <a:effectLst>
                  <a:outerShdw blurRad="482600" dist="38100" dir="18900000" algn="bl" rotWithShape="0">
                    <a:prstClr val="black">
                      <a:alpha val="48000"/>
                    </a:prstClr>
                  </a:outerShdw>
                </a:effectLst>
                <a:latin typeface="Times New Roman" panose="02020603050405020304" pitchFamily="18" charset="0"/>
                <a:cs typeface="Times New Roman" panose="02020603050405020304" pitchFamily="18" charset="0"/>
              </a:rPr>
              <a:t>SVM Decision Boundary and K-Means Clustering: </a:t>
            </a:r>
            <a:r>
              <a:rPr lang="en-US" sz="2300" i="0" dirty="0">
                <a:effectLst>
                  <a:outerShdw blurRad="482600" dist="38100" dir="18900000" algn="bl" rotWithShape="0">
                    <a:prstClr val="black">
                      <a:alpha val="48000"/>
                    </a:prstClr>
                  </a:outerShdw>
                </a:effectLst>
                <a:latin typeface="Times New Roman" panose="02020603050405020304" pitchFamily="18" charset="0"/>
                <a:cs typeface="Times New Roman" panose="02020603050405020304" pitchFamily="18" charset="0"/>
              </a:rPr>
              <a:t>Figure 2.3 showcases the SVM decision boundary, while Figure 3 illustrates the K-Means clustering with precision, recall, accuracy, and F1 Score metrics, emphasizing the study's contribution to legal informatics.</a:t>
            </a:r>
          </a:p>
        </p:txBody>
      </p:sp>
      <p:sp>
        <p:nvSpPr>
          <p:cNvPr id="3" name="TextBox 2">
            <a:extLst>
              <a:ext uri="{FF2B5EF4-FFF2-40B4-BE49-F238E27FC236}">
                <a16:creationId xmlns:a16="http://schemas.microsoft.com/office/drawing/2014/main" id="{53A19D78-16CF-4288-893B-B2DB9A0EB053}"/>
              </a:ext>
            </a:extLst>
          </p:cNvPr>
          <p:cNvSpPr txBox="1"/>
          <p:nvPr/>
        </p:nvSpPr>
        <p:spPr>
          <a:xfrm>
            <a:off x="3020291" y="-167632"/>
            <a:ext cx="7361382" cy="1200329"/>
          </a:xfrm>
          <a:prstGeom prst="rect">
            <a:avLst/>
          </a:prstGeom>
          <a:noFill/>
        </p:spPr>
        <p:txBody>
          <a:bodyPr wrap="square" rtlCol="0">
            <a:spAutoFit/>
          </a:bodyPr>
          <a:lstStyle/>
          <a:p>
            <a:r>
              <a:rPr lang="en-US" sz="7200" dirty="0">
                <a:effectLst>
                  <a:outerShdw blurRad="114300" sx="102000" sy="102000" algn="ctr" rotWithShape="0">
                    <a:prstClr val="black">
                      <a:alpha val="68000"/>
                    </a:prstClr>
                  </a:outerShdw>
                </a:effectLst>
                <a:latin typeface="Sitka Small Semibold" pitchFamily="2" charset="0"/>
              </a:rPr>
              <a:t>Conclusion</a:t>
            </a:r>
            <a:endParaRPr lang="en-IN" sz="7200" dirty="0">
              <a:effectLst>
                <a:outerShdw blurRad="114300" sx="102000" sy="102000" algn="ctr" rotWithShape="0">
                  <a:prstClr val="black">
                    <a:alpha val="68000"/>
                  </a:prstClr>
                </a:outerShdw>
              </a:effectLst>
              <a:latin typeface="Sitka Small Semibold" pitchFamily="2" charset="0"/>
            </a:endParaRPr>
          </a:p>
        </p:txBody>
      </p:sp>
    </p:spTree>
    <p:extLst>
      <p:ext uri="{BB962C8B-B14F-4D97-AF65-F5344CB8AC3E}">
        <p14:creationId xmlns:p14="http://schemas.microsoft.com/office/powerpoint/2010/main" val="40920598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0"/>
              </a:schemeClr>
            </a:gs>
            <a:gs pos="0">
              <a:schemeClr val="bg1">
                <a:lumMod val="65000"/>
              </a:schemeClr>
            </a:gs>
            <a:gs pos="100000">
              <a:schemeClr val="accent3">
                <a:lumMod val="75000"/>
              </a:schemeClr>
            </a:gs>
            <a:gs pos="73000">
              <a:schemeClr val="accent3"/>
            </a:gs>
          </a:gsLst>
          <a:path path="circle">
            <a:fillToRect l="100000" t="100000"/>
          </a:path>
        </a:gra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8B0431C-64E6-4A3C-BF12-6258F1E9C26D}"/>
              </a:ext>
            </a:extLst>
          </p:cNvPr>
          <p:cNvSpPr txBox="1"/>
          <p:nvPr/>
        </p:nvSpPr>
        <p:spPr>
          <a:xfrm>
            <a:off x="221030" y="1035006"/>
            <a:ext cx="11749940" cy="5755422"/>
          </a:xfrm>
          <a:prstGeom prst="rect">
            <a:avLst/>
          </a:prstGeom>
          <a:noFill/>
        </p:spPr>
        <p:txBody>
          <a:bodyPr wrap="square" rtlCol="0">
            <a:spAutoFit/>
          </a:bodyPr>
          <a:lstStyle/>
          <a:p>
            <a:pPr algn="l"/>
            <a:r>
              <a:rPr lang="en-US" sz="2300" i="0" dirty="0">
                <a:solidFill>
                  <a:srgbClr val="FF0000"/>
                </a:solidFill>
                <a:effectLst>
                  <a:outerShdw blurRad="431800" dist="38100" dir="5400000" algn="t" rotWithShape="0">
                    <a:prstClr val="black">
                      <a:alpha val="17000"/>
                    </a:prstClr>
                  </a:outerShdw>
                </a:effectLst>
                <a:latin typeface="Times New Roman" panose="02020603050405020304" pitchFamily="18" charset="0"/>
                <a:cs typeface="Times New Roman" panose="02020603050405020304" pitchFamily="18" charset="0"/>
              </a:rPr>
              <a:t>Enhancing Legal Decision-Making: </a:t>
            </a:r>
            <a:r>
              <a:rPr lang="en-US" sz="2300" i="0" dirty="0">
                <a:effectLst>
                  <a:outerShdw blurRad="431800" dist="38100" dir="5400000" algn="t" rotWithShape="0">
                    <a:prstClr val="black">
                      <a:alpha val="17000"/>
                    </a:prstClr>
                  </a:outerShdw>
                </a:effectLst>
                <a:latin typeface="Times New Roman" panose="02020603050405020304" pitchFamily="18" charset="0"/>
                <a:cs typeface="Times New Roman" panose="02020603050405020304" pitchFamily="18" charset="0"/>
              </a:rPr>
              <a:t>The study's framework contributes to improving legal decision-making through machine learning predictions.</a:t>
            </a:r>
          </a:p>
          <a:p>
            <a:pPr algn="l"/>
            <a:r>
              <a:rPr lang="en-US" sz="2300" i="0" dirty="0">
                <a:solidFill>
                  <a:srgbClr val="FF0000"/>
                </a:solidFill>
                <a:effectLst>
                  <a:outerShdw blurRad="431800" dist="38100" dir="5400000" algn="t" rotWithShape="0">
                    <a:prstClr val="black">
                      <a:alpha val="17000"/>
                    </a:prstClr>
                  </a:outerShdw>
                </a:effectLst>
                <a:latin typeface="Times New Roman" panose="02020603050405020304" pitchFamily="18" charset="0"/>
                <a:cs typeface="Times New Roman" panose="02020603050405020304" pitchFamily="18" charset="0"/>
              </a:rPr>
              <a:t>Real-Time Data Streams: </a:t>
            </a:r>
            <a:r>
              <a:rPr lang="en-US" sz="2300" i="0" dirty="0">
                <a:effectLst>
                  <a:outerShdw blurRad="431800" dist="38100" dir="5400000" algn="t" rotWithShape="0">
                    <a:prstClr val="black">
                      <a:alpha val="17000"/>
                    </a:prstClr>
                  </a:outerShdw>
                </a:effectLst>
                <a:latin typeface="Times New Roman" panose="02020603050405020304" pitchFamily="18" charset="0"/>
                <a:cs typeface="Times New Roman" panose="02020603050405020304" pitchFamily="18" charset="0"/>
              </a:rPr>
              <a:t>Future work includes extending the model's applicability to real-time data streams, enabling incorporation of live courtroom proceedings for more current and accurate insights.</a:t>
            </a:r>
          </a:p>
          <a:p>
            <a:pPr algn="l"/>
            <a:r>
              <a:rPr lang="en-US" sz="2300" i="0" dirty="0">
                <a:solidFill>
                  <a:srgbClr val="FF0000"/>
                </a:solidFill>
                <a:effectLst>
                  <a:outerShdw blurRad="431800" dist="38100" dir="5400000" algn="t" rotWithShape="0">
                    <a:prstClr val="black">
                      <a:alpha val="17000"/>
                    </a:prstClr>
                  </a:outerShdw>
                </a:effectLst>
                <a:latin typeface="Times New Roman" panose="02020603050405020304" pitchFamily="18" charset="0"/>
                <a:cs typeface="Times New Roman" panose="02020603050405020304" pitchFamily="18" charset="0"/>
              </a:rPr>
              <a:t>Application in Indian Legal Landscape: </a:t>
            </a:r>
            <a:r>
              <a:rPr lang="en-US" sz="2300" i="0" dirty="0">
                <a:effectLst>
                  <a:outerShdw blurRad="431800" dist="38100" dir="5400000" algn="t" rotWithShape="0">
                    <a:prstClr val="black">
                      <a:alpha val="17000"/>
                    </a:prstClr>
                  </a:outerShdw>
                </a:effectLst>
                <a:latin typeface="Times New Roman" panose="02020603050405020304" pitchFamily="18" charset="0"/>
                <a:cs typeface="Times New Roman" panose="02020603050405020304" pitchFamily="18" charset="0"/>
              </a:rPr>
              <a:t>The model has potential in reshaping the Indian legal landscape, offering predictions across diverse sections of law, spanning criminal, civil, constitutional, and administrative realms.</a:t>
            </a:r>
          </a:p>
          <a:p>
            <a:pPr algn="l"/>
            <a:r>
              <a:rPr lang="en-US" sz="2300" i="0" dirty="0">
                <a:solidFill>
                  <a:srgbClr val="FF0000"/>
                </a:solidFill>
                <a:effectLst>
                  <a:outerShdw blurRad="431800" dist="38100" dir="5400000" algn="t" rotWithShape="0">
                    <a:prstClr val="black">
                      <a:alpha val="17000"/>
                    </a:prstClr>
                  </a:outerShdw>
                </a:effectLst>
                <a:latin typeface="Times New Roman" panose="02020603050405020304" pitchFamily="18" charset="0"/>
                <a:cs typeface="Times New Roman" panose="02020603050405020304" pitchFamily="18" charset="0"/>
              </a:rPr>
              <a:t>Tailored Recommendations: </a:t>
            </a:r>
            <a:r>
              <a:rPr lang="en-US" sz="2300" i="0" dirty="0">
                <a:effectLst>
                  <a:outerShdw blurRad="431800" dist="38100" dir="5400000" algn="t" rotWithShape="0">
                    <a:prstClr val="black">
                      <a:alpha val="17000"/>
                    </a:prstClr>
                  </a:outerShdw>
                </a:effectLst>
                <a:latin typeface="Times New Roman" panose="02020603050405020304" pitchFamily="18" charset="0"/>
                <a:cs typeface="Times New Roman" panose="02020603050405020304" pitchFamily="18" charset="0"/>
              </a:rPr>
              <a:t>Implementation of the model can facilitate tailored recommendations for judges, lawyers, and litigants, aiding in case strategy, resource allocation, and efficient case management.</a:t>
            </a:r>
          </a:p>
          <a:p>
            <a:pPr algn="l"/>
            <a:r>
              <a:rPr lang="en-US" sz="2300" i="0" dirty="0">
                <a:solidFill>
                  <a:srgbClr val="FF0000"/>
                </a:solidFill>
                <a:effectLst>
                  <a:outerShdw blurRad="431800" dist="38100" dir="5400000" algn="t" rotWithShape="0">
                    <a:prstClr val="black">
                      <a:alpha val="17000"/>
                    </a:prstClr>
                  </a:outerShdw>
                </a:effectLst>
                <a:latin typeface="Times New Roman" panose="02020603050405020304" pitchFamily="18" charset="0"/>
                <a:cs typeface="Times New Roman" panose="02020603050405020304" pitchFamily="18" charset="0"/>
              </a:rPr>
              <a:t>Identifying Jurisprudential Trends: </a:t>
            </a:r>
            <a:r>
              <a:rPr lang="en-US" sz="2300" i="0" dirty="0">
                <a:effectLst>
                  <a:outerShdw blurRad="431800" dist="38100" dir="5400000" algn="t" rotWithShape="0">
                    <a:prstClr val="black">
                      <a:alpha val="17000"/>
                    </a:prstClr>
                  </a:outerShdw>
                </a:effectLst>
                <a:latin typeface="Times New Roman" panose="02020603050405020304" pitchFamily="18" charset="0"/>
                <a:cs typeface="Times New Roman" panose="02020603050405020304" pitchFamily="18" charset="0"/>
              </a:rPr>
              <a:t>The model's evolution allows for identifying jurisprudential trends, inconsistencies, and potential biases in the legal system, providing a basis for judicial reforms and policy-making.</a:t>
            </a:r>
          </a:p>
          <a:p>
            <a:pPr algn="l"/>
            <a:r>
              <a:rPr lang="en-US" sz="2300" i="0" dirty="0">
                <a:solidFill>
                  <a:srgbClr val="FF0000"/>
                </a:solidFill>
                <a:effectLst>
                  <a:outerShdw blurRad="431800" dist="38100" dir="5400000" algn="t" rotWithShape="0">
                    <a:prstClr val="black">
                      <a:alpha val="17000"/>
                    </a:prstClr>
                  </a:outerShdw>
                </a:effectLst>
                <a:latin typeface="Times New Roman" panose="02020603050405020304" pitchFamily="18" charset="0"/>
                <a:cs typeface="Times New Roman" panose="02020603050405020304" pitchFamily="18" charset="0"/>
              </a:rPr>
              <a:t>Towards a Transparent Legal Ecosystem: </a:t>
            </a:r>
            <a:r>
              <a:rPr lang="en-US" sz="2300" i="0" dirty="0">
                <a:effectLst>
                  <a:outerShdw blurRad="431800" dist="38100" dir="5400000" algn="t" rotWithShape="0">
                    <a:prstClr val="black">
                      <a:alpha val="17000"/>
                    </a:prstClr>
                  </a:outerShdw>
                </a:effectLst>
                <a:latin typeface="Times New Roman" panose="02020603050405020304" pitchFamily="18" charset="0"/>
                <a:cs typeface="Times New Roman" panose="02020603050405020304" pitchFamily="18" charset="0"/>
              </a:rPr>
              <a:t>The insights gathered aim to ensure a more transparent, efficient, and equitable legal ecosystem for the future.</a:t>
            </a:r>
          </a:p>
        </p:txBody>
      </p:sp>
      <p:sp>
        <p:nvSpPr>
          <p:cNvPr id="3" name="TextBox 2">
            <a:extLst>
              <a:ext uri="{FF2B5EF4-FFF2-40B4-BE49-F238E27FC236}">
                <a16:creationId xmlns:a16="http://schemas.microsoft.com/office/drawing/2014/main" id="{53A19D78-16CF-4288-893B-B2DB9A0EB053}"/>
              </a:ext>
            </a:extLst>
          </p:cNvPr>
          <p:cNvSpPr txBox="1"/>
          <p:nvPr/>
        </p:nvSpPr>
        <p:spPr>
          <a:xfrm>
            <a:off x="2269175" y="-165323"/>
            <a:ext cx="7843653" cy="1200329"/>
          </a:xfrm>
          <a:prstGeom prst="rect">
            <a:avLst/>
          </a:prstGeom>
          <a:noFill/>
        </p:spPr>
        <p:txBody>
          <a:bodyPr wrap="square" rtlCol="0">
            <a:spAutoFit/>
          </a:bodyPr>
          <a:lstStyle/>
          <a:p>
            <a:r>
              <a:rPr lang="en-US" sz="7200" dirty="0">
                <a:solidFill>
                  <a:srgbClr val="FF0000"/>
                </a:solidFill>
                <a:effectLst>
                  <a:outerShdw blurRad="203200" dist="38100" dir="18900000" algn="bl" rotWithShape="0">
                    <a:prstClr val="black">
                      <a:alpha val="65000"/>
                    </a:prstClr>
                  </a:outerShdw>
                </a:effectLst>
                <a:latin typeface="Sitka Small Semibold" pitchFamily="2" charset="0"/>
              </a:rPr>
              <a:t>Future avenues</a:t>
            </a:r>
            <a:endParaRPr lang="en-IN" sz="7200" dirty="0">
              <a:solidFill>
                <a:srgbClr val="FF0000"/>
              </a:solidFill>
              <a:effectLst>
                <a:outerShdw blurRad="203200" dist="38100" dir="18900000" algn="bl" rotWithShape="0">
                  <a:prstClr val="black">
                    <a:alpha val="65000"/>
                  </a:prstClr>
                </a:outerShdw>
              </a:effectLst>
              <a:latin typeface="Sitka Small Semibold" pitchFamily="2" charset="0"/>
            </a:endParaRPr>
          </a:p>
        </p:txBody>
      </p:sp>
    </p:spTree>
    <p:extLst>
      <p:ext uri="{BB962C8B-B14F-4D97-AF65-F5344CB8AC3E}">
        <p14:creationId xmlns:p14="http://schemas.microsoft.com/office/powerpoint/2010/main" val="256230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6B913D8-44D9-4AF2-2B1E-AD1315D8A0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1488"/>
            <a:ext cx="11711031" cy="6535024"/>
          </a:xfrm>
          <a:prstGeom prst="rect">
            <a:avLst/>
          </a:prstGeom>
        </p:spPr>
      </p:pic>
      <p:sp>
        <p:nvSpPr>
          <p:cNvPr id="5" name="TextBox 4">
            <a:extLst>
              <a:ext uri="{FF2B5EF4-FFF2-40B4-BE49-F238E27FC236}">
                <a16:creationId xmlns:a16="http://schemas.microsoft.com/office/drawing/2014/main" id="{F5768318-B1DB-4B17-09DB-CA5802920686}"/>
              </a:ext>
            </a:extLst>
          </p:cNvPr>
          <p:cNvSpPr txBox="1"/>
          <p:nvPr/>
        </p:nvSpPr>
        <p:spPr>
          <a:xfrm>
            <a:off x="0" y="0"/>
            <a:ext cx="12192000" cy="6858000"/>
          </a:xfrm>
          <a:custGeom>
            <a:avLst/>
            <a:gdLst/>
            <a:ahLst/>
            <a:cxnLst/>
            <a:rect l="l" t="t" r="r" b="b"/>
            <a:pathLst>
              <a:path w="12192000" h="6858000">
                <a:moveTo>
                  <a:pt x="8740764" y="4390108"/>
                </a:moveTo>
                <a:cubicBezTo>
                  <a:pt x="8842650" y="4390108"/>
                  <a:pt x="8923788" y="4428315"/>
                  <a:pt x="8984180" y="4504729"/>
                </a:cubicBezTo>
                <a:cubicBezTo>
                  <a:pt x="9044572" y="4581143"/>
                  <a:pt x="9074767" y="4687958"/>
                  <a:pt x="9074767" y="4825174"/>
                </a:cubicBezTo>
                <a:cubicBezTo>
                  <a:pt x="9074767" y="4960747"/>
                  <a:pt x="9044572" y="5066946"/>
                  <a:pt x="8984180" y="5143771"/>
                </a:cubicBezTo>
                <a:cubicBezTo>
                  <a:pt x="8923788" y="5220596"/>
                  <a:pt x="8842650" y="5259008"/>
                  <a:pt x="8740764" y="5259008"/>
                </a:cubicBezTo>
                <a:cubicBezTo>
                  <a:pt x="8673389" y="5259008"/>
                  <a:pt x="8614846" y="5241548"/>
                  <a:pt x="8565136" y="5206628"/>
                </a:cubicBezTo>
                <a:cubicBezTo>
                  <a:pt x="8515426" y="5171707"/>
                  <a:pt x="8477218" y="5121381"/>
                  <a:pt x="8450515" y="5055649"/>
                </a:cubicBezTo>
                <a:cubicBezTo>
                  <a:pt x="8423811" y="4989916"/>
                  <a:pt x="8410459" y="4913091"/>
                  <a:pt x="8410459" y="4825174"/>
                </a:cubicBezTo>
                <a:cubicBezTo>
                  <a:pt x="8410459" y="4736436"/>
                  <a:pt x="8424016" y="4658789"/>
                  <a:pt x="8451131" y="4592235"/>
                </a:cubicBezTo>
                <a:cubicBezTo>
                  <a:pt x="8478246" y="4525681"/>
                  <a:pt x="8516864" y="4475354"/>
                  <a:pt x="8566984" y="4441256"/>
                </a:cubicBezTo>
                <a:cubicBezTo>
                  <a:pt x="8617105" y="4407157"/>
                  <a:pt x="8675032" y="4390108"/>
                  <a:pt x="8740764" y="4390108"/>
                </a:cubicBezTo>
                <a:close/>
                <a:moveTo>
                  <a:pt x="9833396" y="4141146"/>
                </a:moveTo>
                <a:cubicBezTo>
                  <a:pt x="9783274" y="4141146"/>
                  <a:pt x="9743013" y="4157785"/>
                  <a:pt x="9712612" y="4191062"/>
                </a:cubicBezTo>
                <a:cubicBezTo>
                  <a:pt x="9682211" y="4224339"/>
                  <a:pt x="9667010" y="4274665"/>
                  <a:pt x="9667010" y="4342041"/>
                </a:cubicBezTo>
                <a:lnTo>
                  <a:pt x="9667010" y="5008814"/>
                </a:lnTo>
                <a:cubicBezTo>
                  <a:pt x="9667010" y="5142744"/>
                  <a:pt x="9687962" y="5245451"/>
                  <a:pt x="9729867" y="5316935"/>
                </a:cubicBezTo>
                <a:cubicBezTo>
                  <a:pt x="9765198" y="5376094"/>
                  <a:pt x="9815114" y="5422518"/>
                  <a:pt x="9879614" y="5456205"/>
                </a:cubicBezTo>
                <a:cubicBezTo>
                  <a:pt x="9944114" y="5489893"/>
                  <a:pt x="10017036" y="5506737"/>
                  <a:pt x="10098379" y="5506737"/>
                </a:cubicBezTo>
                <a:cubicBezTo>
                  <a:pt x="10165755" y="5506737"/>
                  <a:pt x="10225736" y="5498315"/>
                  <a:pt x="10278322" y="5481471"/>
                </a:cubicBezTo>
                <a:cubicBezTo>
                  <a:pt x="10330908" y="5464627"/>
                  <a:pt x="10379386" y="5438951"/>
                  <a:pt x="10423755" y="5404441"/>
                </a:cubicBezTo>
                <a:cubicBezTo>
                  <a:pt x="10468124" y="5369932"/>
                  <a:pt x="10510439" y="5327205"/>
                  <a:pt x="10550700" y="5276263"/>
                </a:cubicBezTo>
                <a:lnTo>
                  <a:pt x="10550700" y="5319400"/>
                </a:lnTo>
                <a:cubicBezTo>
                  <a:pt x="10550700" y="5379381"/>
                  <a:pt x="10565696" y="5426009"/>
                  <a:pt x="10595686" y="5459287"/>
                </a:cubicBezTo>
                <a:cubicBezTo>
                  <a:pt x="10625676" y="5492564"/>
                  <a:pt x="10663678" y="5509202"/>
                  <a:pt x="10709691" y="5509202"/>
                </a:cubicBezTo>
                <a:cubicBezTo>
                  <a:pt x="10755704" y="5509202"/>
                  <a:pt x="10793294" y="5493180"/>
                  <a:pt x="10822463" y="5461135"/>
                </a:cubicBezTo>
                <a:cubicBezTo>
                  <a:pt x="10851632" y="5429091"/>
                  <a:pt x="10866216" y="5381024"/>
                  <a:pt x="10866216" y="5316935"/>
                </a:cubicBezTo>
                <a:lnTo>
                  <a:pt x="10866216" y="4342041"/>
                </a:lnTo>
                <a:cubicBezTo>
                  <a:pt x="10866216" y="4274665"/>
                  <a:pt x="10851016" y="4224339"/>
                  <a:pt x="10820614" y="4191062"/>
                </a:cubicBezTo>
                <a:cubicBezTo>
                  <a:pt x="10790213" y="4157785"/>
                  <a:pt x="10749952" y="4141146"/>
                  <a:pt x="10699831" y="4141146"/>
                </a:cubicBezTo>
                <a:cubicBezTo>
                  <a:pt x="10649710" y="4141146"/>
                  <a:pt x="10609038" y="4157990"/>
                  <a:pt x="10577815" y="4191678"/>
                </a:cubicBezTo>
                <a:cubicBezTo>
                  <a:pt x="10546592" y="4225366"/>
                  <a:pt x="10530981" y="4275487"/>
                  <a:pt x="10530981" y="4342041"/>
                </a:cubicBezTo>
                <a:lnTo>
                  <a:pt x="10530981" y="4751225"/>
                </a:lnTo>
                <a:cubicBezTo>
                  <a:pt x="10530981" y="4912270"/>
                  <a:pt x="10521532" y="5016620"/>
                  <a:pt x="10502634" y="5064276"/>
                </a:cubicBezTo>
                <a:cubicBezTo>
                  <a:pt x="10479628" y="5118505"/>
                  <a:pt x="10443064" y="5162464"/>
                  <a:pt x="10392943" y="5196152"/>
                </a:cubicBezTo>
                <a:cubicBezTo>
                  <a:pt x="10342822" y="5229839"/>
                  <a:pt x="10289414" y="5246683"/>
                  <a:pt x="10232720" y="5246683"/>
                </a:cubicBezTo>
                <a:cubicBezTo>
                  <a:pt x="10174382" y="5246683"/>
                  <a:pt x="10128164" y="5231688"/>
                  <a:pt x="10094066" y="5201698"/>
                </a:cubicBezTo>
                <a:cubicBezTo>
                  <a:pt x="10059967" y="5171707"/>
                  <a:pt x="10036344" y="5130214"/>
                  <a:pt x="10023198" y="5077217"/>
                </a:cubicBezTo>
                <a:cubicBezTo>
                  <a:pt x="10010051" y="5024220"/>
                  <a:pt x="10003478" y="4958693"/>
                  <a:pt x="10003478" y="4880636"/>
                </a:cubicBezTo>
                <a:lnTo>
                  <a:pt x="10003478" y="4342041"/>
                </a:lnTo>
                <a:cubicBezTo>
                  <a:pt x="10003478" y="4275487"/>
                  <a:pt x="9987866" y="4225366"/>
                  <a:pt x="9956644" y="4191678"/>
                </a:cubicBezTo>
                <a:cubicBezTo>
                  <a:pt x="9925421" y="4157990"/>
                  <a:pt x="9884338" y="4141146"/>
                  <a:pt x="9833396" y="4141146"/>
                </a:cubicBezTo>
                <a:close/>
                <a:moveTo>
                  <a:pt x="8740764" y="4141146"/>
                </a:moveTo>
                <a:cubicBezTo>
                  <a:pt x="8640523" y="4141146"/>
                  <a:pt x="8548908" y="4157374"/>
                  <a:pt x="8465921" y="4189829"/>
                </a:cubicBezTo>
                <a:cubicBezTo>
                  <a:pt x="8382934" y="4222285"/>
                  <a:pt x="8312272" y="4268503"/>
                  <a:pt x="8253934" y="4328484"/>
                </a:cubicBezTo>
                <a:cubicBezTo>
                  <a:pt x="8195596" y="4388464"/>
                  <a:pt x="8150816" y="4460770"/>
                  <a:pt x="8119593" y="4545401"/>
                </a:cubicBezTo>
                <a:cubicBezTo>
                  <a:pt x="8088370" y="4630031"/>
                  <a:pt x="8072759" y="4723289"/>
                  <a:pt x="8072759" y="4825174"/>
                </a:cubicBezTo>
                <a:cubicBezTo>
                  <a:pt x="8072759" y="4926238"/>
                  <a:pt x="8088165" y="5018469"/>
                  <a:pt x="8118977" y="5101867"/>
                </a:cubicBezTo>
                <a:cubicBezTo>
                  <a:pt x="8149789" y="5185265"/>
                  <a:pt x="8194980" y="5257570"/>
                  <a:pt x="8254550" y="5318784"/>
                </a:cubicBezTo>
                <a:cubicBezTo>
                  <a:pt x="8314120" y="5379997"/>
                  <a:pt x="8384577" y="5427037"/>
                  <a:pt x="8465921" y="5459903"/>
                </a:cubicBezTo>
                <a:cubicBezTo>
                  <a:pt x="8547265" y="5492769"/>
                  <a:pt x="8638879" y="5509202"/>
                  <a:pt x="8740764" y="5509202"/>
                </a:cubicBezTo>
                <a:cubicBezTo>
                  <a:pt x="8843472" y="5509202"/>
                  <a:pt x="8935908" y="5492975"/>
                  <a:pt x="9018073" y="5460519"/>
                </a:cubicBezTo>
                <a:cubicBezTo>
                  <a:pt x="9100239" y="5428064"/>
                  <a:pt x="9170901" y="5381435"/>
                  <a:pt x="9230060" y="5320632"/>
                </a:cubicBezTo>
                <a:cubicBezTo>
                  <a:pt x="9289220" y="5259830"/>
                  <a:pt x="9334410" y="5187113"/>
                  <a:pt x="9365633" y="5102483"/>
                </a:cubicBezTo>
                <a:cubicBezTo>
                  <a:pt x="9396856" y="5017852"/>
                  <a:pt x="9412468" y="4925416"/>
                  <a:pt x="9412468" y="4825174"/>
                </a:cubicBezTo>
                <a:cubicBezTo>
                  <a:pt x="9412468" y="4724111"/>
                  <a:pt x="9397062" y="4631674"/>
                  <a:pt x="9366250" y="4547866"/>
                </a:cubicBezTo>
                <a:cubicBezTo>
                  <a:pt x="9335438" y="4464057"/>
                  <a:pt x="9290452" y="4391751"/>
                  <a:pt x="9231293" y="4330949"/>
                </a:cubicBezTo>
                <a:cubicBezTo>
                  <a:pt x="9172134" y="4270146"/>
                  <a:pt x="9101060" y="4223312"/>
                  <a:pt x="9018073" y="4190446"/>
                </a:cubicBezTo>
                <a:cubicBezTo>
                  <a:pt x="8935086" y="4157579"/>
                  <a:pt x="8842650" y="4141146"/>
                  <a:pt x="8740764" y="4141146"/>
                </a:cubicBezTo>
                <a:close/>
                <a:moveTo>
                  <a:pt x="6862842" y="4141146"/>
                </a:moveTo>
                <a:cubicBezTo>
                  <a:pt x="6834906" y="4141146"/>
                  <a:pt x="6807997" y="4148541"/>
                  <a:pt x="6782114" y="4163331"/>
                </a:cubicBezTo>
                <a:cubicBezTo>
                  <a:pt x="6756232" y="4178121"/>
                  <a:pt x="6735896" y="4197840"/>
                  <a:pt x="6721107" y="4222490"/>
                </a:cubicBezTo>
                <a:cubicBezTo>
                  <a:pt x="6706317" y="4247140"/>
                  <a:pt x="6698922" y="4273844"/>
                  <a:pt x="6698922" y="4302602"/>
                </a:cubicBezTo>
                <a:cubicBezTo>
                  <a:pt x="6698922" y="4329716"/>
                  <a:pt x="6711658" y="4373264"/>
                  <a:pt x="6737129" y="4433245"/>
                </a:cubicBezTo>
                <a:lnTo>
                  <a:pt x="7151243" y="5475925"/>
                </a:lnTo>
                <a:lnTo>
                  <a:pt x="7120431" y="5551107"/>
                </a:lnTo>
                <a:cubicBezTo>
                  <a:pt x="7097425" y="5606158"/>
                  <a:pt x="7077089" y="5647856"/>
                  <a:pt x="7059423" y="5676204"/>
                </a:cubicBezTo>
                <a:cubicBezTo>
                  <a:pt x="7041758" y="5704551"/>
                  <a:pt x="7021832" y="5724476"/>
                  <a:pt x="6999648" y="5735979"/>
                </a:cubicBezTo>
                <a:cubicBezTo>
                  <a:pt x="6977463" y="5747482"/>
                  <a:pt x="6947062" y="5753234"/>
                  <a:pt x="6908444" y="5753234"/>
                </a:cubicBezTo>
                <a:cubicBezTo>
                  <a:pt x="6892833" y="5753234"/>
                  <a:pt x="6874345" y="5750769"/>
                  <a:pt x="6852982" y="5745839"/>
                </a:cubicBezTo>
                <a:cubicBezTo>
                  <a:pt x="6835727" y="5740909"/>
                  <a:pt x="6818062" y="5738444"/>
                  <a:pt x="6799985" y="5738444"/>
                </a:cubicBezTo>
                <a:cubicBezTo>
                  <a:pt x="6753973" y="5738444"/>
                  <a:pt x="6719258" y="5748920"/>
                  <a:pt x="6695841" y="5769872"/>
                </a:cubicBezTo>
                <a:cubicBezTo>
                  <a:pt x="6672424" y="5790824"/>
                  <a:pt x="6660715" y="5820610"/>
                  <a:pt x="6660715" y="5859227"/>
                </a:cubicBezTo>
                <a:cubicBezTo>
                  <a:pt x="6660715" y="5915921"/>
                  <a:pt x="6685365" y="5954950"/>
                  <a:pt x="6734664" y="5976313"/>
                </a:cubicBezTo>
                <a:cubicBezTo>
                  <a:pt x="6783963" y="5997676"/>
                  <a:pt x="6857912" y="6008358"/>
                  <a:pt x="6956511" y="6008358"/>
                </a:cubicBezTo>
                <a:cubicBezTo>
                  <a:pt x="7057574" y="6008358"/>
                  <a:pt x="7137891" y="5992952"/>
                  <a:pt x="7197461" y="5962140"/>
                </a:cubicBezTo>
                <a:cubicBezTo>
                  <a:pt x="7257031" y="5931327"/>
                  <a:pt x="7304893" y="5887164"/>
                  <a:pt x="7341045" y="5829648"/>
                </a:cubicBezTo>
                <a:cubicBezTo>
                  <a:pt x="7377198" y="5772132"/>
                  <a:pt x="7414173" y="5692842"/>
                  <a:pt x="7451969" y="5591778"/>
                </a:cubicBezTo>
                <a:lnTo>
                  <a:pt x="7890733" y="4443105"/>
                </a:lnTo>
                <a:cubicBezTo>
                  <a:pt x="7901414" y="4413525"/>
                  <a:pt x="7910453" y="4384356"/>
                  <a:pt x="7917847" y="4355598"/>
                </a:cubicBezTo>
                <a:cubicBezTo>
                  <a:pt x="7925242" y="4326840"/>
                  <a:pt x="7930583" y="4304656"/>
                  <a:pt x="7933870" y="4289044"/>
                </a:cubicBezTo>
                <a:cubicBezTo>
                  <a:pt x="7933870" y="4263573"/>
                  <a:pt x="7927502" y="4239334"/>
                  <a:pt x="7914766" y="4216328"/>
                </a:cubicBezTo>
                <a:cubicBezTo>
                  <a:pt x="7902031" y="4193321"/>
                  <a:pt x="7883954" y="4175040"/>
                  <a:pt x="7860537" y="4161482"/>
                </a:cubicBezTo>
                <a:cubicBezTo>
                  <a:pt x="7837120" y="4147925"/>
                  <a:pt x="7812676" y="4141146"/>
                  <a:pt x="7787204" y="4141146"/>
                </a:cubicBezTo>
                <a:cubicBezTo>
                  <a:pt x="7751873" y="4141146"/>
                  <a:pt x="7724553" y="4147309"/>
                  <a:pt x="7705244" y="4159634"/>
                </a:cubicBezTo>
                <a:cubicBezTo>
                  <a:pt x="7685935" y="4171958"/>
                  <a:pt x="7667653" y="4195786"/>
                  <a:pt x="7650399" y="4231118"/>
                </a:cubicBezTo>
                <a:cubicBezTo>
                  <a:pt x="7633144" y="4266449"/>
                  <a:pt x="7613835" y="4315337"/>
                  <a:pt x="7592472" y="4377783"/>
                </a:cubicBezTo>
                <a:lnTo>
                  <a:pt x="7322558" y="5148085"/>
                </a:lnTo>
                <a:lnTo>
                  <a:pt x="7037855" y="4319856"/>
                </a:lnTo>
                <a:cubicBezTo>
                  <a:pt x="7018957" y="4262340"/>
                  <a:pt x="6997183" y="4218176"/>
                  <a:pt x="6972533" y="4187364"/>
                </a:cubicBezTo>
                <a:cubicBezTo>
                  <a:pt x="6947883" y="4156552"/>
                  <a:pt x="6911320" y="4141146"/>
                  <a:pt x="6862842" y="4141146"/>
                </a:cubicBezTo>
                <a:close/>
                <a:moveTo>
                  <a:pt x="4463321" y="3255214"/>
                </a:moveTo>
                <a:lnTo>
                  <a:pt x="4463321" y="3303281"/>
                </a:lnTo>
                <a:cubicBezTo>
                  <a:pt x="4463321" y="3419956"/>
                  <a:pt x="4448120" y="3503765"/>
                  <a:pt x="4417720" y="3554707"/>
                </a:cubicBezTo>
                <a:cubicBezTo>
                  <a:pt x="4391426" y="3600720"/>
                  <a:pt x="4350138" y="3638311"/>
                  <a:pt x="4293854" y="3667480"/>
                </a:cubicBezTo>
                <a:cubicBezTo>
                  <a:pt x="4237571" y="3696648"/>
                  <a:pt x="4176153" y="3711233"/>
                  <a:pt x="4109599" y="3711233"/>
                </a:cubicBezTo>
                <a:cubicBezTo>
                  <a:pt x="4047153" y="3711233"/>
                  <a:pt x="3996621" y="3693362"/>
                  <a:pt x="3958003" y="3657620"/>
                </a:cubicBezTo>
                <a:cubicBezTo>
                  <a:pt x="3919386" y="3621878"/>
                  <a:pt x="3900077" y="3578536"/>
                  <a:pt x="3900077" y="3527593"/>
                </a:cubicBezTo>
                <a:cubicBezTo>
                  <a:pt x="3900077" y="3478294"/>
                  <a:pt x="3916510" y="3439881"/>
                  <a:pt x="3949376" y="3412356"/>
                </a:cubicBezTo>
                <a:cubicBezTo>
                  <a:pt x="3982242" y="3384830"/>
                  <a:pt x="4016751" y="3366343"/>
                  <a:pt x="4052904" y="3356894"/>
                </a:cubicBezTo>
                <a:cubicBezTo>
                  <a:pt x="4089057" y="3347445"/>
                  <a:pt x="4154173" y="3332655"/>
                  <a:pt x="4248253" y="3312525"/>
                </a:cubicBezTo>
                <a:cubicBezTo>
                  <a:pt x="4342332" y="3292394"/>
                  <a:pt x="4414022" y="3273291"/>
                  <a:pt x="4463321" y="3255214"/>
                </a:cubicBezTo>
                <a:close/>
                <a:moveTo>
                  <a:pt x="5277183" y="2563791"/>
                </a:moveTo>
                <a:cubicBezTo>
                  <a:pt x="5228705" y="2563791"/>
                  <a:pt x="5190498" y="2579608"/>
                  <a:pt x="5162562" y="2611242"/>
                </a:cubicBezTo>
                <a:cubicBezTo>
                  <a:pt x="5134626" y="2642876"/>
                  <a:pt x="5120658" y="2690737"/>
                  <a:pt x="5120658" y="2754826"/>
                </a:cubicBezTo>
                <a:lnTo>
                  <a:pt x="5120658" y="3727255"/>
                </a:lnTo>
                <a:cubicBezTo>
                  <a:pt x="5120658" y="3792987"/>
                  <a:pt x="5136269" y="3843519"/>
                  <a:pt x="5167492" y="3878850"/>
                </a:cubicBezTo>
                <a:cubicBezTo>
                  <a:pt x="5198715" y="3914182"/>
                  <a:pt x="5238565" y="3931847"/>
                  <a:pt x="5287042" y="3931847"/>
                </a:cubicBezTo>
                <a:cubicBezTo>
                  <a:pt x="5337163" y="3931847"/>
                  <a:pt x="5378041" y="3914798"/>
                  <a:pt x="5409674" y="3880699"/>
                </a:cubicBezTo>
                <a:cubicBezTo>
                  <a:pt x="5441308" y="3846601"/>
                  <a:pt x="5457125" y="3795452"/>
                  <a:pt x="5457125" y="3727255"/>
                </a:cubicBezTo>
                <a:lnTo>
                  <a:pt x="5457125" y="3305746"/>
                </a:lnTo>
                <a:cubicBezTo>
                  <a:pt x="5457125" y="3168529"/>
                  <a:pt x="5465341" y="3074861"/>
                  <a:pt x="5481775" y="3024740"/>
                </a:cubicBezTo>
                <a:cubicBezTo>
                  <a:pt x="5504781" y="2962294"/>
                  <a:pt x="5540934" y="2913200"/>
                  <a:pt x="5590234" y="2877458"/>
                </a:cubicBezTo>
                <a:cubicBezTo>
                  <a:pt x="5639533" y="2841716"/>
                  <a:pt x="5694173" y="2823845"/>
                  <a:pt x="5754153" y="2823845"/>
                </a:cubicBezTo>
                <a:cubicBezTo>
                  <a:pt x="5846179" y="2823845"/>
                  <a:pt x="5907598" y="2853219"/>
                  <a:pt x="5938410" y="2911968"/>
                </a:cubicBezTo>
                <a:cubicBezTo>
                  <a:pt x="5969222" y="2970716"/>
                  <a:pt x="5984628" y="3055552"/>
                  <a:pt x="5984628" y="3166476"/>
                </a:cubicBezTo>
                <a:lnTo>
                  <a:pt x="5984628" y="3727255"/>
                </a:lnTo>
                <a:cubicBezTo>
                  <a:pt x="5984628" y="3792987"/>
                  <a:pt x="6000239" y="3843519"/>
                  <a:pt x="6031462" y="3878850"/>
                </a:cubicBezTo>
                <a:cubicBezTo>
                  <a:pt x="6062685" y="3914182"/>
                  <a:pt x="6103357" y="3931847"/>
                  <a:pt x="6153478" y="3931847"/>
                </a:cubicBezTo>
                <a:cubicBezTo>
                  <a:pt x="6202777" y="3931847"/>
                  <a:pt x="6242833" y="3914592"/>
                  <a:pt x="6273645" y="3880083"/>
                </a:cubicBezTo>
                <a:cubicBezTo>
                  <a:pt x="6304457" y="3845573"/>
                  <a:pt x="6319863" y="3794631"/>
                  <a:pt x="6319863" y="3727255"/>
                </a:cubicBezTo>
                <a:lnTo>
                  <a:pt x="6319863" y="3101154"/>
                </a:lnTo>
                <a:cubicBezTo>
                  <a:pt x="6319863" y="3027205"/>
                  <a:pt x="6316577" y="2966402"/>
                  <a:pt x="6310003" y="2918746"/>
                </a:cubicBezTo>
                <a:cubicBezTo>
                  <a:pt x="6303430" y="2871090"/>
                  <a:pt x="6289051" y="2826721"/>
                  <a:pt x="6266866" y="2785638"/>
                </a:cubicBezTo>
                <a:cubicBezTo>
                  <a:pt x="6232357" y="2714976"/>
                  <a:pt x="6180182" y="2660336"/>
                  <a:pt x="6110341" y="2621718"/>
                </a:cubicBezTo>
                <a:cubicBezTo>
                  <a:pt x="6040501" y="2583100"/>
                  <a:pt x="5961211" y="2563791"/>
                  <a:pt x="5872472" y="2563791"/>
                </a:cubicBezTo>
                <a:cubicBezTo>
                  <a:pt x="5781268" y="2563791"/>
                  <a:pt x="5700540" y="2582073"/>
                  <a:pt x="5630289" y="2618637"/>
                </a:cubicBezTo>
                <a:cubicBezTo>
                  <a:pt x="5560038" y="2655201"/>
                  <a:pt x="5495333" y="2712511"/>
                  <a:pt x="5436173" y="2790568"/>
                </a:cubicBezTo>
                <a:lnTo>
                  <a:pt x="5436173" y="2749896"/>
                </a:lnTo>
                <a:cubicBezTo>
                  <a:pt x="5436173" y="2709635"/>
                  <a:pt x="5428984" y="2675536"/>
                  <a:pt x="5414604" y="2647600"/>
                </a:cubicBezTo>
                <a:cubicBezTo>
                  <a:pt x="5400226" y="2619664"/>
                  <a:pt x="5381122" y="2598712"/>
                  <a:pt x="5357294" y="2584743"/>
                </a:cubicBezTo>
                <a:cubicBezTo>
                  <a:pt x="5333466" y="2570775"/>
                  <a:pt x="5306762" y="2563791"/>
                  <a:pt x="5277183" y="2563791"/>
                </a:cubicBezTo>
                <a:close/>
                <a:moveTo>
                  <a:pt x="4213127" y="2561326"/>
                </a:moveTo>
                <a:cubicBezTo>
                  <a:pt x="4080841" y="2561326"/>
                  <a:pt x="3970328" y="2579403"/>
                  <a:pt x="3881589" y="2615556"/>
                </a:cubicBezTo>
                <a:cubicBezTo>
                  <a:pt x="3792851" y="2651708"/>
                  <a:pt x="3727529" y="2697721"/>
                  <a:pt x="3685625" y="2753594"/>
                </a:cubicBezTo>
                <a:cubicBezTo>
                  <a:pt x="3643720" y="2809466"/>
                  <a:pt x="3622768" y="2866982"/>
                  <a:pt x="3622768" y="2926141"/>
                </a:cubicBezTo>
                <a:cubicBezTo>
                  <a:pt x="3622768" y="2963937"/>
                  <a:pt x="3636531" y="2994955"/>
                  <a:pt x="3664056" y="3019194"/>
                </a:cubicBezTo>
                <a:cubicBezTo>
                  <a:pt x="3691582" y="3043432"/>
                  <a:pt x="3724242" y="3055552"/>
                  <a:pt x="3762038" y="3055552"/>
                </a:cubicBezTo>
                <a:cubicBezTo>
                  <a:pt x="3803943" y="3055552"/>
                  <a:pt x="3831263" y="3047952"/>
                  <a:pt x="3843998" y="3032751"/>
                </a:cubicBezTo>
                <a:cubicBezTo>
                  <a:pt x="3856734" y="3017550"/>
                  <a:pt x="3878508" y="2986122"/>
                  <a:pt x="3909320" y="2938466"/>
                </a:cubicBezTo>
                <a:cubicBezTo>
                  <a:pt x="3940133" y="2890810"/>
                  <a:pt x="3977107" y="2855068"/>
                  <a:pt x="4020244" y="2831240"/>
                </a:cubicBezTo>
                <a:cubicBezTo>
                  <a:pt x="4063381" y="2807412"/>
                  <a:pt x="4127675" y="2795498"/>
                  <a:pt x="4213127" y="2795498"/>
                </a:cubicBezTo>
                <a:cubicBezTo>
                  <a:pt x="4312548" y="2795498"/>
                  <a:pt x="4378074" y="2816245"/>
                  <a:pt x="4409708" y="2857738"/>
                </a:cubicBezTo>
                <a:cubicBezTo>
                  <a:pt x="4441342" y="2899232"/>
                  <a:pt x="4459213" y="2964348"/>
                  <a:pt x="4463321" y="3053087"/>
                </a:cubicBezTo>
                <a:cubicBezTo>
                  <a:pt x="4392659" y="3073628"/>
                  <a:pt x="4327131" y="3091088"/>
                  <a:pt x="4266740" y="3105468"/>
                </a:cubicBezTo>
                <a:cubicBezTo>
                  <a:pt x="4206349" y="3119846"/>
                  <a:pt x="4133838" y="3135663"/>
                  <a:pt x="4049207" y="3152918"/>
                </a:cubicBezTo>
                <a:cubicBezTo>
                  <a:pt x="3964577" y="3170173"/>
                  <a:pt x="3911579" y="3181265"/>
                  <a:pt x="3890217" y="3186195"/>
                </a:cubicBezTo>
                <a:cubicBezTo>
                  <a:pt x="3788332" y="3208380"/>
                  <a:pt x="3708220" y="3251927"/>
                  <a:pt x="3649882" y="3316838"/>
                </a:cubicBezTo>
                <a:cubicBezTo>
                  <a:pt x="3591545" y="3381749"/>
                  <a:pt x="3562376" y="3460217"/>
                  <a:pt x="3562376" y="3552242"/>
                </a:cubicBezTo>
                <a:cubicBezTo>
                  <a:pt x="3562376" y="3620440"/>
                  <a:pt x="3580042" y="3683707"/>
                  <a:pt x="3615373" y="3742045"/>
                </a:cubicBezTo>
                <a:cubicBezTo>
                  <a:pt x="3650704" y="3800382"/>
                  <a:pt x="3701031" y="3846601"/>
                  <a:pt x="3766352" y="3880699"/>
                </a:cubicBezTo>
                <a:cubicBezTo>
                  <a:pt x="3831674" y="3914798"/>
                  <a:pt x="3907471" y="3931847"/>
                  <a:pt x="3993745" y="3931847"/>
                </a:cubicBezTo>
                <a:cubicBezTo>
                  <a:pt x="4088236" y="3931847"/>
                  <a:pt x="4173482" y="3916030"/>
                  <a:pt x="4249485" y="3884396"/>
                </a:cubicBezTo>
                <a:cubicBezTo>
                  <a:pt x="4325488" y="3852763"/>
                  <a:pt x="4404162" y="3805312"/>
                  <a:pt x="4485505" y="3742045"/>
                </a:cubicBezTo>
                <a:cubicBezTo>
                  <a:pt x="4523302" y="3803669"/>
                  <a:pt x="4559044" y="3850709"/>
                  <a:pt x="4592732" y="3883164"/>
                </a:cubicBezTo>
                <a:cubicBezTo>
                  <a:pt x="4626420" y="3915620"/>
                  <a:pt x="4660518" y="3931847"/>
                  <a:pt x="4695028" y="3931847"/>
                </a:cubicBezTo>
                <a:cubicBezTo>
                  <a:pt x="4736111" y="3931847"/>
                  <a:pt x="4772880" y="3917674"/>
                  <a:pt x="4805335" y="3889326"/>
                </a:cubicBezTo>
                <a:cubicBezTo>
                  <a:pt x="4837790" y="3860979"/>
                  <a:pt x="4854018" y="3829551"/>
                  <a:pt x="4854018" y="3795042"/>
                </a:cubicBezTo>
                <a:cubicBezTo>
                  <a:pt x="4854018" y="3775322"/>
                  <a:pt x="4843542" y="3731158"/>
                  <a:pt x="4822590" y="3662550"/>
                </a:cubicBezTo>
                <a:cubicBezTo>
                  <a:pt x="4801637" y="3593941"/>
                  <a:pt x="4791161" y="3528004"/>
                  <a:pt x="4791161" y="3464736"/>
                </a:cubicBezTo>
                <a:cubicBezTo>
                  <a:pt x="4791983" y="3397361"/>
                  <a:pt x="4792599" y="3336147"/>
                  <a:pt x="4793010" y="3281096"/>
                </a:cubicBezTo>
                <a:cubicBezTo>
                  <a:pt x="4793422" y="3226045"/>
                  <a:pt x="4793626" y="3159081"/>
                  <a:pt x="4793626" y="3080202"/>
                </a:cubicBezTo>
                <a:cubicBezTo>
                  <a:pt x="4793626" y="2955310"/>
                  <a:pt x="4776166" y="2855068"/>
                  <a:pt x="4741246" y="2779476"/>
                </a:cubicBezTo>
                <a:cubicBezTo>
                  <a:pt x="4706326" y="2703883"/>
                  <a:pt x="4646550" y="2648627"/>
                  <a:pt x="4561920" y="2613707"/>
                </a:cubicBezTo>
                <a:cubicBezTo>
                  <a:pt x="4477289" y="2578786"/>
                  <a:pt x="4361025" y="2561326"/>
                  <a:pt x="4213127" y="2561326"/>
                </a:cubicBezTo>
                <a:close/>
                <a:moveTo>
                  <a:pt x="591795" y="2094215"/>
                </a:moveTo>
                <a:cubicBezTo>
                  <a:pt x="531814" y="2094215"/>
                  <a:pt x="486007" y="2107773"/>
                  <a:pt x="454373" y="2134887"/>
                </a:cubicBezTo>
                <a:cubicBezTo>
                  <a:pt x="422739" y="2162002"/>
                  <a:pt x="406922" y="2198976"/>
                  <a:pt x="406922" y="2245811"/>
                </a:cubicBezTo>
                <a:cubicBezTo>
                  <a:pt x="406922" y="2291002"/>
                  <a:pt x="422123" y="2327360"/>
                  <a:pt x="452524" y="2354885"/>
                </a:cubicBezTo>
                <a:cubicBezTo>
                  <a:pt x="482925" y="2382411"/>
                  <a:pt x="529349" y="2396174"/>
                  <a:pt x="591795" y="2396174"/>
                </a:cubicBezTo>
                <a:lnTo>
                  <a:pt x="991119" y="2396174"/>
                </a:lnTo>
                <a:lnTo>
                  <a:pt x="991119" y="3708768"/>
                </a:lnTo>
                <a:cubicBezTo>
                  <a:pt x="991119" y="3783538"/>
                  <a:pt x="1008169" y="3839411"/>
                  <a:pt x="1042267" y="3876385"/>
                </a:cubicBezTo>
                <a:cubicBezTo>
                  <a:pt x="1076366" y="3913360"/>
                  <a:pt x="1120530" y="3931847"/>
                  <a:pt x="1174759" y="3931847"/>
                </a:cubicBezTo>
                <a:cubicBezTo>
                  <a:pt x="1228167" y="3931847"/>
                  <a:pt x="1271714" y="3913565"/>
                  <a:pt x="1305402" y="3877002"/>
                </a:cubicBezTo>
                <a:cubicBezTo>
                  <a:pt x="1339090" y="3840438"/>
                  <a:pt x="1355934" y="3784360"/>
                  <a:pt x="1355934" y="3708768"/>
                </a:cubicBezTo>
                <a:lnTo>
                  <a:pt x="1355934" y="2396174"/>
                </a:lnTo>
                <a:lnTo>
                  <a:pt x="1755259" y="2396174"/>
                </a:lnTo>
                <a:cubicBezTo>
                  <a:pt x="1817704" y="2396174"/>
                  <a:pt x="1864539" y="2382411"/>
                  <a:pt x="1895762" y="2354885"/>
                </a:cubicBezTo>
                <a:cubicBezTo>
                  <a:pt x="1926985" y="2327360"/>
                  <a:pt x="1942596" y="2291002"/>
                  <a:pt x="1942596" y="2245811"/>
                </a:cubicBezTo>
                <a:cubicBezTo>
                  <a:pt x="1942596" y="2200620"/>
                  <a:pt x="1927190" y="2164056"/>
                  <a:pt x="1896378" y="2136120"/>
                </a:cubicBezTo>
                <a:cubicBezTo>
                  <a:pt x="1865566" y="2108183"/>
                  <a:pt x="1818526" y="2094215"/>
                  <a:pt x="1755259" y="2094215"/>
                </a:cubicBezTo>
                <a:close/>
                <a:moveTo>
                  <a:pt x="6844319" y="2063403"/>
                </a:moveTo>
                <a:cubicBezTo>
                  <a:pt x="6790912" y="2063403"/>
                  <a:pt x="6749829" y="2082918"/>
                  <a:pt x="6721071" y="2121946"/>
                </a:cubicBezTo>
                <a:cubicBezTo>
                  <a:pt x="6692313" y="2160975"/>
                  <a:pt x="6677934" y="2217875"/>
                  <a:pt x="6677934" y="2292645"/>
                </a:cubicBezTo>
                <a:lnTo>
                  <a:pt x="6677934" y="3727255"/>
                </a:lnTo>
                <a:cubicBezTo>
                  <a:pt x="6677934" y="3794631"/>
                  <a:pt x="6692724" y="3845573"/>
                  <a:pt x="6722304" y="3880083"/>
                </a:cubicBezTo>
                <a:cubicBezTo>
                  <a:pt x="6751883" y="3914592"/>
                  <a:pt x="6792555" y="3931847"/>
                  <a:pt x="6844319" y="3931847"/>
                </a:cubicBezTo>
                <a:cubicBezTo>
                  <a:pt x="6888689" y="3931847"/>
                  <a:pt x="6927923" y="3914387"/>
                  <a:pt x="6962022" y="3879467"/>
                </a:cubicBezTo>
                <a:cubicBezTo>
                  <a:pt x="6996120" y="3844546"/>
                  <a:pt x="7013170" y="3794631"/>
                  <a:pt x="7013170" y="3729720"/>
                </a:cubicBezTo>
                <a:lnTo>
                  <a:pt x="7013170" y="3462271"/>
                </a:lnTo>
                <a:lnTo>
                  <a:pt x="7195577" y="3289724"/>
                </a:lnTo>
                <a:lnTo>
                  <a:pt x="7492605" y="3777787"/>
                </a:lnTo>
                <a:cubicBezTo>
                  <a:pt x="7530401" y="3836124"/>
                  <a:pt x="7560392" y="3876385"/>
                  <a:pt x="7582577" y="3898570"/>
                </a:cubicBezTo>
                <a:cubicBezTo>
                  <a:pt x="7604761" y="3920755"/>
                  <a:pt x="7636395" y="3931847"/>
                  <a:pt x="7677478" y="3931847"/>
                </a:cubicBezTo>
                <a:cubicBezTo>
                  <a:pt x="7725134" y="3931847"/>
                  <a:pt x="7763547" y="3916441"/>
                  <a:pt x="7792715" y="3885629"/>
                </a:cubicBezTo>
                <a:cubicBezTo>
                  <a:pt x="7821884" y="3854817"/>
                  <a:pt x="7836468" y="3812707"/>
                  <a:pt x="7836468" y="3759300"/>
                </a:cubicBezTo>
                <a:cubicBezTo>
                  <a:pt x="7836468" y="3740401"/>
                  <a:pt x="7830922" y="3720476"/>
                  <a:pt x="7819830" y="3699524"/>
                </a:cubicBezTo>
                <a:cubicBezTo>
                  <a:pt x="7808737" y="3678572"/>
                  <a:pt x="7790455" y="3647965"/>
                  <a:pt x="7764984" y="3607704"/>
                </a:cubicBezTo>
                <a:lnTo>
                  <a:pt x="7419889" y="3065412"/>
                </a:lnTo>
                <a:lnTo>
                  <a:pt x="7598599" y="2901492"/>
                </a:lnTo>
                <a:cubicBezTo>
                  <a:pt x="7689803" y="2819326"/>
                  <a:pt x="7735405" y="2753594"/>
                  <a:pt x="7735405" y="2704294"/>
                </a:cubicBezTo>
                <a:cubicBezTo>
                  <a:pt x="7735405" y="2664033"/>
                  <a:pt x="7721436" y="2630551"/>
                  <a:pt x="7693500" y="2603847"/>
                </a:cubicBezTo>
                <a:cubicBezTo>
                  <a:pt x="7665564" y="2577143"/>
                  <a:pt x="7630644" y="2563791"/>
                  <a:pt x="7588739" y="2563791"/>
                </a:cubicBezTo>
                <a:cubicBezTo>
                  <a:pt x="7553408" y="2563791"/>
                  <a:pt x="7523418" y="2572830"/>
                  <a:pt x="7498768" y="2590906"/>
                </a:cubicBezTo>
                <a:cubicBezTo>
                  <a:pt x="7474118" y="2608982"/>
                  <a:pt x="7438376" y="2642670"/>
                  <a:pt x="7391542" y="2691969"/>
                </a:cubicBezTo>
                <a:lnTo>
                  <a:pt x="7013170" y="3088829"/>
                </a:lnTo>
                <a:lnTo>
                  <a:pt x="7013170" y="2272925"/>
                </a:lnTo>
                <a:cubicBezTo>
                  <a:pt x="7013170" y="2203906"/>
                  <a:pt x="6997969" y="2151731"/>
                  <a:pt x="6967568" y="2116400"/>
                </a:cubicBezTo>
                <a:cubicBezTo>
                  <a:pt x="6937167" y="2081069"/>
                  <a:pt x="6896084" y="2063403"/>
                  <a:pt x="6844319" y="2063403"/>
                </a:cubicBezTo>
                <a:close/>
                <a:moveTo>
                  <a:pt x="2270083" y="2063403"/>
                </a:moveTo>
                <a:cubicBezTo>
                  <a:pt x="2217497" y="2063403"/>
                  <a:pt x="2176620" y="2080453"/>
                  <a:pt x="2147451" y="2114551"/>
                </a:cubicBezTo>
                <a:cubicBezTo>
                  <a:pt x="2118282" y="2148650"/>
                  <a:pt x="2103698" y="2199798"/>
                  <a:pt x="2103698" y="2267995"/>
                </a:cubicBezTo>
                <a:lnTo>
                  <a:pt x="2103698" y="3727255"/>
                </a:lnTo>
                <a:cubicBezTo>
                  <a:pt x="2103698" y="3863650"/>
                  <a:pt x="2159160" y="3931847"/>
                  <a:pt x="2270083" y="3931847"/>
                </a:cubicBezTo>
                <a:cubicBezTo>
                  <a:pt x="2323490" y="3931847"/>
                  <a:pt x="2365189" y="3914387"/>
                  <a:pt x="2395180" y="3879467"/>
                </a:cubicBezTo>
                <a:cubicBezTo>
                  <a:pt x="2425170" y="3844546"/>
                  <a:pt x="2440165" y="3793809"/>
                  <a:pt x="2440165" y="3727255"/>
                </a:cubicBezTo>
                <a:lnTo>
                  <a:pt x="2440165" y="3282329"/>
                </a:lnTo>
                <a:cubicBezTo>
                  <a:pt x="2440165" y="3154151"/>
                  <a:pt x="2449204" y="3065001"/>
                  <a:pt x="2467280" y="3014880"/>
                </a:cubicBezTo>
                <a:cubicBezTo>
                  <a:pt x="2491108" y="2955721"/>
                  <a:pt x="2527056" y="2909092"/>
                  <a:pt x="2575122" y="2874993"/>
                </a:cubicBezTo>
                <a:cubicBezTo>
                  <a:pt x="2623189" y="2840894"/>
                  <a:pt x="2677213" y="2823845"/>
                  <a:pt x="2737194" y="2823845"/>
                </a:cubicBezTo>
                <a:cubicBezTo>
                  <a:pt x="2826755" y="2823845"/>
                  <a:pt x="2887557" y="2852809"/>
                  <a:pt x="2919601" y="2910735"/>
                </a:cubicBezTo>
                <a:cubicBezTo>
                  <a:pt x="2951646" y="2968662"/>
                  <a:pt x="2967668" y="3051444"/>
                  <a:pt x="2967668" y="3159081"/>
                </a:cubicBezTo>
                <a:lnTo>
                  <a:pt x="2967668" y="3727255"/>
                </a:lnTo>
                <a:cubicBezTo>
                  <a:pt x="2967668" y="3863650"/>
                  <a:pt x="3023130" y="3931847"/>
                  <a:pt x="3134054" y="3931847"/>
                </a:cubicBezTo>
                <a:cubicBezTo>
                  <a:pt x="3184996" y="3931847"/>
                  <a:pt x="3225874" y="3914592"/>
                  <a:pt x="3256686" y="3880083"/>
                </a:cubicBezTo>
                <a:cubicBezTo>
                  <a:pt x="3287497" y="3845573"/>
                  <a:pt x="3302904" y="3794631"/>
                  <a:pt x="3302904" y="3727255"/>
                </a:cubicBezTo>
                <a:lnTo>
                  <a:pt x="3302904" y="3082667"/>
                </a:lnTo>
                <a:cubicBezTo>
                  <a:pt x="3302904" y="3017756"/>
                  <a:pt x="3298795" y="2960445"/>
                  <a:pt x="3290579" y="2910735"/>
                </a:cubicBezTo>
                <a:cubicBezTo>
                  <a:pt x="3282362" y="2861025"/>
                  <a:pt x="3266340" y="2816039"/>
                  <a:pt x="3242512" y="2775778"/>
                </a:cubicBezTo>
                <a:cubicBezTo>
                  <a:pt x="3204716" y="2706759"/>
                  <a:pt x="3152747" y="2654173"/>
                  <a:pt x="3086603" y="2618021"/>
                </a:cubicBezTo>
                <a:cubicBezTo>
                  <a:pt x="3020460" y="2581868"/>
                  <a:pt x="2944662" y="2563791"/>
                  <a:pt x="2859210" y="2563791"/>
                </a:cubicBezTo>
                <a:cubicBezTo>
                  <a:pt x="2802515" y="2563791"/>
                  <a:pt x="2749519" y="2570981"/>
                  <a:pt x="2700220" y="2585360"/>
                </a:cubicBezTo>
                <a:cubicBezTo>
                  <a:pt x="2650920" y="2599739"/>
                  <a:pt x="2605935" y="2621307"/>
                  <a:pt x="2565263" y="2650065"/>
                </a:cubicBezTo>
                <a:cubicBezTo>
                  <a:pt x="2524591" y="2678823"/>
                  <a:pt x="2482892" y="2717852"/>
                  <a:pt x="2440165" y="2767151"/>
                </a:cubicBezTo>
                <a:lnTo>
                  <a:pt x="2440165" y="2267995"/>
                </a:lnTo>
                <a:cubicBezTo>
                  <a:pt x="2440165" y="2200620"/>
                  <a:pt x="2425170" y="2149677"/>
                  <a:pt x="2395180" y="2115167"/>
                </a:cubicBezTo>
                <a:cubicBezTo>
                  <a:pt x="2365189" y="2080658"/>
                  <a:pt x="2323490" y="2063403"/>
                  <a:pt x="2270083" y="2063403"/>
                </a:cubicBezTo>
                <a:close/>
                <a:moveTo>
                  <a:pt x="0" y="0"/>
                </a:moveTo>
                <a:lnTo>
                  <a:pt x="12192000" y="0"/>
                </a:lnTo>
                <a:lnTo>
                  <a:pt x="12192000" y="6858000"/>
                </a:lnTo>
                <a:lnTo>
                  <a:pt x="0" y="6858000"/>
                </a:lnTo>
                <a:close/>
              </a:path>
            </a:pathLst>
          </a:custGeom>
          <a:solidFill>
            <a:schemeClr val="tx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IN" sz="19900" dirty="0">
              <a:latin typeface="Arial Rounded MT Bold" panose="020F0704030504030204" pitchFamily="34" charset="0"/>
              <a:ea typeface="Ebrima" panose="02000000000000000000" pitchFamily="2" charset="0"/>
              <a:cs typeface="Ebrima" panose="02000000000000000000" pitchFamily="2" charset="0"/>
            </a:endParaRPr>
          </a:p>
        </p:txBody>
      </p:sp>
    </p:spTree>
    <p:extLst>
      <p:ext uri="{BB962C8B-B14F-4D97-AF65-F5344CB8AC3E}">
        <p14:creationId xmlns:p14="http://schemas.microsoft.com/office/powerpoint/2010/main" val="42226310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560</TotalTime>
  <Words>2827</Words>
  <Application>Microsoft Office PowerPoint</Application>
  <PresentationFormat>Widescreen</PresentationFormat>
  <Paragraphs>273</Paragraphs>
  <Slides>26</Slides>
  <Notes>0</Notes>
  <HiddenSlides>0</HiddenSlides>
  <MMClips>2</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26</vt:i4>
      </vt:variant>
    </vt:vector>
  </HeadingPairs>
  <TitlesOfParts>
    <vt:vector size="39" baseType="lpstr">
      <vt:lpstr>Arial</vt:lpstr>
      <vt:lpstr>Arial Rounded MT Bold</vt:lpstr>
      <vt:lpstr>Calibri</vt:lpstr>
      <vt:lpstr>Calibri Light</vt:lpstr>
      <vt:lpstr>Comic Sans MS</vt:lpstr>
      <vt:lpstr>Consolas</vt:lpstr>
      <vt:lpstr>MV Boli</vt:lpstr>
      <vt:lpstr>Segoe Print</vt:lpstr>
      <vt:lpstr>Sitka Small Semibold</vt:lpstr>
      <vt:lpstr>Sitka Subheading Semibold</vt:lpstr>
      <vt:lpstr>Söhne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Bhararthwaj Ryder</dc:creator>
  <cp:lastModifiedBy>Bharathwaj Ryder</cp:lastModifiedBy>
  <cp:revision>59</cp:revision>
  <dcterms:created xsi:type="dcterms:W3CDTF">2023-10-16T02:55:30Z</dcterms:created>
  <dcterms:modified xsi:type="dcterms:W3CDTF">2024-08-23T12:06:05Z</dcterms:modified>
</cp:coreProperties>
</file>