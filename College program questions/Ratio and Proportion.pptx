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5"/>
  </p:notesMasterIdLst>
  <p:sldIdLst>
    <p:sldId id="260" r:id="rId2"/>
    <p:sldId id="273" r:id="rId3"/>
    <p:sldId id="274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76" r:id="rId12"/>
    <p:sldId id="286" r:id="rId13"/>
    <p:sldId id="316" r:id="rId14"/>
    <p:sldId id="258" r:id="rId15"/>
    <p:sldId id="314" r:id="rId16"/>
    <p:sldId id="317" r:id="rId17"/>
    <p:sldId id="318" r:id="rId18"/>
    <p:sldId id="259" r:id="rId19"/>
    <p:sldId id="320" r:id="rId20"/>
    <p:sldId id="262" r:id="rId21"/>
    <p:sldId id="321" r:id="rId22"/>
    <p:sldId id="287" r:id="rId23"/>
    <p:sldId id="288" r:id="rId24"/>
    <p:sldId id="322" r:id="rId25"/>
    <p:sldId id="323" r:id="rId26"/>
    <p:sldId id="291" r:id="rId27"/>
    <p:sldId id="263" r:id="rId28"/>
    <p:sldId id="289" r:id="rId29"/>
    <p:sldId id="264" r:id="rId30"/>
    <p:sldId id="290" r:id="rId31"/>
    <p:sldId id="292" r:id="rId32"/>
    <p:sldId id="265" r:id="rId33"/>
    <p:sldId id="293" r:id="rId34"/>
    <p:sldId id="267" r:id="rId35"/>
    <p:sldId id="294" r:id="rId36"/>
    <p:sldId id="270" r:id="rId37"/>
    <p:sldId id="295" r:id="rId38"/>
    <p:sldId id="324" r:id="rId39"/>
    <p:sldId id="326" r:id="rId40"/>
    <p:sldId id="327" r:id="rId41"/>
    <p:sldId id="328" r:id="rId42"/>
    <p:sldId id="272" r:id="rId43"/>
    <p:sldId id="296" r:id="rId44"/>
    <p:sldId id="333" r:id="rId45"/>
    <p:sldId id="330" r:id="rId46"/>
    <p:sldId id="331" r:id="rId47"/>
    <p:sldId id="332" r:id="rId48"/>
    <p:sldId id="269" r:id="rId49"/>
    <p:sldId id="298" r:id="rId50"/>
    <p:sldId id="278" r:id="rId51"/>
    <p:sldId id="300" r:id="rId52"/>
    <p:sldId id="301" r:id="rId53"/>
    <p:sldId id="302" r:id="rId54"/>
    <p:sldId id="303" r:id="rId55"/>
    <p:sldId id="304" r:id="rId56"/>
    <p:sldId id="305" r:id="rId57"/>
    <p:sldId id="307" r:id="rId58"/>
    <p:sldId id="308" r:id="rId59"/>
    <p:sldId id="309" r:id="rId60"/>
    <p:sldId id="334" r:id="rId61"/>
    <p:sldId id="310" r:id="rId62"/>
    <p:sldId id="312" r:id="rId63"/>
    <p:sldId id="335" r:id="rId6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F63AF-8B14-4885-BE22-185B79E3F038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054B6-9DDF-4576-B2FE-254F68E7D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026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054B6-9DDF-4576-B2FE-254F68E7DE57}" type="slidenum">
              <a:rPr lang="en-IN" smtClean="0"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980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EC28C6-3E00-437C-BEE8-DC0ED4BC586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E9F137-8792-46CD-AA8B-51ACE2180FEE}" type="slidenum">
              <a:rPr lang="en-IN" smtClean="0"/>
              <a:t>‹#›</a:t>
            </a:fld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28C6-3E00-437C-BEE8-DC0ED4BC586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F137-8792-46CD-AA8B-51ACE2180FE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28C6-3E00-437C-BEE8-DC0ED4BC586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F137-8792-46CD-AA8B-51ACE2180FEE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28C6-3E00-437C-BEE8-DC0ED4BC586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F137-8792-46CD-AA8B-51ACE2180FE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28C6-3E00-437C-BEE8-DC0ED4BC586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F137-8792-46CD-AA8B-51ACE2180FEE}" type="slidenum">
              <a:rPr lang="en-IN" smtClean="0"/>
              <a:t>‹#›</a:t>
            </a:fld>
            <a:endParaRPr lang="en-IN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28C6-3E00-437C-BEE8-DC0ED4BC586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F137-8792-46CD-AA8B-51ACE2180FEE}" type="slidenum">
              <a:rPr lang="en-IN" smtClean="0"/>
              <a:t>‹#›</a:t>
            </a:fld>
            <a:endParaRPr lang="en-IN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28C6-3E00-437C-BEE8-DC0ED4BC586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F137-8792-46CD-AA8B-51ACE2180FE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28C6-3E00-437C-BEE8-DC0ED4BC586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F137-8792-46CD-AA8B-51ACE2180FE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28C6-3E00-437C-BEE8-DC0ED4BC586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F137-8792-46CD-AA8B-51ACE2180FE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28C6-3E00-437C-BEE8-DC0ED4BC586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F137-8792-46CD-AA8B-51ACE2180FEE}" type="slidenum">
              <a:rPr lang="en-IN" smtClean="0"/>
              <a:t>‹#›</a:t>
            </a:fld>
            <a:endParaRPr lang="en-IN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28C6-3E00-437C-BEE8-DC0ED4BC586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F137-8792-46CD-AA8B-51ACE2180FEE}" type="slidenum">
              <a:rPr lang="en-IN" smtClean="0"/>
              <a:t>‹#›</a:t>
            </a:fld>
            <a:endParaRPr lang="en-IN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5AEC28C6-3E00-437C-BEE8-DC0ED4BC586E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EDE9F137-8792-46CD-AA8B-51ACE2180FEE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6000" b="1" dirty="0" smtClean="0"/>
              <a:t>Ratio and Proportion</a:t>
            </a:r>
            <a:endParaRPr lang="en-IN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295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935479"/>
                <a:ext cx="8340436" cy="463157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A ratio is simply a fraction. Ratio is used to </a:t>
                </a:r>
                <a14:m>
                  <m:oMath xmlns:m="http://schemas.openxmlformats.org/officeDocument/2006/math">
                    <m:r>
                      <a:rPr lang="en-IN" sz="3200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𝑐𝑜𝑚𝑝𝑎𝑟𝑒</m:t>
                    </m:r>
                  </m:oMath>
                </a14:m>
                <a:r>
                  <a:rPr lang="en-IN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two or more things of </a:t>
                </a:r>
                <a14:m>
                  <m:oMath xmlns:m="http://schemas.openxmlformats.org/officeDocument/2006/math">
                    <m:r>
                      <a:rPr lang="en-IN" sz="3200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𝑠𝑎𝑚𝑒</m:t>
                    </m:r>
                    <m:r>
                      <a:rPr lang="en-IN" sz="3200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3200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𝑘𝑖𝑛𝑑</m:t>
                    </m:r>
                  </m:oMath>
                </a14:m>
                <a:r>
                  <a:rPr lang="en-IN" sz="32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IN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IN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3200" i="1" dirty="0" smtClean="0">
                        <a:latin typeface="Cambria Math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IN" sz="3200" i="1" dirty="0" smtClean="0">
                        <a:latin typeface="Cambria Math"/>
                        <a:cs typeface="Times New Roman" panose="02020603050405020304" pitchFamily="18" charset="0"/>
                      </a:rPr>
                      <m:t> : </m:t>
                    </m:r>
                    <m:r>
                      <a:rPr lang="en-IN" sz="3200" i="1" dirty="0" smtClean="0">
                        <a:latin typeface="Cambria Math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IN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32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32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en-IN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ratio </a:t>
                </a:r>
                <a14:m>
                  <m:oMath xmlns:m="http://schemas.openxmlformats.org/officeDocument/2006/math">
                    <m:r>
                      <a:rPr lang="en-IN" sz="3200" i="1" dirty="0" smtClean="0">
                        <a:latin typeface="Cambria Math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IN" sz="3200" i="1" dirty="0" smtClean="0">
                        <a:latin typeface="Cambria Math"/>
                        <a:cs typeface="Times New Roman" panose="02020603050405020304" pitchFamily="18" charset="0"/>
                      </a:rPr>
                      <m:t> : </m:t>
                    </m:r>
                    <m:r>
                      <a:rPr lang="en-IN" sz="3200" i="1" dirty="0" smtClean="0">
                        <a:latin typeface="Cambria Math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IN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call </a:t>
                </a:r>
                <a:endParaRPr lang="en-IN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3200" b="1" i="1" dirty="0" smtClean="0">
                        <a:latin typeface="Cambria Math"/>
                        <a:cs typeface="Times New Roman" panose="02020603050405020304" pitchFamily="18" charset="0"/>
                      </a:rPr>
                      <m:t>‘</m:t>
                    </m:r>
                    <m:r>
                      <a:rPr lang="en-IN" sz="3200" b="1" i="1" dirty="0" smtClean="0">
                        <a:latin typeface="Cambria Math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IN" sz="3200" b="1" i="1" dirty="0" smtClean="0">
                        <a:latin typeface="Cambria Math"/>
                        <a:cs typeface="Times New Roman" panose="02020603050405020304" pitchFamily="18" charset="0"/>
                      </a:rPr>
                      <m:t>’</m:t>
                    </m:r>
                    <m:r>
                      <a:rPr lang="en-IN" sz="3200" i="1" dirty="0" smtClean="0"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the first term or </a:t>
                </a:r>
                <a:r>
                  <a:rPr lang="en-IN" sz="32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antecedent</a:t>
                </a:r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IN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3200" b="1" i="1" dirty="0" smtClean="0">
                        <a:latin typeface="Cambria Math"/>
                        <a:cs typeface="Times New Roman" panose="02020603050405020304" pitchFamily="18" charset="0"/>
                      </a:rPr>
                      <m:t>‘</m:t>
                    </m:r>
                    <m:r>
                      <a:rPr lang="en-IN" sz="3200" b="1" i="1" dirty="0" smtClean="0">
                        <a:latin typeface="Cambria Math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IN" sz="3200" b="1" i="1" dirty="0" smtClean="0">
                        <a:latin typeface="Cambria Math"/>
                        <a:cs typeface="Times New Roman" panose="02020603050405020304" pitchFamily="18" charset="0"/>
                      </a:rPr>
                      <m:t>’ </m:t>
                    </m:r>
                  </m:oMath>
                </a14:m>
                <a:r>
                  <a:rPr lang="en-IN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the </a:t>
                </a:r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second term </a:t>
                </a:r>
                <a:r>
                  <a:rPr lang="en-IN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</a:t>
                </a:r>
                <a:r>
                  <a:rPr lang="en-IN" sz="32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consequent</a:t>
                </a:r>
                <a:r>
                  <a:rPr lang="en-IN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935479"/>
                <a:ext cx="8340436" cy="4631575"/>
              </a:xfrm>
              <a:blipFill rotWithShape="1">
                <a:blip r:embed="rId2"/>
                <a:stretch>
                  <a:fillRect l="-1827" t="-1711" r="-9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Ratio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8291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1)Duplicate Ratio</a:t>
            </a:r>
          </a:p>
          <a:p>
            <a:pPr marL="0" indent="0">
              <a:buNone/>
            </a:pPr>
            <a:r>
              <a:rPr lang="en-IN" sz="32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2)Sub-Duplicate Ratio      </a:t>
            </a:r>
          </a:p>
          <a:p>
            <a:pPr marL="0" indent="0">
              <a:buNone/>
            </a:pPr>
            <a:r>
              <a:rPr lang="en-IN" sz="32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3)Triplicate Ratio	        </a:t>
            </a:r>
          </a:p>
          <a:p>
            <a:pPr marL="0" indent="0">
              <a:buNone/>
            </a:pPr>
            <a:r>
              <a:rPr lang="en-IN" sz="32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4)Sub-Triplicate Ratio   </a:t>
            </a:r>
          </a:p>
          <a:p>
            <a:pPr marL="0" indent="0">
              <a:buNone/>
            </a:pPr>
            <a:r>
              <a:rPr lang="en-IN" sz="32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5)Inverse Ratio	</a:t>
            </a:r>
            <a:r>
              <a:rPr lang="en-IN" sz="32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r>
              <a:rPr lang="en-IN" sz="32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6)Compound Ratio	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	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Types of Ratios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8725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539553" y="2248347"/>
                <a:ext cx="8208912" cy="442101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3200" b="1" i="1" dirty="0" smtClean="0">
                    <a:solidFill>
                      <a:srgbClr val="FF0000"/>
                    </a:solidFill>
                    <a:latin typeface="Cambria Math"/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IN" sz="3200" b="1" i="1" dirty="0">
                        <a:solidFill>
                          <a:srgbClr val="FF0000"/>
                        </a:solidFill>
                        <a:latin typeface="Cambria Math"/>
                        <a:sym typeface="Wingdings" panose="05000000000000000000" pitchFamily="2" charset="2"/>
                      </a:rPr>
                      <m:t>𝑺𝒒𝒖𝒂𝒓𝒆𝒔</m:t>
                    </m:r>
                  </m:oMath>
                </a14:m>
                <a:r>
                  <a:rPr lang="en-IN" sz="3200" b="1" i="1" dirty="0" smtClean="0">
                    <a:solidFill>
                      <a:srgbClr val="FF0000"/>
                    </a:solidFill>
                  </a:rPr>
                  <a:t>) </a:t>
                </a:r>
              </a:p>
              <a:p>
                <a:pPr marL="0" indent="0">
                  <a:buNone/>
                </a:pPr>
                <a:r>
                  <a:rPr lang="en-IN" sz="3200" b="1" i="1" dirty="0">
                    <a:solidFill>
                      <a:srgbClr val="FF0000"/>
                    </a:solidFill>
                  </a:rPr>
                  <a:t>	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If the normal ratio is </a:t>
                </a:r>
                <a:r>
                  <a:rPr lang="en-IN" sz="3200" b="1" i="1" dirty="0" smtClean="0">
                    <a:solidFill>
                      <a:schemeClr val="tx1"/>
                    </a:solidFill>
                  </a:rPr>
                  <a:t>a : b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, then its duplicate ratio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𝒂</m:t>
                        </m:r>
                      </m:e>
                      <m:sup>
                        <m:r>
                          <a:rPr lang="en-IN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IN" sz="3200" b="1" i="1" smtClean="0">
                        <a:solidFill>
                          <a:srgbClr val="FF0000"/>
                        </a:solidFill>
                        <a:latin typeface="Cambria Math"/>
                      </a:rPr>
                      <m:t> : </m:t>
                    </m:r>
                    <m:sSup>
                      <m:sSupPr>
                        <m:ctrlPr>
                          <a:rPr lang="en-I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𝒃</m:t>
                        </m:r>
                      </m:e>
                      <m:sup>
                        <m:r>
                          <a:rPr lang="en-IN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3200" b="1" i="1" dirty="0" smtClean="0">
                    <a:solidFill>
                      <a:srgbClr val="FF0000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IN" sz="2000" b="1" i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IN" sz="3200" dirty="0" smtClean="0">
                    <a:solidFill>
                      <a:schemeClr val="tx1"/>
                    </a:solidFill>
                  </a:rPr>
                  <a:t>Eg) Find the Duplicate ratio of 4 : 5?</a:t>
                </a:r>
              </a:p>
              <a:p>
                <a:pPr marL="0" indent="0">
                  <a:buNone/>
                </a:pPr>
                <a:r>
                  <a:rPr lang="en-IN" sz="3200" dirty="0">
                    <a:solidFill>
                      <a:schemeClr val="tx1"/>
                    </a:solidFill>
                  </a:rPr>
                  <a:t>	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			     =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𝟒</m:t>
                        </m:r>
                      </m:e>
                      <m:sup>
                        <m:r>
                          <a:rPr lang="en-IN" sz="32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IN" sz="3200" b="1" i="1">
                        <a:solidFill>
                          <a:srgbClr val="FF0000"/>
                        </a:solidFill>
                        <a:latin typeface="Cambria Math"/>
                      </a:rPr>
                      <m:t> : </m:t>
                    </m:r>
                    <m:sSup>
                      <m:sSupPr>
                        <m:ctrlPr>
                          <a:rPr lang="en-I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IN" sz="32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IN" sz="3200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IN" sz="3200" dirty="0">
                    <a:solidFill>
                      <a:schemeClr val="tx1"/>
                    </a:solidFill>
                  </a:rPr>
                  <a:t>	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			      </a:t>
                </a:r>
                <a:r>
                  <a:rPr lang="en-IN" sz="3200" b="1" dirty="0" smtClean="0">
                    <a:solidFill>
                      <a:srgbClr val="00B050"/>
                    </a:solidFill>
                  </a:rPr>
                  <a:t>= 16 : 25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3" y="2248347"/>
                <a:ext cx="8208912" cy="4421013"/>
              </a:xfrm>
              <a:blipFill rotWithShape="1">
                <a:blip r:embed="rId2"/>
                <a:stretch>
                  <a:fillRect l="-1932" t="-2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00B050"/>
                </a:solidFill>
              </a:rPr>
              <a:t>1) Duplicate </a:t>
            </a:r>
            <a:r>
              <a:rPr lang="en-IN" b="1" dirty="0" smtClean="0">
                <a:solidFill>
                  <a:srgbClr val="00B050"/>
                </a:solidFill>
              </a:rPr>
              <a:t>Ratio</a:t>
            </a:r>
            <a:endParaRPr lang="en-IN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778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99247" y="2248347"/>
                <a:ext cx="8193233" cy="427699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3200" b="1" i="1" dirty="0" smtClean="0">
                    <a:solidFill>
                      <a:srgbClr val="FF0000"/>
                    </a:solidFill>
                    <a:latin typeface="Cambria Math"/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IN" sz="3200" b="1" i="1" dirty="0">
                        <a:solidFill>
                          <a:srgbClr val="FF0000"/>
                        </a:solidFill>
                        <a:latin typeface="Cambria Math"/>
                        <a:sym typeface="Wingdings" panose="05000000000000000000" pitchFamily="2" charset="2"/>
                      </a:rPr>
                      <m:t>𝑺𝒒𝒖𝒂𝒓𝒆</m:t>
                    </m:r>
                    <m:r>
                      <a:rPr lang="en-IN" sz="3200" b="1" i="1" dirty="0">
                        <a:solidFill>
                          <a:srgbClr val="FF0000"/>
                        </a:solidFill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en-IN" sz="3200" b="1" i="1" dirty="0">
                        <a:solidFill>
                          <a:srgbClr val="FF0000"/>
                        </a:solidFill>
                        <a:latin typeface="Cambria Math"/>
                        <a:sym typeface="Wingdings" panose="05000000000000000000" pitchFamily="2" charset="2"/>
                      </a:rPr>
                      <m:t>𝒓𝒐𝒐𝒕𝒔</m:t>
                    </m:r>
                  </m:oMath>
                </a14:m>
                <a:r>
                  <a:rPr lang="en-IN" sz="3200" b="1" i="1" dirty="0">
                    <a:solidFill>
                      <a:srgbClr val="FF0000"/>
                    </a:solidFill>
                  </a:rPr>
                  <a:t>) </a:t>
                </a:r>
                <a:endParaRPr lang="en-IN" sz="32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IN" sz="3200" dirty="0">
                    <a:sym typeface="Wingdings" panose="05000000000000000000" pitchFamily="2" charset="2"/>
                  </a:rPr>
                  <a:t>	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If </a:t>
                </a:r>
                <a:r>
                  <a:rPr lang="en-IN" sz="3200" dirty="0">
                    <a:solidFill>
                      <a:schemeClr val="tx1"/>
                    </a:solidFill>
                  </a:rPr>
                  <a:t>the normal ratio is </a:t>
                </a:r>
                <a:r>
                  <a:rPr lang="en-IN" sz="3200" b="1" i="1" dirty="0">
                    <a:solidFill>
                      <a:schemeClr val="tx1"/>
                    </a:solidFill>
                  </a:rPr>
                  <a:t>a : b</a:t>
                </a:r>
                <a:r>
                  <a:rPr lang="en-IN" sz="3200" dirty="0">
                    <a:solidFill>
                      <a:schemeClr val="tx1"/>
                    </a:solidFill>
                  </a:rPr>
                  <a:t>, then its 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sub-duplicate </a:t>
                </a:r>
                <a:r>
                  <a:rPr lang="en-IN" sz="3200" dirty="0">
                    <a:solidFill>
                      <a:schemeClr val="tx1"/>
                    </a:solidFill>
                  </a:rPr>
                  <a:t>ratio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3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𝒂</m:t>
                        </m:r>
                        <m:r>
                          <a:rPr lang="en-IN" sz="3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e>
                    </m:rad>
                  </m:oMath>
                </a14:m>
                <a:r>
                  <a:rPr lang="en-IN" sz="3200" b="1" i="1" dirty="0" smtClean="0">
                    <a:solidFill>
                      <a:srgbClr val="FF0000"/>
                    </a:solidFill>
                  </a:rPr>
                  <a:t> 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𝒃</m:t>
                        </m:r>
                        <m:r>
                          <a:rPr lang="en-IN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e>
                    </m:rad>
                  </m:oMath>
                </a14:m>
                <a:endParaRPr lang="en-IN" sz="3200" b="1" i="1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IN" sz="1600" b="1" i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IN" sz="3200" dirty="0">
                    <a:solidFill>
                      <a:schemeClr val="tx1"/>
                    </a:solidFill>
                  </a:rPr>
                  <a:t>Eg) Find the 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Sub-Duplicate </a:t>
                </a:r>
                <a:r>
                  <a:rPr lang="en-IN" sz="3200" dirty="0">
                    <a:solidFill>
                      <a:schemeClr val="tx1"/>
                    </a:solidFill>
                  </a:rPr>
                  <a:t>ratio of 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81 </a:t>
                </a:r>
                <a:r>
                  <a:rPr lang="en-IN" sz="3200" dirty="0">
                    <a:solidFill>
                      <a:schemeClr val="tx1"/>
                    </a:solidFill>
                  </a:rPr>
                  <a:t>: 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100?</a:t>
                </a:r>
                <a:endParaRPr lang="en-IN" sz="32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IN" sz="3200" dirty="0">
                    <a:solidFill>
                      <a:schemeClr val="tx1"/>
                    </a:solidFill>
                  </a:rPr>
                  <a:t>		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3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𝟖𝟏</m:t>
                        </m:r>
                        <m:r>
                          <a:rPr lang="en-IN" sz="3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e>
                    </m:rad>
                  </m:oMath>
                </a14:m>
                <a:r>
                  <a:rPr lang="en-IN" sz="3200" b="1" i="1" dirty="0">
                    <a:solidFill>
                      <a:srgbClr val="FF0000"/>
                    </a:solidFill>
                  </a:rPr>
                  <a:t> 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𝟏𝟎𝟎</m:t>
                        </m:r>
                        <m:r>
                          <a:rPr lang="en-IN" sz="32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e>
                    </m:rad>
                  </m:oMath>
                </a14:m>
                <a:endParaRPr lang="en-IN" sz="32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IN" sz="3200" dirty="0">
                    <a:solidFill>
                      <a:schemeClr val="tx1"/>
                    </a:solidFill>
                  </a:rPr>
                  <a:t>		</a:t>
                </a:r>
                <a:r>
                  <a:rPr lang="en-IN" sz="3200" b="1" dirty="0" smtClean="0">
                    <a:solidFill>
                      <a:srgbClr val="00B050"/>
                    </a:solidFill>
                  </a:rPr>
                  <a:t>= </a:t>
                </a:r>
                <a:r>
                  <a:rPr lang="en-IN" sz="3200" b="1" dirty="0">
                    <a:solidFill>
                      <a:srgbClr val="00B050"/>
                    </a:solidFill>
                  </a:rPr>
                  <a:t>9</a:t>
                </a:r>
                <a:r>
                  <a:rPr lang="en-IN" sz="3200" b="1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IN" sz="3200" b="1" dirty="0">
                    <a:solidFill>
                      <a:srgbClr val="00B050"/>
                    </a:solidFill>
                  </a:rPr>
                  <a:t>: </a:t>
                </a:r>
                <a:r>
                  <a:rPr lang="en-IN" sz="3200" b="1" dirty="0" smtClean="0">
                    <a:solidFill>
                      <a:srgbClr val="00B050"/>
                    </a:solidFill>
                  </a:rPr>
                  <a:t>10</a:t>
                </a:r>
                <a:endParaRPr lang="en-IN" sz="3200" b="1" dirty="0">
                  <a:solidFill>
                    <a:srgbClr val="00B050"/>
                  </a:solidFill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9247" y="2248347"/>
                <a:ext cx="8193233" cy="4276997"/>
              </a:xfrm>
              <a:blipFill rotWithShape="1">
                <a:blip r:embed="rId2"/>
                <a:stretch>
                  <a:fillRect l="-1935" t="-2282" r="-4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00B050"/>
                </a:solidFill>
              </a:rPr>
              <a:t>2) Sub-Duplicate </a:t>
            </a:r>
            <a:r>
              <a:rPr lang="en-IN" b="1" dirty="0" smtClean="0">
                <a:solidFill>
                  <a:srgbClr val="00B050"/>
                </a:solidFill>
              </a:rPr>
              <a:t>Ratio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395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99247" y="2248347"/>
                <a:ext cx="8193233" cy="427699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sz="3200" b="1" i="1" dirty="0" smtClean="0">
                    <a:solidFill>
                      <a:srgbClr val="FF0000"/>
                    </a:solidFill>
                    <a:latin typeface="Cambria Math"/>
                    <a:sym typeface="Wingdings" panose="05000000000000000000" pitchFamily="2" charset="2"/>
                  </a:rPr>
                  <a:t>(</a:t>
                </a:r>
                <a:r>
                  <a:rPr lang="en-IN" sz="3200" b="1" i="1" dirty="0">
                    <a:solidFill>
                      <a:srgbClr val="FF0000"/>
                    </a:solidFill>
                    <a:latin typeface="Cambria Math"/>
                    <a:sym typeface="Wingdings" panose="05000000000000000000" pitchFamily="2" charset="2"/>
                  </a:rPr>
                  <a:t>Cube</a:t>
                </a:r>
                <a14:m>
                  <m:oMath xmlns:m="http://schemas.openxmlformats.org/officeDocument/2006/math">
                    <m:r>
                      <a:rPr lang="en-IN" sz="3200" b="1" i="1" dirty="0">
                        <a:solidFill>
                          <a:srgbClr val="FF0000"/>
                        </a:solidFill>
                        <a:latin typeface="Cambria Math"/>
                        <a:sym typeface="Wingdings" panose="05000000000000000000" pitchFamily="2" charset="2"/>
                      </a:rPr>
                      <m:t>𝒔</m:t>
                    </m:r>
                  </m:oMath>
                </a14:m>
                <a:r>
                  <a:rPr lang="en-IN" sz="3200" b="1" i="1" dirty="0">
                    <a:solidFill>
                      <a:srgbClr val="FF0000"/>
                    </a:solidFill>
                  </a:rPr>
                  <a:t>) </a:t>
                </a:r>
                <a:r>
                  <a:rPr lang="en-IN" dirty="0">
                    <a:sym typeface="Wingdings" panose="05000000000000000000" pitchFamily="2" charset="2"/>
                  </a:rPr>
                  <a:t>	</a:t>
                </a:r>
                <a:endParaRPr lang="en-IN" b="1" i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IN" sz="3200" dirty="0" smtClean="0">
                    <a:solidFill>
                      <a:schemeClr val="tx1"/>
                    </a:solidFill>
                  </a:rPr>
                  <a:t>If </a:t>
                </a:r>
                <a:r>
                  <a:rPr lang="en-IN" sz="3200" dirty="0">
                    <a:solidFill>
                      <a:schemeClr val="tx1"/>
                    </a:solidFill>
                  </a:rPr>
                  <a:t>the normal ratio is </a:t>
                </a:r>
                <a:r>
                  <a:rPr lang="en-IN" sz="3200" b="1" i="1" dirty="0">
                    <a:solidFill>
                      <a:schemeClr val="tx1"/>
                    </a:solidFill>
                  </a:rPr>
                  <a:t>a : b</a:t>
                </a:r>
                <a:r>
                  <a:rPr lang="en-IN" sz="3200" dirty="0">
                    <a:solidFill>
                      <a:schemeClr val="tx1"/>
                    </a:solidFill>
                  </a:rPr>
                  <a:t>, then its 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triplicate </a:t>
                </a:r>
                <a:r>
                  <a:rPr lang="en-IN" sz="3200" dirty="0">
                    <a:solidFill>
                      <a:schemeClr val="tx1"/>
                    </a:solidFill>
                  </a:rPr>
                  <a:t>ratio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2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𝒂</m:t>
                        </m:r>
                      </m:e>
                      <m:sup>
                        <m:r>
                          <a:rPr lang="en-IN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  <m:r>
                      <a:rPr lang="en-IN" sz="3200" b="1" i="1">
                        <a:solidFill>
                          <a:srgbClr val="FF0000"/>
                        </a:solidFill>
                        <a:latin typeface="Cambria Math"/>
                      </a:rPr>
                      <m:t> : </m:t>
                    </m:r>
                    <m:sSup>
                      <m:sSupPr>
                        <m:ctrlPr>
                          <a:rPr lang="en-I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2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𝒃</m:t>
                        </m:r>
                      </m:e>
                      <m:sup>
                        <m:r>
                          <a:rPr lang="en-IN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IN" sz="3200" b="1" i="1" dirty="0">
                    <a:solidFill>
                      <a:srgbClr val="FF0000"/>
                    </a:solidFill>
                  </a:rPr>
                  <a:t>.</a:t>
                </a:r>
                <a:endParaRPr lang="en-IN" sz="3200" b="1" i="1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IN" sz="3200" b="1" i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IN" sz="3200" dirty="0">
                    <a:solidFill>
                      <a:schemeClr val="tx1"/>
                    </a:solidFill>
                  </a:rPr>
                  <a:t>Eg) Find the 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Triplicate </a:t>
                </a:r>
                <a:r>
                  <a:rPr lang="en-IN" sz="3200" dirty="0">
                    <a:solidFill>
                      <a:schemeClr val="tx1"/>
                    </a:solidFill>
                  </a:rPr>
                  <a:t>ratio of 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4 </a:t>
                </a:r>
                <a:r>
                  <a:rPr lang="en-IN" sz="3200" dirty="0">
                    <a:solidFill>
                      <a:schemeClr val="tx1"/>
                    </a:solidFill>
                  </a:rPr>
                  <a:t>: 5?</a:t>
                </a:r>
              </a:p>
              <a:p>
                <a:pPr marL="0" indent="0">
                  <a:buNone/>
                </a:pPr>
                <a:r>
                  <a:rPr lang="en-IN" sz="3200" dirty="0">
                    <a:solidFill>
                      <a:schemeClr val="tx1"/>
                    </a:solidFill>
                  </a:rPr>
                  <a:t>				     =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2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𝟒</m:t>
                        </m:r>
                      </m:e>
                      <m:sup>
                        <m:r>
                          <a:rPr lang="en-IN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  <m:r>
                      <a:rPr lang="en-IN" sz="3200" b="1" i="1">
                        <a:solidFill>
                          <a:srgbClr val="FF0000"/>
                        </a:solidFill>
                        <a:latin typeface="Cambria Math"/>
                      </a:rPr>
                      <m:t> : </m:t>
                    </m:r>
                    <m:sSup>
                      <m:sSupPr>
                        <m:ctrlPr>
                          <a:rPr lang="en-I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2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𝟓</m:t>
                        </m:r>
                      </m:e>
                      <m:sup>
                        <m:r>
                          <a:rPr lang="en-IN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endParaRPr lang="en-IN" sz="32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IN" sz="3200" dirty="0">
                    <a:solidFill>
                      <a:schemeClr val="tx1"/>
                    </a:solidFill>
                  </a:rPr>
                  <a:t>				      </a:t>
                </a:r>
                <a:r>
                  <a:rPr lang="en-IN" sz="3200" b="1" dirty="0">
                    <a:solidFill>
                      <a:srgbClr val="00B050"/>
                    </a:solidFill>
                  </a:rPr>
                  <a:t>= </a:t>
                </a:r>
                <a:r>
                  <a:rPr lang="en-IN" sz="3200" b="1" dirty="0" smtClean="0">
                    <a:solidFill>
                      <a:srgbClr val="00B050"/>
                    </a:solidFill>
                  </a:rPr>
                  <a:t>64 </a:t>
                </a:r>
                <a:r>
                  <a:rPr lang="en-IN" sz="3200" b="1" dirty="0">
                    <a:solidFill>
                      <a:srgbClr val="00B050"/>
                    </a:solidFill>
                  </a:rPr>
                  <a:t>: </a:t>
                </a:r>
                <a:r>
                  <a:rPr lang="en-IN" sz="3200" b="1" dirty="0" smtClean="0">
                    <a:solidFill>
                      <a:srgbClr val="00B050"/>
                    </a:solidFill>
                  </a:rPr>
                  <a:t>125</a:t>
                </a:r>
                <a:endParaRPr lang="en-IN" sz="32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IN" b="1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9247" y="2248347"/>
                <a:ext cx="8193233" cy="4276997"/>
              </a:xfrm>
              <a:blipFill rotWithShape="1">
                <a:blip r:embed="rId2"/>
                <a:stretch>
                  <a:fillRect l="-1935" t="-2282" r="-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Triplicate </a:t>
            </a:r>
            <a:r>
              <a:rPr lang="en-IN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71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99247" y="2248347"/>
                <a:ext cx="8049217" cy="434900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sz="3200" b="1" i="1" dirty="0" smtClean="0">
                    <a:solidFill>
                      <a:srgbClr val="FF0000"/>
                    </a:solidFill>
                    <a:latin typeface="Cambria Math"/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IN" sz="3200" b="1" i="1" dirty="0">
                        <a:solidFill>
                          <a:srgbClr val="FF0000"/>
                        </a:solidFill>
                        <a:latin typeface="Cambria Math"/>
                        <a:sym typeface="Wingdings" panose="05000000000000000000" pitchFamily="2" charset="2"/>
                      </a:rPr>
                      <m:t>𝑪𝒖𝒃𝒆</m:t>
                    </m:r>
                    <m:r>
                      <a:rPr lang="en-IN" sz="3200" b="1" i="1" dirty="0">
                        <a:solidFill>
                          <a:srgbClr val="FF0000"/>
                        </a:solidFill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en-IN" sz="3200" b="1" i="1" dirty="0">
                        <a:solidFill>
                          <a:srgbClr val="FF0000"/>
                        </a:solidFill>
                        <a:latin typeface="Cambria Math"/>
                        <a:sym typeface="Wingdings" panose="05000000000000000000" pitchFamily="2" charset="2"/>
                      </a:rPr>
                      <m:t>𝒓𝒐𝒐𝒕𝒔</m:t>
                    </m:r>
                  </m:oMath>
                </a14:m>
                <a:r>
                  <a:rPr lang="en-IN" sz="3200" b="1" i="1" dirty="0">
                    <a:solidFill>
                      <a:srgbClr val="FF0000"/>
                    </a:solidFill>
                  </a:rPr>
                  <a:t>) </a:t>
                </a:r>
              </a:p>
              <a:p>
                <a:pPr marL="0" indent="0">
                  <a:buNone/>
                </a:pPr>
                <a:r>
                  <a:rPr lang="en-IN" sz="3200" dirty="0" smtClean="0">
                    <a:solidFill>
                      <a:schemeClr val="tx1"/>
                    </a:solidFill>
                  </a:rPr>
                  <a:t>If </a:t>
                </a:r>
                <a:r>
                  <a:rPr lang="en-IN" sz="3200" dirty="0">
                    <a:solidFill>
                      <a:schemeClr val="tx1"/>
                    </a:solidFill>
                  </a:rPr>
                  <a:t>the normal ratio is </a:t>
                </a:r>
                <a:r>
                  <a:rPr lang="en-IN" sz="3200" b="1" i="1" dirty="0">
                    <a:solidFill>
                      <a:schemeClr val="tx1"/>
                    </a:solidFill>
                  </a:rPr>
                  <a:t>a : b</a:t>
                </a:r>
                <a:r>
                  <a:rPr lang="en-IN" sz="3200" dirty="0">
                    <a:solidFill>
                      <a:schemeClr val="tx1"/>
                    </a:solidFill>
                  </a:rPr>
                  <a:t>, then its 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sub-triplicate </a:t>
                </a:r>
                <a:r>
                  <a:rPr lang="en-IN" sz="3200" dirty="0">
                    <a:solidFill>
                      <a:schemeClr val="tx1"/>
                    </a:solidFill>
                  </a:rPr>
                  <a:t>ratio is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IN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IN" sz="3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deg>
                      <m:e>
                        <m:r>
                          <a:rPr lang="en-IN" sz="3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𝒂</m:t>
                        </m:r>
                        <m:r>
                          <a:rPr lang="en-IN" sz="3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e>
                    </m:rad>
                    <m:r>
                      <a:rPr lang="en-IN" sz="32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:</m:t>
                    </m:r>
                    <m:rad>
                      <m:radPr>
                        <m:ctrlPr>
                          <a:rPr lang="en-IN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IN" sz="3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deg>
                      <m:e>
                        <m:r>
                          <a:rPr lang="en-IN" sz="3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𝒃</m:t>
                        </m:r>
                        <m:r>
                          <a:rPr lang="en-IN" sz="3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e>
                    </m:rad>
                  </m:oMath>
                </a14:m>
                <a:endParaRPr lang="en-IN" sz="3200" b="1" i="1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IN" sz="3200" b="1" i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IN" sz="3200" dirty="0">
                    <a:solidFill>
                      <a:schemeClr val="tx1"/>
                    </a:solidFill>
                  </a:rPr>
                  <a:t>Eg) Find the 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Sub-Triplicate </a:t>
                </a:r>
                <a:r>
                  <a:rPr lang="en-IN" sz="3200" dirty="0">
                    <a:solidFill>
                      <a:schemeClr val="tx1"/>
                    </a:solidFill>
                  </a:rPr>
                  <a:t>ratio of 8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IN" sz="3200" dirty="0">
                    <a:solidFill>
                      <a:schemeClr val="tx1"/>
                    </a:solidFill>
                  </a:rPr>
                  <a:t>: 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27?</a:t>
                </a:r>
                <a:endParaRPr lang="en-IN" sz="32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IN" sz="3200" dirty="0">
                    <a:solidFill>
                      <a:schemeClr val="tx1"/>
                    </a:solidFill>
                  </a:rPr>
                  <a:t>				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	     =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IN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IN" sz="3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deg>
                      <m:e>
                        <m:r>
                          <a:rPr lang="en-IN" sz="3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𝟖</m:t>
                        </m:r>
                        <m:r>
                          <a:rPr lang="en-IN" sz="3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e>
                    </m:rad>
                    <m:r>
                      <a:rPr lang="en-IN" sz="3200" b="1" i="1" dirty="0">
                        <a:solidFill>
                          <a:srgbClr val="FF0000"/>
                        </a:solidFill>
                        <a:latin typeface="Cambria Math"/>
                      </a:rPr>
                      <m:t> :</m:t>
                    </m:r>
                    <m:rad>
                      <m:radPr>
                        <m:ctrlPr>
                          <a:rPr lang="en-IN" sz="3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IN" sz="3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deg>
                      <m:e>
                        <m:r>
                          <a:rPr lang="en-IN" sz="3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𝟐𝟕</m:t>
                        </m:r>
                        <m:r>
                          <a:rPr lang="en-IN" sz="3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e>
                    </m:rad>
                  </m:oMath>
                </a14:m>
                <a:endParaRPr lang="en-IN" sz="32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IN" sz="3200" dirty="0">
                    <a:solidFill>
                      <a:schemeClr val="tx1"/>
                    </a:solidFill>
                  </a:rPr>
                  <a:t>				 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	     </a:t>
                </a:r>
                <a:r>
                  <a:rPr lang="en-IN" sz="3200" b="1" dirty="0">
                    <a:solidFill>
                      <a:srgbClr val="00B050"/>
                    </a:solidFill>
                  </a:rPr>
                  <a:t>= </a:t>
                </a:r>
                <a:r>
                  <a:rPr lang="en-IN" sz="3200" b="1" dirty="0" smtClean="0">
                    <a:solidFill>
                      <a:srgbClr val="00B050"/>
                    </a:solidFill>
                  </a:rPr>
                  <a:t>2 </a:t>
                </a:r>
                <a:r>
                  <a:rPr lang="en-IN" sz="3200" b="1" dirty="0">
                    <a:solidFill>
                      <a:srgbClr val="00B050"/>
                    </a:solidFill>
                  </a:rPr>
                  <a:t>: 3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9247" y="2248347"/>
                <a:ext cx="8049217" cy="4349005"/>
              </a:xfrm>
              <a:blipFill rotWithShape="1">
                <a:blip r:embed="rId2"/>
                <a:stretch>
                  <a:fillRect l="-1970" t="-2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00B050"/>
                </a:solidFill>
              </a:rPr>
              <a:t>4) Sub-Triplicate </a:t>
            </a:r>
            <a:r>
              <a:rPr lang="en-IN" b="1" dirty="0" smtClean="0">
                <a:solidFill>
                  <a:srgbClr val="00B050"/>
                </a:solidFill>
              </a:rPr>
              <a:t>Ratio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5555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99247" y="2248347"/>
                <a:ext cx="8265241" cy="442101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800" b="1" i="1" dirty="0" smtClean="0">
                    <a:solidFill>
                      <a:srgbClr val="FF0000"/>
                    </a:solidFill>
                    <a:latin typeface="Cambria Math"/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b="1" i="1" dirty="0">
                        <a:solidFill>
                          <a:srgbClr val="FF0000"/>
                        </a:solidFill>
                        <a:latin typeface="Cambria Math"/>
                        <a:sym typeface="Wingdings" panose="05000000000000000000" pitchFamily="2" charset="2"/>
                      </a:rPr>
                      <m:t>𝑹𝒆𝒄𝒊𝒑𝒓𝒐𝒄𝒂𝒍</m:t>
                    </m:r>
                    <m:r>
                      <a:rPr lang="en-IN" sz="2800" b="1" i="1" dirty="0">
                        <a:solidFill>
                          <a:srgbClr val="FF0000"/>
                        </a:solidFill>
                        <a:latin typeface="Cambria Math"/>
                        <a:sym typeface="Wingdings" panose="05000000000000000000" pitchFamily="2" charset="2"/>
                      </a:rPr>
                      <m:t>  </m:t>
                    </m:r>
                    <m:r>
                      <a:rPr lang="en-IN" sz="2800" b="1" i="1" dirty="0">
                        <a:solidFill>
                          <a:srgbClr val="FF0000"/>
                        </a:solidFill>
                        <a:latin typeface="Cambria Math"/>
                        <a:sym typeface="Wingdings" panose="05000000000000000000" pitchFamily="2" charset="2"/>
                      </a:rPr>
                      <m:t>𝒐𝒇</m:t>
                    </m:r>
                    <m:r>
                      <a:rPr lang="en-IN" sz="2800" b="1" i="1" dirty="0">
                        <a:solidFill>
                          <a:srgbClr val="FF0000"/>
                        </a:solidFill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en-IN" sz="2800" b="1" i="1" dirty="0">
                        <a:solidFill>
                          <a:srgbClr val="FF0000"/>
                        </a:solidFill>
                        <a:latin typeface="Cambria Math"/>
                        <a:sym typeface="Wingdings" panose="05000000000000000000" pitchFamily="2" charset="2"/>
                      </a:rPr>
                      <m:t>𝒈𝒊𝒗𝒆𝒏</m:t>
                    </m:r>
                    <m:r>
                      <a:rPr lang="en-IN" sz="2800" b="1" i="1" dirty="0">
                        <a:solidFill>
                          <a:srgbClr val="FF0000"/>
                        </a:solidFill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en-IN" sz="2800" b="1" i="1" dirty="0">
                        <a:solidFill>
                          <a:srgbClr val="FF0000"/>
                        </a:solidFill>
                        <a:latin typeface="Cambria Math"/>
                        <a:sym typeface="Wingdings" panose="05000000000000000000" pitchFamily="2" charset="2"/>
                      </a:rPr>
                      <m:t>𝒓𝒂𝒕𝒊𝒐</m:t>
                    </m:r>
                  </m:oMath>
                </a14:m>
                <a:r>
                  <a:rPr lang="en-IN" sz="2800" b="1" i="1" dirty="0">
                    <a:solidFill>
                      <a:srgbClr val="FF0000"/>
                    </a:solidFill>
                  </a:rPr>
                  <a:t>) </a:t>
                </a:r>
                <a:endParaRPr lang="en-IN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3200" dirty="0" smtClean="0">
                    <a:solidFill>
                      <a:schemeClr val="tx1"/>
                    </a:solidFill>
                  </a:rPr>
                  <a:t>If </a:t>
                </a:r>
                <a:r>
                  <a:rPr lang="en-IN" sz="3200" dirty="0">
                    <a:solidFill>
                      <a:schemeClr val="tx1"/>
                    </a:solidFill>
                  </a:rPr>
                  <a:t>the normal ratio is </a:t>
                </a:r>
                <a:r>
                  <a:rPr lang="en-IN" sz="3200" b="1" i="1" dirty="0">
                    <a:solidFill>
                      <a:schemeClr val="tx1"/>
                    </a:solidFill>
                  </a:rPr>
                  <a:t>a : b</a:t>
                </a:r>
                <a:r>
                  <a:rPr lang="en-IN" sz="3200" dirty="0">
                    <a:solidFill>
                      <a:schemeClr val="tx1"/>
                    </a:solidFill>
                  </a:rPr>
                  <a:t>, then its 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inverse </a:t>
                </a:r>
                <a:r>
                  <a:rPr lang="en-IN" sz="3200" dirty="0">
                    <a:solidFill>
                      <a:schemeClr val="tx1"/>
                    </a:solidFill>
                  </a:rPr>
                  <a:t>ratio </a:t>
                </a:r>
                <a:r>
                  <a:rPr lang="en-IN" sz="3200" dirty="0" smtClean="0">
                    <a:solidFill>
                      <a:schemeClr val="tx1"/>
                    </a:solidFill>
                  </a:rPr>
                  <a:t>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4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4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IN" sz="4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𝒂</m:t>
                        </m:r>
                      </m:den>
                    </m:f>
                  </m:oMath>
                </a14:m>
                <a:r>
                  <a:rPr lang="en-IN" sz="4000" b="1" i="1" dirty="0" smtClean="0">
                    <a:solidFill>
                      <a:srgbClr val="FF0000"/>
                    </a:solidFill>
                  </a:rPr>
                  <a:t>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4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4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IN" sz="4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𝒃</m:t>
                        </m:r>
                      </m:den>
                    </m:f>
                  </m:oMath>
                </a14:m>
                <a:r>
                  <a:rPr lang="en-IN" sz="3200" b="1" i="1" dirty="0" smtClean="0">
                    <a:solidFill>
                      <a:srgbClr val="FF000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IN" sz="32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IN" sz="32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𝒃</m:t>
                    </m:r>
                    <m:r>
                      <a:rPr lang="en-IN" sz="32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: </m:t>
                    </m:r>
                    <m:r>
                      <a:rPr lang="en-IN" sz="32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𝒂</m:t>
                    </m:r>
                    <m:r>
                      <a:rPr lang="en-IN" sz="32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IN" sz="3200" b="1" i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IN" sz="3200" b="1" dirty="0" smtClean="0">
                    <a:solidFill>
                      <a:schemeClr val="tx1"/>
                    </a:solidFill>
                  </a:rPr>
                  <a:t>Eg: Find the inverse ratio of 3 : 4?</a:t>
                </a:r>
              </a:p>
              <a:p>
                <a:pPr marL="0" indent="0">
                  <a:buNone/>
                </a:pPr>
                <a:r>
                  <a:rPr lang="en-IN" sz="3200" b="1" i="1" dirty="0" smtClean="0">
                    <a:solidFill>
                      <a:srgbClr val="FF0000"/>
                    </a:solidFill>
                  </a:rPr>
                  <a:t>                                                </a:t>
                </a:r>
                <a:r>
                  <a:rPr lang="en-IN" sz="3600" b="1" i="1" dirty="0" smtClean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IN" sz="3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IN" sz="3600" b="1" i="1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IN" sz="3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IN" sz="3600" b="1" i="1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IN" sz="3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𝟒</m:t>
                        </m:r>
                      </m:den>
                    </m:f>
                  </m:oMath>
                </a14:m>
                <a:endParaRPr lang="en-IN" sz="3200" b="1" i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IN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IN" sz="32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</a:t>
                </a:r>
                <a:r>
                  <a:rPr lang="en-I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32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IN" sz="3200" b="0" i="0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IN" sz="32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4 : 3</a:t>
                </a:r>
                <a:endParaRPr lang="en-IN" sz="3200" b="1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9247" y="2248347"/>
                <a:ext cx="8265241" cy="4421013"/>
              </a:xfrm>
              <a:blipFill rotWithShape="1">
                <a:blip r:embed="rId2"/>
                <a:stretch>
                  <a:fillRect l="-1917" t="-1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 Inverse </a:t>
            </a:r>
            <a:r>
              <a:rPr lang="en-IN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008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99247" y="2248347"/>
                <a:ext cx="7745505" cy="4349005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IN" sz="3800" b="1" dirty="0" err="1" smtClean="0">
                    <a:solidFill>
                      <a:schemeClr val="tx1"/>
                    </a:solidFill>
                  </a:rPr>
                  <a:t>Eg</a:t>
                </a:r>
                <a:r>
                  <a:rPr lang="en-IN" sz="3800" b="1" dirty="0" smtClean="0">
                    <a:solidFill>
                      <a:schemeClr val="tx1"/>
                    </a:solidFill>
                  </a:rPr>
                  <a:t>) Find the Inverse Ratio of 1 : 2 : 3?</a:t>
                </a:r>
              </a:p>
              <a:p>
                <a:pPr marL="0" indent="0">
                  <a:buNone/>
                </a:pPr>
                <a:endParaRPr lang="en-IN" sz="3800" b="1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IN" sz="3800" b="1" dirty="0">
                    <a:solidFill>
                      <a:schemeClr val="tx1"/>
                    </a:solidFill>
                  </a:rPr>
                  <a:t>	</a:t>
                </a:r>
                <a:r>
                  <a:rPr lang="en-IN" sz="3800" b="1" dirty="0" smtClean="0">
                    <a:solidFill>
                      <a:schemeClr val="tx1"/>
                    </a:solidFill>
                  </a:rPr>
                  <a:t>			</a:t>
                </a:r>
                <a:r>
                  <a:rPr lang="en-IN" sz="4700" b="1" dirty="0" smtClean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47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47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IN" sz="47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IN" sz="4700" b="1" dirty="0" smtClean="0">
                    <a:solidFill>
                      <a:schemeClr val="tx1"/>
                    </a:solidFill>
                  </a:rPr>
                  <a:t>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47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47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IN" sz="47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IN" sz="4700" b="1" dirty="0" smtClean="0">
                    <a:solidFill>
                      <a:schemeClr val="tx1"/>
                    </a:solidFill>
                  </a:rPr>
                  <a:t> :</a:t>
                </a:r>
                <a:r>
                  <a:rPr lang="en-IN" sz="47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47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47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IN" sz="47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IN" sz="4700" b="1" dirty="0" smtClean="0">
                    <a:solidFill>
                      <a:schemeClr val="tx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IN" sz="3800" b="1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IN" sz="3800" b="1" dirty="0">
                    <a:solidFill>
                      <a:schemeClr val="tx1"/>
                    </a:solidFill>
                  </a:rPr>
                  <a:t>	</a:t>
                </a:r>
                <a:r>
                  <a:rPr lang="en-IN" sz="3800" b="1" dirty="0" smtClean="0">
                    <a:solidFill>
                      <a:schemeClr val="tx1"/>
                    </a:solidFill>
                  </a:rPr>
                  <a:t>			</a:t>
                </a:r>
                <a:r>
                  <a:rPr lang="en-IN" sz="4700" b="1" dirty="0" smtClean="0">
                    <a:solidFill>
                      <a:srgbClr val="00B050"/>
                    </a:solidFill>
                  </a:rPr>
                  <a:t>= 6 : 3 : 2</a:t>
                </a:r>
              </a:p>
              <a:p>
                <a:pPr marL="0" indent="0">
                  <a:buNone/>
                </a:pPr>
                <a:r>
                  <a:rPr lang="en-IN" b="1" dirty="0">
                    <a:solidFill>
                      <a:schemeClr val="tx1"/>
                    </a:solidFill>
                  </a:rPr>
                  <a:t>	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9247" y="2248347"/>
                <a:ext cx="7745505" cy="4349005"/>
              </a:xfrm>
              <a:blipFill rotWithShape="1">
                <a:blip r:embed="rId2"/>
                <a:stretch>
                  <a:fillRect l="-2362" t="-2244" r="-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00B050"/>
                </a:solidFill>
              </a:rPr>
              <a:t>5) Inverse </a:t>
            </a:r>
            <a:r>
              <a:rPr lang="en-IN" b="1" dirty="0" smtClean="0">
                <a:solidFill>
                  <a:srgbClr val="00B050"/>
                </a:solidFill>
              </a:rPr>
              <a:t>Ratio…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08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537" y="2248347"/>
            <a:ext cx="8496944" cy="43490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000" b="1" i="1" dirty="0" smtClean="0">
                <a:solidFill>
                  <a:srgbClr val="FF0000"/>
                </a:solidFill>
              </a:rPr>
              <a:t>(Product of all 1</a:t>
            </a:r>
            <a:r>
              <a:rPr lang="en-IN" sz="3000" b="1" i="1" baseline="30000" dirty="0" smtClean="0">
                <a:solidFill>
                  <a:srgbClr val="FF0000"/>
                </a:solidFill>
              </a:rPr>
              <a:t>st</a:t>
            </a:r>
            <a:r>
              <a:rPr lang="en-IN" sz="3000" b="1" i="1" dirty="0" smtClean="0">
                <a:solidFill>
                  <a:srgbClr val="FF0000"/>
                </a:solidFill>
              </a:rPr>
              <a:t> term) : (Product of all 2</a:t>
            </a:r>
            <a:r>
              <a:rPr lang="en-IN" sz="3000" b="1" i="1" baseline="30000" dirty="0" smtClean="0">
                <a:solidFill>
                  <a:srgbClr val="FF0000"/>
                </a:solidFill>
              </a:rPr>
              <a:t>nd</a:t>
            </a:r>
            <a:r>
              <a:rPr lang="en-IN" sz="3000" b="1" i="1" dirty="0" smtClean="0">
                <a:solidFill>
                  <a:srgbClr val="FF0000"/>
                </a:solidFill>
              </a:rPr>
              <a:t> term)</a:t>
            </a:r>
          </a:p>
          <a:p>
            <a:pPr marL="0" indent="0">
              <a:buNone/>
            </a:pPr>
            <a:r>
              <a:rPr lang="en-IN" sz="3200" b="1" dirty="0" smtClean="0">
                <a:solidFill>
                  <a:srgbClr val="00B050"/>
                </a:solidFill>
              </a:rPr>
              <a:t>	</a:t>
            </a:r>
          </a:p>
          <a:p>
            <a:pPr marL="0" indent="0">
              <a:buNone/>
            </a:pPr>
            <a:r>
              <a:rPr lang="en-IN" sz="3200" b="1" dirty="0" err="1" smtClean="0">
                <a:solidFill>
                  <a:schemeClr val="tx1"/>
                </a:solidFill>
              </a:rPr>
              <a:t>Eg</a:t>
            </a:r>
            <a:r>
              <a:rPr lang="en-IN" sz="3200" b="1" dirty="0" smtClean="0">
                <a:solidFill>
                  <a:schemeClr val="tx1"/>
                </a:solidFill>
              </a:rPr>
              <a:t>) Find the compound ratio of (a : b) (c : d) (e : f)</a:t>
            </a:r>
          </a:p>
          <a:p>
            <a:pPr marL="0" indent="0">
              <a:buNone/>
            </a:pPr>
            <a:r>
              <a:rPr lang="en-IN" sz="3200" b="1" dirty="0" smtClean="0">
                <a:solidFill>
                  <a:schemeClr val="tx1"/>
                </a:solidFill>
              </a:rPr>
              <a:t>          </a:t>
            </a:r>
            <a:r>
              <a:rPr lang="en-IN" sz="3200" b="1" dirty="0" smtClean="0">
                <a:solidFill>
                  <a:srgbClr val="00B050"/>
                </a:solidFill>
              </a:rPr>
              <a:t>= (ace : bdf)</a:t>
            </a:r>
            <a:endParaRPr lang="en-IN" sz="3200" b="1" dirty="0">
              <a:solidFill>
                <a:srgbClr val="00B05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00B050"/>
                </a:solidFill>
              </a:rPr>
              <a:t>6) Compound </a:t>
            </a:r>
            <a:r>
              <a:rPr lang="en-IN" b="1" dirty="0" smtClean="0">
                <a:solidFill>
                  <a:srgbClr val="00B050"/>
                </a:solidFill>
              </a:rPr>
              <a:t>Ratio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1420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sz="3200" dirty="0" smtClean="0"/>
                  <a:t> 	</a:t>
                </a:r>
                <a:r>
                  <a:rPr lang="en-IN" sz="3200" b="1" dirty="0" smtClean="0">
                    <a:solidFill>
                      <a:srgbClr val="00B050"/>
                    </a:solidFill>
                  </a:rPr>
                  <a:t>Equalities of Ratio.</a:t>
                </a:r>
              </a:p>
              <a:p>
                <a:endParaRPr lang="en-IN" sz="3200" b="1" dirty="0" smtClean="0">
                  <a:solidFill>
                    <a:srgbClr val="00B050"/>
                  </a:solidFill>
                </a:endParaRPr>
              </a:p>
              <a:p>
                <a:r>
                  <a:rPr lang="en-IN" sz="3200" dirty="0" smtClean="0"/>
                  <a:t>	If (a </a:t>
                </a:r>
                <a:r>
                  <a:rPr lang="en-IN" sz="3200" dirty="0"/>
                  <a:t>: </a:t>
                </a:r>
                <a:r>
                  <a:rPr lang="en-IN" sz="3200" dirty="0" smtClean="0"/>
                  <a:t>b) </a:t>
                </a:r>
                <a:r>
                  <a:rPr lang="en-IN" sz="3200" dirty="0"/>
                  <a:t>= </a:t>
                </a:r>
                <a:r>
                  <a:rPr lang="en-IN" sz="3200" dirty="0" smtClean="0"/>
                  <a:t>(c </a:t>
                </a:r>
                <a:r>
                  <a:rPr lang="en-IN" sz="3200" dirty="0"/>
                  <a:t>: </a:t>
                </a:r>
                <a:r>
                  <a:rPr lang="en-IN" sz="3200" dirty="0" smtClean="0"/>
                  <a:t>d), </a:t>
                </a:r>
                <a:r>
                  <a:rPr lang="en-IN" sz="3200" dirty="0"/>
                  <a:t>we </a:t>
                </a:r>
                <a:r>
                  <a:rPr lang="en-IN" sz="3200" dirty="0" smtClean="0"/>
                  <a:t>can also write   	this as</a:t>
                </a:r>
              </a:p>
              <a:p>
                <a:pPr marL="0" indent="0">
                  <a:buNone/>
                </a:pPr>
                <a:r>
                  <a:rPr lang="en-IN" sz="3200" dirty="0" smtClean="0"/>
                  <a:t>           </a:t>
                </a:r>
                <a:r>
                  <a:rPr lang="en-IN" sz="3200" b="1" dirty="0" smtClean="0"/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3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𝒂</m:t>
                        </m:r>
                        <m:r>
                          <a:rPr lang="en-IN" sz="3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:</m:t>
                        </m:r>
                        <m:r>
                          <a:rPr lang="en-IN" sz="3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𝒃</m:t>
                        </m:r>
                      </m:e>
                    </m:d>
                    <m:r>
                      <a:rPr lang="en-IN" sz="32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: : </m:t>
                    </m:r>
                    <m:d>
                      <m:dPr>
                        <m:ctrlPr>
                          <a:rPr lang="en-IN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3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𝒄</m:t>
                        </m:r>
                        <m:r>
                          <a:rPr lang="en-IN" sz="3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: </m:t>
                        </m:r>
                        <m:r>
                          <a:rPr lang="en-IN" sz="3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𝒅</m:t>
                        </m:r>
                      </m:e>
                    </m:d>
                  </m:oMath>
                </a14:m>
                <a:endParaRPr lang="en-IN" sz="3200" b="1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IN" sz="3200" dirty="0" smtClean="0">
                  <a:solidFill>
                    <a:srgbClr val="FF0000"/>
                  </a:solidFill>
                </a:endParaRPr>
              </a:p>
              <a:p>
                <a:r>
                  <a:rPr lang="en-IN" sz="3200" dirty="0" smtClean="0"/>
                  <a:t>	Then  </a:t>
                </a:r>
                <a:r>
                  <a:rPr lang="en-IN" sz="3200" b="1" dirty="0">
                    <a:solidFill>
                      <a:srgbClr val="00B050"/>
                    </a:solidFill>
                  </a:rPr>
                  <a:t>a, b, </a:t>
                </a:r>
                <a:r>
                  <a:rPr lang="en-IN" sz="3200" b="1" dirty="0" smtClean="0">
                    <a:solidFill>
                      <a:srgbClr val="00B050"/>
                    </a:solidFill>
                  </a:rPr>
                  <a:t>c and d </a:t>
                </a:r>
                <a:r>
                  <a:rPr lang="en-IN" sz="3200" dirty="0"/>
                  <a:t>are in </a:t>
                </a:r>
                <a:r>
                  <a:rPr lang="en-IN" sz="3200" b="1" dirty="0">
                    <a:solidFill>
                      <a:srgbClr val="00B050"/>
                    </a:solidFill>
                  </a:rPr>
                  <a:t>proportion</a:t>
                </a:r>
                <a:r>
                  <a:rPr lang="en-IN" sz="3200" b="1" dirty="0" smtClean="0">
                    <a:solidFill>
                      <a:srgbClr val="00B050"/>
                    </a:solidFill>
                  </a:rPr>
                  <a:t>.</a:t>
                </a:r>
                <a:endParaRPr lang="en-IN" sz="32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11" t="-3302" r="-19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b="1" dirty="0" smtClean="0"/>
              <a:t>Proportion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7036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323529" y="2132856"/>
                <a:ext cx="8568952" cy="432047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endParaRPr lang="en-IN" sz="3000" dirty="0" smtClean="0"/>
              </a:p>
              <a:p>
                <a:r>
                  <a:rPr lang="en-IN" sz="3000" dirty="0" smtClean="0"/>
                  <a:t>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3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30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𝒂</m:t>
                        </m:r>
                        <m:r>
                          <a:rPr lang="en-IN" sz="30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 :</m:t>
                        </m:r>
                        <m:r>
                          <a:rPr lang="en-IN" sz="30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𝒃</m:t>
                        </m:r>
                      </m:e>
                    </m:d>
                    <m:r>
                      <a:rPr lang="en-IN" sz="30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IN" sz="3000" b="1" i="1" dirty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n-IN" sz="3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30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𝒄</m:t>
                        </m:r>
                        <m:r>
                          <a:rPr lang="en-IN" sz="30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 : </m:t>
                        </m:r>
                        <m:r>
                          <a:rPr lang="en-IN" sz="30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𝒅</m:t>
                        </m:r>
                      </m:e>
                    </m:d>
                  </m:oMath>
                </a14:m>
                <a:r>
                  <a:rPr lang="en-IN" sz="3000" dirty="0" smtClean="0"/>
                  <a:t> , then</a:t>
                </a:r>
              </a:p>
              <a:p>
                <a:pPr marL="0" indent="0">
                  <a:buNone/>
                </a:pPr>
                <a:r>
                  <a:rPr lang="en-IN" sz="3000" b="1" i="1" dirty="0" smtClean="0">
                    <a:solidFill>
                      <a:srgbClr val="FF0000"/>
                    </a:solidFill>
                  </a:rPr>
                  <a:t>      </a:t>
                </a:r>
              </a:p>
              <a:p>
                <a:pPr marL="0" indent="0">
                  <a:buNone/>
                </a:pPr>
                <a:endParaRPr lang="en-IN" sz="3000" b="1" i="1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IN" sz="3000" b="1" i="1" dirty="0" smtClean="0">
                    <a:solidFill>
                      <a:srgbClr val="FF0000"/>
                    </a:solidFill>
                  </a:rPr>
                  <a:t>(Product of Means = Product of Extremes) </a:t>
                </a:r>
              </a:p>
              <a:p>
                <a:pPr marL="0" indent="0">
                  <a:buNone/>
                </a:pPr>
                <a:endParaRPr lang="en-IN" sz="3000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IN" sz="3000" dirty="0" err="1" smtClean="0">
                    <a:solidFill>
                      <a:schemeClr val="tx1"/>
                    </a:solidFill>
                  </a:rPr>
                  <a:t>Eg</a:t>
                </a:r>
                <a:r>
                  <a:rPr lang="en-IN" sz="3000" dirty="0" smtClean="0">
                    <a:solidFill>
                      <a:schemeClr val="tx1"/>
                    </a:solidFill>
                  </a:rPr>
                  <a:t>) If </a:t>
                </a:r>
                <a14:m>
                  <m:oMath xmlns:m="http://schemas.openxmlformats.org/officeDocument/2006/math">
                    <m:r>
                      <a:rPr lang="en-IN" sz="3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10 : 20</m:t>
                    </m:r>
                    <m:r>
                      <a:rPr lang="en-IN" sz="30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IN" sz="3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 40 : 80</m:t>
                    </m:r>
                  </m:oMath>
                </a14:m>
                <a:r>
                  <a:rPr lang="en-IN" sz="3000" dirty="0" smtClean="0">
                    <a:solidFill>
                      <a:schemeClr val="tx1"/>
                    </a:solidFill>
                  </a:rPr>
                  <a:t>, then</a:t>
                </a:r>
                <a:endParaRPr lang="en-IN" sz="3000" b="1" dirty="0" smtClean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IN" sz="3000" b="1" dirty="0" smtClean="0">
                    <a:solidFill>
                      <a:srgbClr val="00B050"/>
                    </a:solidFill>
                  </a:rPr>
                  <a:t>	20 </a:t>
                </a:r>
                <a14:m>
                  <m:oMath xmlns:m="http://schemas.openxmlformats.org/officeDocument/2006/math">
                    <m:r>
                      <a:rPr lang="en-IN" sz="3000" b="1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IN" sz="3000" b="1" dirty="0" smtClean="0">
                    <a:solidFill>
                      <a:srgbClr val="00B050"/>
                    </a:solidFill>
                  </a:rPr>
                  <a:t> 40 = 10 </a:t>
                </a:r>
                <a14:m>
                  <m:oMath xmlns:m="http://schemas.openxmlformats.org/officeDocument/2006/math">
                    <m:r>
                      <a:rPr lang="en-IN" sz="3000" b="1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IN" sz="3000" b="1" dirty="0" smtClean="0">
                    <a:solidFill>
                      <a:srgbClr val="00B050"/>
                    </a:solidFill>
                  </a:rPr>
                  <a:t> 80</a:t>
                </a:r>
              </a:p>
              <a:p>
                <a:pPr marL="0" indent="0">
                  <a:buNone/>
                </a:pPr>
                <a:r>
                  <a:rPr lang="en-IN" sz="3000" b="1" dirty="0">
                    <a:solidFill>
                      <a:srgbClr val="00B050"/>
                    </a:solidFill>
                  </a:rPr>
                  <a:t>	</a:t>
                </a:r>
                <a:r>
                  <a:rPr lang="en-IN" sz="3000" b="1" dirty="0" smtClean="0">
                    <a:solidFill>
                      <a:srgbClr val="00B050"/>
                    </a:solidFill>
                  </a:rPr>
                  <a:t>     800   =   800</a:t>
                </a:r>
                <a:endParaRPr lang="en-IN" sz="3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9" y="2132856"/>
                <a:ext cx="8568952" cy="4320479"/>
              </a:xfrm>
              <a:blipFill rotWithShape="1">
                <a:blip r:embed="rId2"/>
                <a:stretch>
                  <a:fillRect l="-1422" b="-1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Proportion</a:t>
            </a:r>
            <a:endParaRPr lang="en-IN" b="1" dirty="0"/>
          </a:p>
        </p:txBody>
      </p:sp>
      <p:sp>
        <p:nvSpPr>
          <p:cNvPr id="4" name="Curved Up Arrow 3"/>
          <p:cNvSpPr/>
          <p:nvPr/>
        </p:nvSpPr>
        <p:spPr>
          <a:xfrm>
            <a:off x="1403648" y="3212976"/>
            <a:ext cx="2376264" cy="432048"/>
          </a:xfrm>
          <a:prstGeom prst="curvedUpArrow">
            <a:avLst>
              <a:gd name="adj1" fmla="val 25000"/>
              <a:gd name="adj2" fmla="val 61463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Curved Down Arrow 4"/>
          <p:cNvSpPr/>
          <p:nvPr/>
        </p:nvSpPr>
        <p:spPr>
          <a:xfrm>
            <a:off x="1979712" y="2348880"/>
            <a:ext cx="1152128" cy="36004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9896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7200" b="1" dirty="0"/>
              <a:t>Basic Problems </a:t>
            </a:r>
            <a:endParaRPr lang="en-IN" sz="7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383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8121225" cy="387781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: B = 3 : 4 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: C = 4 : 5 </a:t>
            </a:r>
          </a:p>
          <a:p>
            <a:pPr marL="0" lvl="0" indent="0">
              <a:buNone/>
            </a:pP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 find A : B : C</a:t>
            </a:r>
          </a:p>
          <a:p>
            <a:pPr marL="0" lvl="0" indent="0">
              <a:buNone/>
            </a:pP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a)3:4:5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b)5:4:3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	c)6:8:9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d)3:4:9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11543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3568" y="2204864"/>
            <a:ext cx="7745505" cy="3877815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/>
              <a:t> </a:t>
            </a:r>
            <a:endParaRPr lang="en-IN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Q.1)Explanation</a:t>
            </a:r>
            <a:endParaRPr lang="en-IN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547664" y="2297770"/>
            <a:ext cx="30243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A        :           B          :         C</a:t>
            </a:r>
            <a:endParaRPr lang="en-IN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47664" y="2819502"/>
            <a:ext cx="165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3         :           4          </a:t>
            </a:r>
            <a:endParaRPr lang="en-IN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843808" y="3432412"/>
            <a:ext cx="17281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4          :         5</a:t>
            </a:r>
            <a:endParaRPr lang="en-IN" b="1" dirty="0"/>
          </a:p>
        </p:txBody>
      </p:sp>
      <p:sp>
        <p:nvSpPr>
          <p:cNvPr id="7" name="Oval 6"/>
          <p:cNvSpPr/>
          <p:nvPr/>
        </p:nvSpPr>
        <p:spPr>
          <a:xfrm>
            <a:off x="2771800" y="2819502"/>
            <a:ext cx="504056" cy="111355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sp>
        <p:nvSpPr>
          <p:cNvPr id="8" name="TextBox 7"/>
          <p:cNvSpPr txBox="1"/>
          <p:nvPr/>
        </p:nvSpPr>
        <p:spPr>
          <a:xfrm>
            <a:off x="1545458" y="4293096"/>
            <a:ext cx="30243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3</a:t>
            </a:r>
            <a:r>
              <a:rPr lang="en-IN" b="1" dirty="0" smtClean="0"/>
              <a:t>        :           4          :         5</a:t>
            </a:r>
            <a:endParaRPr lang="en-IN" b="1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403648" y="4077072"/>
            <a:ext cx="3384376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403648" y="4797152"/>
            <a:ext cx="3384376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79712" y="5517232"/>
            <a:ext cx="4716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rgbClr val="00B050"/>
                </a:solidFill>
              </a:rPr>
              <a:t>A : B : C = 3 : 4 : 5</a:t>
            </a:r>
            <a:endParaRPr lang="en-IN" sz="4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89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: B = 2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: C =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 :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</a:p>
          <a:p>
            <a:pPr marL="0" lvl="0" indent="0"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 find A : B : C</a:t>
            </a:r>
          </a:p>
          <a:p>
            <a:pPr marL="0" lvl="0" indent="0">
              <a:buNone/>
            </a:pP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a)2:6:5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b)5:6:5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	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c)4:3:5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d)4:6:5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4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Q.2)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43552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3568" y="2204864"/>
            <a:ext cx="7745505" cy="3877815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/>
              <a:t> </a:t>
            </a:r>
            <a:endParaRPr lang="en-IN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Q.2)Explanation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47664" y="2297770"/>
            <a:ext cx="30243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A        :           B          :         C</a:t>
            </a:r>
            <a:endParaRPr lang="en-IN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47664" y="2819502"/>
            <a:ext cx="165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2</a:t>
            </a:r>
            <a:r>
              <a:rPr lang="en-IN" b="1" dirty="0" smtClean="0"/>
              <a:t>         :           3          </a:t>
            </a:r>
            <a:endParaRPr lang="en-IN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843808" y="3432412"/>
            <a:ext cx="17281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6</a:t>
            </a:r>
            <a:r>
              <a:rPr lang="en-IN" b="1" dirty="0" smtClean="0"/>
              <a:t>           :         5</a:t>
            </a:r>
            <a:endParaRPr lang="en-IN" b="1" dirty="0"/>
          </a:p>
        </p:txBody>
      </p:sp>
      <p:sp>
        <p:nvSpPr>
          <p:cNvPr id="7" name="Oval 6"/>
          <p:cNvSpPr/>
          <p:nvPr/>
        </p:nvSpPr>
        <p:spPr>
          <a:xfrm>
            <a:off x="2771800" y="2819502"/>
            <a:ext cx="504056" cy="111355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sp>
        <p:nvSpPr>
          <p:cNvPr id="8" name="TextBox 7"/>
          <p:cNvSpPr txBox="1"/>
          <p:nvPr/>
        </p:nvSpPr>
        <p:spPr>
          <a:xfrm>
            <a:off x="1545458" y="4293096"/>
            <a:ext cx="3242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12        :           18         :        15</a:t>
            </a:r>
            <a:endParaRPr lang="en-IN" b="1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403648" y="4077072"/>
            <a:ext cx="3384376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403648" y="4797152"/>
            <a:ext cx="3384376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63888" y="2793347"/>
            <a:ext cx="140298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:         3          </a:t>
            </a:r>
            <a:endParaRPr lang="en-IN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403648" y="3492285"/>
            <a:ext cx="10801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  6         :   </a:t>
            </a:r>
            <a:endParaRPr lang="en-IN" b="1" dirty="0"/>
          </a:p>
        </p:txBody>
      </p:sp>
      <p:cxnSp>
        <p:nvCxnSpPr>
          <p:cNvPr id="14" name="Straight Arrow Connector 13"/>
          <p:cNvCxnSpPr>
            <a:stCxn id="7" idx="7"/>
          </p:cNvCxnSpPr>
          <p:nvPr/>
        </p:nvCxnSpPr>
        <p:spPr>
          <a:xfrm>
            <a:off x="3202039" y="2982578"/>
            <a:ext cx="793897" cy="1079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1835696" y="3676951"/>
            <a:ext cx="936105" cy="1079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own Arrow 18"/>
          <p:cNvSpPr/>
          <p:nvPr/>
        </p:nvSpPr>
        <p:spPr>
          <a:xfrm>
            <a:off x="3023828" y="4797152"/>
            <a:ext cx="153731" cy="360040"/>
          </a:xfrm>
          <a:prstGeom prst="down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sp>
        <p:nvSpPr>
          <p:cNvPr id="20" name="TextBox 19"/>
          <p:cNvSpPr txBox="1"/>
          <p:nvPr/>
        </p:nvSpPr>
        <p:spPr>
          <a:xfrm>
            <a:off x="1474553" y="5197903"/>
            <a:ext cx="3242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 </a:t>
            </a:r>
            <a:r>
              <a:rPr lang="en-IN" b="1" dirty="0" smtClean="0"/>
              <a:t> 4          :           6         :         5</a:t>
            </a:r>
            <a:endParaRPr lang="en-IN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691680" y="5733256"/>
            <a:ext cx="4608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smtClean="0">
                <a:solidFill>
                  <a:srgbClr val="00B050"/>
                </a:solidFill>
              </a:rPr>
              <a:t>A : B : C = 4 : 6 : 5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690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/>
      <p:bldP spid="12" grpId="0"/>
      <p:bldP spid="13" grpId="0"/>
      <p:bldP spid="19" grpId="0" animBg="1"/>
      <p:bldP spid="20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9247" y="2248347"/>
                <a:ext cx="8049217" cy="3877815"/>
              </a:xfrm>
            </p:spPr>
            <p:txBody>
              <a:bodyPr>
                <a:normAutofit/>
              </a:bodyPr>
              <a:lstStyle/>
              <a:p>
                <a:pPr marL="0" lvl="0" indent="0" algn="just">
                  <a:buNone/>
                </a:pPr>
                <a:r>
                  <a:rPr lang="en-US" sz="40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: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𝟖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: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𝟏𝟓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: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𝟓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: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𝟖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4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: 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𝒅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: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𝟓</m:t>
                    </m:r>
                  </m:oMath>
                </a14:m>
                <a:r>
                  <a:rPr lang="en-US" sz="4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: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𝒅</m:t>
                    </m:r>
                    <m:r>
                      <a:rPr lang="en-US" sz="4000" b="1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4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:r>
                  <a:rPr lang="en-US" sz="40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equal </a:t>
                </a:r>
                <a:r>
                  <a:rPr lang="en-US" sz="4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</a:t>
                </a:r>
                <a:r>
                  <a:rPr lang="en-US" sz="40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lvl="0" indent="0" algn="just">
                  <a:buNone/>
                </a:pPr>
                <a:endParaRPr lang="en-IN" sz="4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3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a)2 : 7</a:t>
                </a:r>
                <a:r>
                  <a:rPr lang="en-US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:r>
                  <a:rPr lang="en-US" sz="3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b)4 : 15</a:t>
                </a:r>
                <a:r>
                  <a:rPr lang="en-US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endParaRPr lang="en-US" sz="3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3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c)8 : 15</a:t>
                </a:r>
                <a:r>
                  <a:rPr lang="en-US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3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d)15 : 4</a:t>
                </a:r>
                <a:endParaRPr lang="en-IN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IN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9247" y="2248347"/>
                <a:ext cx="8049217" cy="3877815"/>
              </a:xfrm>
              <a:blipFill rotWithShape="1">
                <a:blip r:embed="rId2"/>
                <a:stretch>
                  <a:fillRect l="-2727" t="-2830" r="-26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Q.3)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4929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3568" y="2204864"/>
            <a:ext cx="7745505" cy="4437510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/>
              <a:t> </a:t>
            </a:r>
            <a:endParaRPr lang="en-IN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Q.3)Explanation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47664" y="2204864"/>
            <a:ext cx="367240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A   :    B    :    C    :     D</a:t>
            </a:r>
            <a:endParaRPr lang="en-IN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47664" y="2819502"/>
            <a:ext cx="183620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2800" b="1" dirty="0"/>
              <a:t>8</a:t>
            </a:r>
            <a:r>
              <a:rPr lang="en-IN" sz="2800" b="1" dirty="0" smtClean="0"/>
              <a:t>    :    15          </a:t>
            </a:r>
            <a:endParaRPr lang="en-IN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627233" y="3452884"/>
            <a:ext cx="153221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5    :     8</a:t>
            </a:r>
            <a:endParaRPr lang="en-IN" sz="2800" b="1" dirty="0"/>
          </a:p>
        </p:txBody>
      </p:sp>
      <p:sp>
        <p:nvSpPr>
          <p:cNvPr id="7" name="Oval 6"/>
          <p:cNvSpPr/>
          <p:nvPr/>
        </p:nvSpPr>
        <p:spPr>
          <a:xfrm>
            <a:off x="2555776" y="2767853"/>
            <a:ext cx="504056" cy="111355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sp>
        <p:nvSpPr>
          <p:cNvPr id="12" name="TextBox 11"/>
          <p:cNvSpPr txBox="1"/>
          <p:nvPr/>
        </p:nvSpPr>
        <p:spPr>
          <a:xfrm>
            <a:off x="3079322" y="2801410"/>
            <a:ext cx="228476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solidFill>
                  <a:srgbClr val="C00000"/>
                </a:solidFill>
              </a:rPr>
              <a:t> :    15   :    15          </a:t>
            </a:r>
            <a:endParaRPr lang="en-IN" sz="2800" b="1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31640" y="3429000"/>
            <a:ext cx="108012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  </a:t>
            </a:r>
            <a:r>
              <a:rPr lang="en-IN" sz="2800" b="1" dirty="0">
                <a:solidFill>
                  <a:srgbClr val="C00000"/>
                </a:solidFill>
              </a:rPr>
              <a:t>5     :   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986142" y="2924944"/>
            <a:ext cx="576969" cy="1079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2123729" y="3868443"/>
            <a:ext cx="576063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59443" y="3415341"/>
            <a:ext cx="228476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 </a:t>
            </a:r>
            <a:r>
              <a:rPr lang="en-IN" sz="2800" b="1" dirty="0">
                <a:solidFill>
                  <a:srgbClr val="C00000"/>
                </a:solidFill>
              </a:rPr>
              <a:t>:     8       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8989" y="4077072"/>
            <a:ext cx="162108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 4     :     5          </a:t>
            </a:r>
            <a:endParaRPr lang="en-IN" sz="28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502191" y="4129916"/>
            <a:ext cx="206169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</a:rPr>
              <a:t>4     :    4     :</a:t>
            </a:r>
          </a:p>
        </p:txBody>
      </p:sp>
      <p:sp>
        <p:nvSpPr>
          <p:cNvPr id="22" name="Oval 21"/>
          <p:cNvSpPr/>
          <p:nvPr/>
        </p:nvSpPr>
        <p:spPr>
          <a:xfrm>
            <a:off x="3623019" y="3429000"/>
            <a:ext cx="504056" cy="111355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3995936" y="3501008"/>
            <a:ext cx="576969" cy="1079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3259813" y="4542554"/>
            <a:ext cx="576063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1043608" y="4797152"/>
            <a:ext cx="468052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1043608" y="5589240"/>
            <a:ext cx="468052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547665" y="4922004"/>
            <a:ext cx="3816422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4                 :                15          </a:t>
            </a:r>
            <a:endParaRPr lang="en-IN" sz="2800" b="1" dirty="0"/>
          </a:p>
        </p:txBody>
      </p:sp>
      <p:sp>
        <p:nvSpPr>
          <p:cNvPr id="30" name="Rounded Rectangle 29"/>
          <p:cNvSpPr/>
          <p:nvPr/>
        </p:nvSpPr>
        <p:spPr>
          <a:xfrm>
            <a:off x="1403648" y="2132856"/>
            <a:ext cx="648072" cy="2520280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ounded Rectangle 30"/>
          <p:cNvSpPr/>
          <p:nvPr/>
        </p:nvSpPr>
        <p:spPr>
          <a:xfrm>
            <a:off x="4653753" y="2132856"/>
            <a:ext cx="648072" cy="2520280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 flipH="1">
            <a:off x="1549477" y="2866283"/>
            <a:ext cx="360040" cy="39347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4797769" y="3452884"/>
            <a:ext cx="360040" cy="39347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1494905" y="3479602"/>
            <a:ext cx="360040" cy="39347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4855021" y="4129339"/>
            <a:ext cx="360040" cy="39347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403648" y="5934488"/>
                <a:ext cx="480528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40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∴ </m:t>
                    </m:r>
                    <m:r>
                      <a:rPr lang="en-IN" sz="4000" b="1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IN" sz="4000" b="1" dirty="0" smtClean="0">
                    <a:solidFill>
                      <a:srgbClr val="00B050"/>
                    </a:solidFill>
                  </a:rPr>
                  <a:t>A : D = 4 : 15</a:t>
                </a:r>
                <a:endParaRPr lang="en-IN" sz="4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5934488"/>
                <a:ext cx="4805287" cy="707886"/>
              </a:xfrm>
              <a:prstGeom prst="rect">
                <a:avLst/>
              </a:prstGeom>
              <a:blipFill rotWithShape="1"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921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12" grpId="0"/>
      <p:bldP spid="13" grpId="0"/>
      <p:bldP spid="17" grpId="0"/>
      <p:bldP spid="18" grpId="0"/>
      <p:bldP spid="21" grpId="0"/>
      <p:bldP spid="22" grpId="0" animBg="1"/>
      <p:bldP spid="28" grpId="0"/>
      <p:bldP spid="30" grpId="0" animBg="1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2A = 3B, then find A : B.</a:t>
            </a:r>
          </a:p>
          <a:p>
            <a:pPr marL="0" indent="0">
              <a:buNone/>
            </a:pP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a)2 : 3			b)3 : 2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Q.4)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098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83568" y="2060848"/>
                <a:ext cx="7745505" cy="449302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4000" b="1" dirty="0" smtClean="0"/>
                  <a:t>	2A = 3B  </a:t>
                </a:r>
              </a:p>
              <a:p>
                <a:pPr marL="0" indent="0">
                  <a:buNone/>
                </a:pPr>
                <a:r>
                  <a:rPr lang="en-IN" sz="4000" b="1" dirty="0" smtClean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4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4000" b="1" i="1" smtClean="0">
                            <a:latin typeface="Cambria Math"/>
                          </a:rPr>
                          <m:t>𝟐</m:t>
                        </m:r>
                        <m:r>
                          <a:rPr lang="en-IN" sz="4000" b="1" i="1" smtClean="0">
                            <a:latin typeface="Cambria Math"/>
                          </a:rPr>
                          <m:t>𝑨</m:t>
                        </m:r>
                      </m:num>
                      <m:den>
                        <m:r>
                          <a:rPr lang="en-IN" sz="4000" b="1" i="1" smtClean="0">
                            <a:latin typeface="Cambria Math"/>
                          </a:rPr>
                          <m:t>𝑩</m:t>
                        </m:r>
                      </m:den>
                    </m:f>
                    <m:r>
                      <a:rPr lang="en-IN" sz="4000" b="1" i="1" smtClean="0">
                        <a:latin typeface="Cambria Math"/>
                      </a:rPr>
                      <m:t>=</m:t>
                    </m:r>
                    <m:r>
                      <a:rPr lang="en-IN" sz="4000" b="1" i="1" smtClean="0">
                        <a:latin typeface="Cambria Math"/>
                      </a:rPr>
                      <m:t>𝟑</m:t>
                    </m:r>
                  </m:oMath>
                </a14:m>
                <a:endParaRPr lang="en-IN" sz="3600" b="1" dirty="0" smtClean="0"/>
              </a:p>
              <a:p>
                <a:pPr marL="0" indent="0">
                  <a:buNone/>
                </a:pPr>
                <a:r>
                  <a:rPr lang="en-IN" sz="4800" b="1" dirty="0" smtClean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4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4800" b="1" i="1">
                            <a:latin typeface="Cambria Math"/>
                          </a:rPr>
                          <m:t>𝑨</m:t>
                        </m:r>
                      </m:num>
                      <m:den>
                        <m:r>
                          <a:rPr lang="en-IN" sz="4800" b="1" i="1">
                            <a:latin typeface="Cambria Math"/>
                          </a:rPr>
                          <m:t>𝑩</m:t>
                        </m:r>
                      </m:den>
                    </m:f>
                  </m:oMath>
                </a14:m>
                <a:r>
                  <a:rPr lang="en-IN" sz="4800" b="1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4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4800" b="1" i="1" smtClean="0">
                            <a:latin typeface="Cambria Math"/>
                          </a:rPr>
                          <m:t>𝟑</m:t>
                        </m:r>
                      </m:num>
                      <m:den>
                        <m:r>
                          <a:rPr lang="en-IN" sz="4800" b="1" i="1" smtClean="0"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endParaRPr lang="en-IN" sz="4000" b="1" dirty="0" smtClean="0"/>
              </a:p>
              <a:p>
                <a:pPr marL="0" indent="0">
                  <a:buNone/>
                </a:pPr>
                <a:endParaRPr lang="en-IN" sz="1800" b="1" dirty="0" smtClean="0"/>
              </a:p>
              <a:p>
                <a:pPr marL="0" indent="0">
                  <a:buNone/>
                </a:pPr>
                <a:r>
                  <a:rPr lang="en-IN" sz="4000" b="1" dirty="0" smtClean="0">
                    <a:solidFill>
                      <a:srgbClr val="00B050"/>
                    </a:solidFill>
                  </a:rPr>
                  <a:t>	A : B = 3 : 2</a:t>
                </a:r>
                <a:endParaRPr lang="en-IN" sz="4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3568" y="2060848"/>
                <a:ext cx="7745505" cy="4493021"/>
              </a:xfrm>
              <a:blipFill rotWithShape="1">
                <a:blip r:embed="rId2"/>
                <a:stretch>
                  <a:fillRect t="-24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Q.4)Explanation</a:t>
            </a:r>
            <a:endParaRPr lang="en-I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48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2248347"/>
            <a:ext cx="8496943" cy="3877815"/>
          </a:xfrm>
        </p:spPr>
        <p:txBody>
          <a:bodyPr/>
          <a:lstStyle/>
          <a:p>
            <a:pPr marL="0" lvl="0" indent="0">
              <a:buNone/>
            </a:pP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2A = 3B = 4C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then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: B : C is?</a:t>
            </a:r>
          </a:p>
          <a:p>
            <a:pPr marL="0" lv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a)2 : 3 : 4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b)4 : 3 : 2</a:t>
            </a:r>
          </a:p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c)6 : 4 : 3		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d)3 : 4 : 6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548680"/>
            <a:ext cx="7756263" cy="1054250"/>
          </a:xfrm>
        </p:spPr>
        <p:txBody>
          <a:bodyPr/>
          <a:lstStyle/>
          <a:p>
            <a:pPr algn="l"/>
            <a:r>
              <a:rPr lang="en-IN" b="1" dirty="0" smtClean="0"/>
              <a:t>Q.5)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1281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Q.5) Explanation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 smtClean="0"/>
              <a:t>If 2A  =  3B then, </a:t>
            </a:r>
          </a:p>
          <a:p>
            <a:pPr marL="0" indent="0">
              <a:buNone/>
            </a:pPr>
            <a:r>
              <a:rPr lang="en-IN" sz="3200" b="1" dirty="0"/>
              <a:t>	</a:t>
            </a:r>
            <a:r>
              <a:rPr lang="en-IN" sz="3200" b="1" dirty="0" smtClean="0">
                <a:solidFill>
                  <a:srgbClr val="00B050"/>
                </a:solidFill>
              </a:rPr>
              <a:t>A : B = 3 : 2</a:t>
            </a:r>
          </a:p>
          <a:p>
            <a:pPr marL="0" indent="0">
              <a:buNone/>
            </a:pPr>
            <a:endParaRPr lang="en-IN" sz="3200" b="1" dirty="0" smtClean="0"/>
          </a:p>
          <a:p>
            <a:pPr marL="0" indent="0">
              <a:buNone/>
            </a:pPr>
            <a:r>
              <a:rPr lang="en-IN" sz="3200" b="1" dirty="0" smtClean="0"/>
              <a:t>If 3B  = 4C then, </a:t>
            </a:r>
          </a:p>
          <a:p>
            <a:pPr marL="411480" lvl="1" indent="0">
              <a:buNone/>
            </a:pPr>
            <a:r>
              <a:rPr lang="en-IN" sz="3000" b="1" dirty="0">
                <a:solidFill>
                  <a:srgbClr val="00B050"/>
                </a:solidFill>
              </a:rPr>
              <a:t>	</a:t>
            </a:r>
            <a:r>
              <a:rPr lang="en-IN" sz="3000" b="1" dirty="0" smtClean="0">
                <a:solidFill>
                  <a:srgbClr val="00B050"/>
                </a:solidFill>
              </a:rPr>
              <a:t>B : C =  4 : 3</a:t>
            </a:r>
          </a:p>
          <a:p>
            <a:pPr marL="0" indent="0">
              <a:buNone/>
            </a:pPr>
            <a:endParaRPr lang="en-IN" sz="3200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788024" y="2424015"/>
            <a:ext cx="30243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A        :           B          :         C</a:t>
            </a:r>
            <a:endParaRPr lang="en-IN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788024" y="2945747"/>
            <a:ext cx="1656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3         :           2          </a:t>
            </a:r>
            <a:endParaRPr lang="en-IN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084168" y="3558657"/>
            <a:ext cx="17281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4           :         3</a:t>
            </a:r>
            <a:endParaRPr lang="en-IN" b="1" dirty="0"/>
          </a:p>
        </p:txBody>
      </p:sp>
      <p:sp>
        <p:nvSpPr>
          <p:cNvPr id="8" name="Oval 7"/>
          <p:cNvSpPr/>
          <p:nvPr/>
        </p:nvSpPr>
        <p:spPr>
          <a:xfrm>
            <a:off x="6012160" y="2945747"/>
            <a:ext cx="504056" cy="111355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sp>
        <p:nvSpPr>
          <p:cNvPr id="9" name="TextBox 8"/>
          <p:cNvSpPr txBox="1"/>
          <p:nvPr/>
        </p:nvSpPr>
        <p:spPr>
          <a:xfrm>
            <a:off x="4785818" y="4419341"/>
            <a:ext cx="3242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12        :           8          :        6</a:t>
            </a:r>
            <a:endParaRPr lang="en-IN" b="1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4644008" y="4203317"/>
            <a:ext cx="3384376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644008" y="4923397"/>
            <a:ext cx="3384376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04248" y="2919592"/>
            <a:ext cx="140298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:         2          </a:t>
            </a:r>
            <a:endParaRPr lang="en-IN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4644008" y="3618530"/>
            <a:ext cx="10801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  4         :   </a:t>
            </a:r>
            <a:endParaRPr lang="en-IN" b="1" dirty="0"/>
          </a:p>
        </p:txBody>
      </p:sp>
      <p:cxnSp>
        <p:nvCxnSpPr>
          <p:cNvPr id="14" name="Straight Arrow Connector 13"/>
          <p:cNvCxnSpPr>
            <a:stCxn id="8" idx="7"/>
          </p:cNvCxnSpPr>
          <p:nvPr/>
        </p:nvCxnSpPr>
        <p:spPr>
          <a:xfrm>
            <a:off x="6442399" y="3108823"/>
            <a:ext cx="793897" cy="1079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5076056" y="3803196"/>
            <a:ext cx="936105" cy="1079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own Arrow 15"/>
          <p:cNvSpPr/>
          <p:nvPr/>
        </p:nvSpPr>
        <p:spPr>
          <a:xfrm>
            <a:off x="6264188" y="4923397"/>
            <a:ext cx="153731" cy="360040"/>
          </a:xfrm>
          <a:prstGeom prst="down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sp>
        <p:nvSpPr>
          <p:cNvPr id="17" name="TextBox 16"/>
          <p:cNvSpPr txBox="1"/>
          <p:nvPr/>
        </p:nvSpPr>
        <p:spPr>
          <a:xfrm>
            <a:off x="4714913" y="5324148"/>
            <a:ext cx="32425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 </a:t>
            </a:r>
            <a:r>
              <a:rPr lang="en-IN" b="1" dirty="0" smtClean="0"/>
              <a:t> 6          :           4         :         3</a:t>
            </a:r>
            <a:endParaRPr lang="en-IN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619672" y="5945209"/>
            <a:ext cx="5328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Then A : B : C </a:t>
            </a:r>
            <a:r>
              <a:rPr lang="en-IN" sz="3200" b="1" dirty="0">
                <a:solidFill>
                  <a:srgbClr val="00B050"/>
                </a:solidFill>
              </a:rPr>
              <a:t>= 6 : 4 : </a:t>
            </a:r>
            <a:r>
              <a:rPr lang="en-IN" sz="3200" b="1" dirty="0" smtClean="0">
                <a:solidFill>
                  <a:srgbClr val="00B050"/>
                </a:solidFill>
              </a:rPr>
              <a:t>3</a:t>
            </a:r>
            <a:endParaRPr lang="en-IN" sz="3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68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/>
      <p:bldP spid="12" grpId="0"/>
      <p:bldP spid="13" grpId="0"/>
      <p:bldP spid="16" grpId="0" animBg="1"/>
      <p:bldP spid="17" grpId="0"/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4000" b="1" dirty="0" smtClean="0">
                <a:solidFill>
                  <a:srgbClr val="FF0000"/>
                </a:solidFill>
              </a:rPr>
              <a:t>If one fourth of A is equal to two fifth of B, then Find the ratio of A and B.</a:t>
            </a:r>
          </a:p>
          <a:p>
            <a:pPr marL="0" indent="0" algn="just">
              <a:buNone/>
            </a:pPr>
            <a:endParaRPr lang="en-IN" sz="4000" b="1" dirty="0"/>
          </a:p>
          <a:p>
            <a:pPr marL="0" indent="0" algn="just">
              <a:buNone/>
            </a:pPr>
            <a:r>
              <a:rPr lang="en-IN" sz="4000" b="1" dirty="0" smtClean="0"/>
              <a:t>a)5 : 8				b)8 : 5</a:t>
            </a:r>
          </a:p>
          <a:p>
            <a:pPr marL="0" indent="0" algn="just">
              <a:buNone/>
            </a:pPr>
            <a:r>
              <a:rPr lang="en-IN" sz="4000" b="1" dirty="0" smtClean="0"/>
              <a:t>c)6 : 5				d)8 : 3</a:t>
            </a:r>
          </a:p>
          <a:p>
            <a:pPr marL="0" indent="0" algn="just">
              <a:buNone/>
            </a:pPr>
            <a:endParaRPr lang="en-IN" sz="40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Q.6)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146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83568" y="2132856"/>
                <a:ext cx="7745505" cy="4392488"/>
              </a:xfrm>
            </p:spPr>
            <p:txBody>
              <a:bodyPr>
                <a:noAutofit/>
              </a:bodyPr>
              <a:lstStyle/>
              <a:p>
                <a:pPr marL="777240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IN" sz="2800" b="1" i="1" smtClean="0">
                              <a:latin typeface="Cambria Math"/>
                            </a:rPr>
                            <m:t>𝟒</m:t>
                          </m:r>
                        </m:den>
                      </m:f>
                      <m:r>
                        <a:rPr lang="en-IN" sz="2800" b="1" i="1" smtClean="0">
                          <a:latin typeface="Cambria Math"/>
                        </a:rPr>
                        <m:t>𝑨</m:t>
                      </m:r>
                      <m:r>
                        <a:rPr lang="en-IN" sz="2800" b="1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I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 i="1" smtClean="0">
                              <a:latin typeface="Cambria Math"/>
                            </a:rPr>
                            <m:t>𝟐</m:t>
                          </m:r>
                        </m:num>
                        <m:den>
                          <m:r>
                            <a:rPr lang="en-IN" sz="2800" b="1" i="1" smtClean="0">
                              <a:latin typeface="Cambria Math"/>
                            </a:rPr>
                            <m:t>𝟓</m:t>
                          </m:r>
                        </m:den>
                      </m:f>
                      <m:r>
                        <a:rPr lang="en-IN" sz="2800" b="1" i="1" smtClean="0">
                          <a:latin typeface="Cambria Math"/>
                        </a:rPr>
                        <m:t>𝑩</m:t>
                      </m:r>
                    </m:oMath>
                  </m:oMathPara>
                </a14:m>
                <a:endParaRPr lang="en-IN" sz="2800" b="1" dirty="0" smtClean="0"/>
              </a:p>
              <a:p>
                <a:pPr marL="777240" lvl="2" indent="0">
                  <a:buNone/>
                </a:pPr>
                <a:endParaRPr lang="en-IN" sz="2800" b="1" dirty="0" smtClean="0"/>
              </a:p>
              <a:p>
                <a:pPr marL="777240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 i="1" smtClean="0">
                              <a:latin typeface="Cambria Math"/>
                            </a:rPr>
                            <m:t>𝑨</m:t>
                          </m:r>
                        </m:num>
                        <m:den>
                          <m:r>
                            <a:rPr lang="en-IN" sz="2800" b="1" i="1" smtClean="0">
                              <a:latin typeface="Cambria Math"/>
                            </a:rPr>
                            <m:t>𝟒</m:t>
                          </m:r>
                        </m:den>
                      </m:f>
                      <m:r>
                        <a:rPr lang="en-IN" sz="2800" b="1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I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 i="1" smtClean="0">
                              <a:latin typeface="Cambria Math"/>
                            </a:rPr>
                            <m:t>𝟐</m:t>
                          </m:r>
                          <m:r>
                            <a:rPr lang="en-IN" sz="2800" b="1" i="1" smtClean="0">
                              <a:latin typeface="Cambria Math"/>
                            </a:rPr>
                            <m:t>𝑩</m:t>
                          </m:r>
                        </m:num>
                        <m:den>
                          <m:r>
                            <a:rPr lang="en-IN" sz="2800" b="1" i="1" smtClean="0">
                              <a:latin typeface="Cambria Math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IN" sz="2800" b="1" dirty="0" smtClean="0"/>
              </a:p>
              <a:p>
                <a:pPr marL="777240" lvl="2" indent="0">
                  <a:buNone/>
                </a:pPr>
                <a:r>
                  <a:rPr lang="en-IN" sz="2800" b="1" dirty="0"/>
                  <a:t> </a:t>
                </a:r>
                <a:endParaRPr lang="en-IN" sz="2800" b="1" dirty="0" smtClean="0"/>
              </a:p>
              <a:p>
                <a:pPr marL="777240" lvl="2" indent="0">
                  <a:buNone/>
                </a:pPr>
                <a:r>
                  <a:rPr lang="en-IN" sz="2800" b="1" dirty="0" smtClean="0"/>
                  <a:t>5A = 8B</a:t>
                </a:r>
              </a:p>
              <a:p>
                <a:pPr marL="777240" lvl="2" indent="0">
                  <a:buNone/>
                </a:pPr>
                <a:endParaRPr lang="en-IN" sz="2800" b="1" dirty="0"/>
              </a:p>
              <a:p>
                <a:pPr marL="777240" lvl="2" indent="0">
                  <a:buNone/>
                </a:pPr>
                <a:r>
                  <a:rPr lang="en-IN" sz="2800" b="1" dirty="0" smtClean="0">
                    <a:solidFill>
                      <a:srgbClr val="00B050"/>
                    </a:solidFill>
                  </a:rPr>
                  <a:t>A : B = 8 : 5</a:t>
                </a:r>
                <a:endParaRPr lang="en-IN" sz="28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3568" y="2132856"/>
                <a:ext cx="7745505" cy="4392488"/>
              </a:xfrm>
              <a:blipFill rotWithShape="1">
                <a:blip r:embed="rId2"/>
                <a:stretch>
                  <a:fillRect b="-6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Q.6)Explanation</a:t>
            </a:r>
            <a:endParaRPr lang="en-IN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104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3200" dirty="0" smtClean="0"/>
              <a:t> </a:t>
            </a:r>
            <a:r>
              <a:rPr lang="en-IN" sz="3200" b="1" dirty="0" smtClean="0">
                <a:solidFill>
                  <a:srgbClr val="00B050"/>
                </a:solidFill>
              </a:rPr>
              <a:t>Given : </a:t>
            </a:r>
          </a:p>
          <a:p>
            <a:pPr lvl="2"/>
            <a:r>
              <a:rPr lang="en-IN" sz="3200" dirty="0" smtClean="0"/>
              <a:t>Total </a:t>
            </a:r>
          </a:p>
          <a:p>
            <a:pPr lvl="2"/>
            <a:r>
              <a:rPr lang="en-IN" sz="3200" dirty="0" smtClean="0"/>
              <a:t>Ratio to Split the total</a:t>
            </a:r>
          </a:p>
          <a:p>
            <a:pPr marL="777240" lvl="2" indent="0">
              <a:buNone/>
            </a:pPr>
            <a:endParaRPr lang="en-IN" sz="2800" dirty="0" smtClean="0"/>
          </a:p>
          <a:p>
            <a:pPr marL="0" indent="0">
              <a:buNone/>
            </a:pPr>
            <a:r>
              <a:rPr lang="en-IN" sz="3200" b="1" dirty="0" smtClean="0">
                <a:solidFill>
                  <a:srgbClr val="00B050"/>
                </a:solidFill>
              </a:rPr>
              <a:t>Question:</a:t>
            </a:r>
          </a:p>
          <a:p>
            <a:pPr lvl="2"/>
            <a:r>
              <a:rPr lang="en-IN" sz="3200" dirty="0" smtClean="0"/>
              <a:t>Individual Values </a:t>
            </a:r>
            <a:r>
              <a:rPr lang="en-IN" sz="2800" dirty="0"/>
              <a:t>	</a:t>
            </a:r>
            <a:r>
              <a:rPr lang="en-IN" dirty="0"/>
              <a:t>	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Type 1: Problems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87389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8121225" cy="4349005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parking there are 180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vehicles (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Cars and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Bikes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Cars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bikes are in the ratio of 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5. Find the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bikes in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that parking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a)80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b)100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c)120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d)90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Q.5)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63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097669"/>
            <a:ext cx="7745505" cy="4028494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	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Q.5) </a:t>
            </a:r>
            <a:r>
              <a:rPr lang="en-IN" b="1" dirty="0">
                <a:solidFill>
                  <a:srgbClr val="00B050"/>
                </a:solidFill>
              </a:rPr>
              <a:t>Explanation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265657" y="2467000"/>
            <a:ext cx="1728192" cy="7920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180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59632" y="3916351"/>
            <a:ext cx="1368152" cy="720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4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35896" y="3916351"/>
            <a:ext cx="1368152" cy="720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5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53894" y="4098273"/>
            <a:ext cx="351719" cy="356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 smtClean="0">
                <a:solidFill>
                  <a:schemeClr val="tx1"/>
                </a:solidFill>
              </a:rPr>
              <a:t>:</a:t>
            </a:r>
            <a:endParaRPr lang="en-IN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383868" y="5085184"/>
                <a:ext cx="3780420" cy="1163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a:rPr lang="en-IN" sz="2400" b="0" i="1" smtClean="0">
                          <a:latin typeface="Cambria Math"/>
                        </a:rPr>
                        <m:t> </m:t>
                      </m:r>
                      <m:r>
                        <a:rPr lang="en-IN" sz="2400" b="0" i="1" smtClean="0">
                          <a:latin typeface="Cambria Math"/>
                          <a:ea typeface="Cambria Math"/>
                        </a:rPr>
                        <m:t>×180=</m:t>
                      </m:r>
                      <m:r>
                        <a:rPr lang="en-IN" sz="24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𝟏𝟎𝟎</m:t>
                      </m:r>
                      <m:r>
                        <a:rPr lang="en-IN" sz="24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IN" sz="24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𝑩𝒊𝒌𝒆𝒔</m:t>
                      </m:r>
                    </m:oMath>
                  </m:oMathPara>
                </a14:m>
                <a:endParaRPr lang="en-IN" sz="2400" b="1" dirty="0" smtClean="0">
                  <a:solidFill>
                    <a:srgbClr val="00B050"/>
                  </a:solidFill>
                  <a:ea typeface="Cambria Math"/>
                </a:endParaRPr>
              </a:p>
              <a:p>
                <a:endParaRPr lang="en-IN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868" y="5085184"/>
                <a:ext cx="3780420" cy="116301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4" idx="2"/>
            <a:endCxn id="5" idx="0"/>
          </p:cNvCxnSpPr>
          <p:nvPr/>
        </p:nvCxnSpPr>
        <p:spPr>
          <a:xfrm flipH="1">
            <a:off x="1943708" y="3259088"/>
            <a:ext cx="1186045" cy="657263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4" idx="2"/>
            <a:endCxn id="6" idx="0"/>
          </p:cNvCxnSpPr>
          <p:nvPr/>
        </p:nvCxnSpPr>
        <p:spPr>
          <a:xfrm>
            <a:off x="3129753" y="3259088"/>
            <a:ext cx="1190219" cy="657263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47664" y="462638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Cars</a:t>
            </a:r>
            <a:endParaRPr lang="en-IN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3976308" y="4643844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Bikes</a:t>
            </a:r>
            <a:endParaRPr lang="en-IN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2339752" y="2097668"/>
            <a:ext cx="1756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Total</a:t>
            </a:r>
            <a:r>
              <a:rPr lang="en-IN" dirty="0" smtClean="0"/>
              <a:t> </a:t>
            </a:r>
            <a:r>
              <a:rPr lang="en-IN" b="1" dirty="0" smtClean="0"/>
              <a:t>Vehicles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8652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9" grpId="0"/>
      <p:bldP spid="8" grpId="0"/>
      <p:bldP spid="12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8840"/>
            <a:ext cx="7931224" cy="424510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of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Rs.9000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to be distributed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among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 B and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ratio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: 5 :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be the difference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between A and 	C’s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shares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(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Rs.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600		(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Rs.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Rs. 900	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(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Rs. 1200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Q.6)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1968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Q.6) </a:t>
            </a:r>
            <a:r>
              <a:rPr lang="en-IN" b="1" dirty="0">
                <a:solidFill>
                  <a:srgbClr val="00B050"/>
                </a:solidFill>
              </a:rPr>
              <a:t>Explanation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 smtClean="0"/>
              <a:t> </a:t>
            </a:r>
          </a:p>
          <a:p>
            <a:pPr marL="0" indent="0" algn="ctr">
              <a:buNone/>
            </a:pPr>
            <a:endParaRPr lang="en-IN" sz="28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IN" sz="2800" dirty="0" smtClean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IN" sz="28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IN" sz="2800" dirty="0" smtClean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IN" sz="2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2800" dirty="0" smtClean="0">
                <a:solidFill>
                  <a:schemeClr val="tx1"/>
                </a:solidFill>
              </a:rPr>
              <a:t>   </a:t>
            </a:r>
            <a:r>
              <a:rPr lang="en-IN" sz="2800" dirty="0" smtClean="0">
                <a:solidFill>
                  <a:srgbClr val="FF0000"/>
                </a:solidFill>
              </a:rPr>
              <a:t>C – A = ?</a:t>
            </a:r>
          </a:p>
          <a:p>
            <a:pPr marL="0" indent="0" algn="ctr">
              <a:buNone/>
            </a:pPr>
            <a:endParaRPr lang="en-IN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sz="quarter" idx="14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dirty="0" smtClean="0">
                          <a:latin typeface="Cambria Math"/>
                        </a:rPr>
                        <m:t> 4</m:t>
                      </m:r>
                      <m:r>
                        <a:rPr lang="en-IN" i="1" dirty="0" smtClean="0">
                          <a:latin typeface="Cambria Math"/>
                        </a:rPr>
                        <m:t>𝑥</m:t>
                      </m:r>
                      <m:r>
                        <a:rPr lang="en-IN" i="1" dirty="0" smtClean="0">
                          <a:latin typeface="Cambria Math"/>
                        </a:rPr>
                        <m:t> + 5</m:t>
                      </m:r>
                      <m:r>
                        <a:rPr lang="en-IN" i="1" dirty="0" smtClean="0">
                          <a:latin typeface="Cambria Math"/>
                        </a:rPr>
                        <m:t>𝑥</m:t>
                      </m:r>
                      <m:r>
                        <a:rPr lang="en-IN" i="1" dirty="0" smtClean="0">
                          <a:latin typeface="Cambria Math"/>
                        </a:rPr>
                        <m:t> + 6</m:t>
                      </m:r>
                      <m:r>
                        <a:rPr lang="en-IN" i="1" dirty="0" smtClean="0">
                          <a:latin typeface="Cambria Math"/>
                        </a:rPr>
                        <m:t>𝑥</m:t>
                      </m:r>
                      <m:r>
                        <a:rPr lang="en-IN" i="1" dirty="0" smtClean="0">
                          <a:latin typeface="Cambria Math"/>
                        </a:rPr>
                        <m:t> = 9000</m:t>
                      </m:r>
                    </m:oMath>
                  </m:oMathPara>
                </a14:m>
                <a:endParaRPr lang="en-IN" dirty="0" smtClean="0"/>
              </a:p>
              <a:p>
                <a:pPr marL="0" indent="0">
                  <a:buNone/>
                </a:pPr>
                <a:r>
                  <a:rPr lang="en-IN" dirty="0" smtClean="0"/>
                  <a:t>		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/>
                      </a:rPr>
                      <m:t>15</m:t>
                    </m:r>
                    <m:r>
                      <a:rPr lang="en-IN" i="1" dirty="0" smtClean="0">
                        <a:latin typeface="Cambria Math"/>
                      </a:rPr>
                      <m:t>𝑥</m:t>
                    </m:r>
                    <m:r>
                      <a:rPr lang="en-IN" i="1" dirty="0" smtClean="0">
                        <a:latin typeface="Cambria Math"/>
                      </a:rPr>
                      <m:t>= 9000</m:t>
                    </m:r>
                  </m:oMath>
                </a14:m>
                <a:endParaRPr lang="en-IN" dirty="0" smtClean="0"/>
              </a:p>
              <a:p>
                <a:pPr marL="0" indent="0">
                  <a:buNone/>
                </a:pPr>
                <a:r>
                  <a:rPr lang="en-IN" b="0" dirty="0" smtClean="0"/>
                  <a:t>                           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/>
                      </a:rPr>
                      <m:t>𝑥</m:t>
                    </m:r>
                    <m:r>
                      <a:rPr lang="en-IN" i="1" dirty="0" smtClean="0">
                        <a:latin typeface="Cambria Math"/>
                      </a:rPr>
                      <m:t> = 600</m:t>
                    </m:r>
                  </m:oMath>
                </a14:m>
                <a:endParaRPr lang="en-IN" dirty="0" smtClean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 smtClean="0"/>
                  <a:t>	C – A = ?</a:t>
                </a:r>
              </a:p>
              <a:p>
                <a:pPr marL="0" indent="0">
                  <a:buNone/>
                </a:pPr>
                <a:r>
                  <a:rPr lang="en-IN" dirty="0" smtClean="0"/>
                  <a:t>	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/>
                      </a:rPr>
                      <m:t>6</m:t>
                    </m:r>
                    <m:r>
                      <a:rPr lang="en-IN" i="1" dirty="0" smtClean="0">
                        <a:latin typeface="Cambria Math"/>
                      </a:rPr>
                      <m:t>𝑥</m:t>
                    </m:r>
                    <m:r>
                      <a:rPr lang="en-IN" i="1" dirty="0" smtClean="0">
                        <a:latin typeface="Cambria Math"/>
                      </a:rPr>
                      <m:t> – 4</m:t>
                    </m:r>
                    <m:r>
                      <a:rPr lang="en-IN" i="1" dirty="0" smtClean="0">
                        <a:latin typeface="Cambria Math"/>
                      </a:rPr>
                      <m:t>𝑥</m:t>
                    </m:r>
                    <m:r>
                      <a:rPr lang="en-IN" i="1" dirty="0" smtClean="0">
                        <a:latin typeface="Cambria Math"/>
                      </a:rPr>
                      <m:t> = 2</m:t>
                    </m:r>
                    <m:r>
                      <a:rPr lang="en-IN" i="1" dirty="0" smtClean="0">
                        <a:latin typeface="Cambria Math"/>
                      </a:rPr>
                      <m:t>𝑥</m:t>
                    </m:r>
                    <m:r>
                      <a:rPr lang="en-IN" i="1" dirty="0" smtClean="0">
                        <a:latin typeface="Cambria Math"/>
                      </a:rPr>
                      <m:t> </m:t>
                    </m:r>
                  </m:oMath>
                </a14:m>
                <a:endParaRPr lang="en-IN" dirty="0" smtClean="0"/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 	    = 2(600)</a:t>
                </a:r>
              </a:p>
              <a:p>
                <a:pPr marL="0" indent="0">
                  <a:buNone/>
                </a:pPr>
                <a:r>
                  <a:rPr lang="en-IN" dirty="0"/>
                  <a:t> </a:t>
                </a:r>
                <a:r>
                  <a:rPr lang="en-IN" dirty="0" smtClean="0"/>
                  <a:t>   	 	   </a:t>
                </a:r>
                <a:r>
                  <a:rPr lang="en-IN" b="1" dirty="0" smtClean="0">
                    <a:solidFill>
                      <a:srgbClr val="00B050"/>
                    </a:solidFill>
                  </a:rPr>
                  <a:t>= Rs.1200</a:t>
                </a:r>
                <a:endParaRPr lang="en-IN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763688" y="2384764"/>
            <a:ext cx="1728192" cy="6121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 smtClean="0">
                <a:solidFill>
                  <a:schemeClr val="tx1"/>
                </a:solidFill>
              </a:rPr>
              <a:t>Rs.9000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50504" y="3470417"/>
            <a:ext cx="864096" cy="4605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4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95736" y="3483171"/>
            <a:ext cx="864096" cy="4477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5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91880" y="3483171"/>
            <a:ext cx="792088" cy="4477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10" name="Straight Arrow Connector 9"/>
          <p:cNvCxnSpPr>
            <a:stCxn id="4" idx="2"/>
            <a:endCxn id="5" idx="0"/>
          </p:cNvCxnSpPr>
          <p:nvPr/>
        </p:nvCxnSpPr>
        <p:spPr>
          <a:xfrm flipH="1">
            <a:off x="1482552" y="2996952"/>
            <a:ext cx="1145232" cy="4734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2"/>
            <a:endCxn id="6" idx="0"/>
          </p:cNvCxnSpPr>
          <p:nvPr/>
        </p:nvCxnSpPr>
        <p:spPr>
          <a:xfrm>
            <a:off x="2627784" y="2996952"/>
            <a:ext cx="0" cy="48621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4" idx="2"/>
            <a:endCxn id="7" idx="0"/>
          </p:cNvCxnSpPr>
          <p:nvPr/>
        </p:nvCxnSpPr>
        <p:spPr>
          <a:xfrm>
            <a:off x="2627784" y="2996952"/>
            <a:ext cx="1260140" cy="48621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12431" y="3963018"/>
            <a:ext cx="294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2479482" y="3971977"/>
            <a:ext cx="294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0460" y="3963018"/>
            <a:ext cx="294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C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1917951" y="3404676"/>
            <a:ext cx="2744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dirty="0" smtClean="0"/>
              <a:t>:</a:t>
            </a:r>
            <a:endParaRPr lang="en-IN" sz="2800" dirty="0"/>
          </a:p>
        </p:txBody>
      </p:sp>
      <p:sp>
        <p:nvSpPr>
          <p:cNvPr id="21" name="Rectangle 20"/>
          <p:cNvSpPr/>
          <p:nvPr/>
        </p:nvSpPr>
        <p:spPr>
          <a:xfrm>
            <a:off x="3136667" y="3439068"/>
            <a:ext cx="3552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234266" y="4352217"/>
                <a:ext cx="4512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dirty="0" smtClean="0">
                          <a:latin typeface="Cambria Math"/>
                        </a:rPr>
                        <m:t>𝟒</m:t>
                      </m:r>
                      <m:r>
                        <a:rPr lang="en-IN" b="1" i="1" dirty="0" smtClean="0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266" y="4352217"/>
                <a:ext cx="451257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375969" y="4341309"/>
                <a:ext cx="4512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 smtClean="0"/>
                  <a:t>5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/>
                      </a:rPr>
                      <m:t>𝒙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969" y="4341309"/>
                <a:ext cx="45125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2162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662295" y="4352217"/>
                <a:ext cx="4512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 smtClean="0"/>
                  <a:t>6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/>
                      </a:rPr>
                      <m:t>𝒙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295" y="4352217"/>
                <a:ext cx="451257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2162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862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sz="3200" dirty="0" smtClean="0"/>
                  <a:t> </a:t>
                </a:r>
                <a:r>
                  <a:rPr lang="en-IN" sz="3200" b="1" dirty="0" smtClean="0">
                    <a:solidFill>
                      <a:srgbClr val="00B050"/>
                    </a:solidFill>
                  </a:rPr>
                  <a:t>Given : </a:t>
                </a:r>
              </a:p>
              <a:p>
                <a:pPr lvl="2"/>
                <a:r>
                  <a:rPr lang="en-IN" sz="3200" dirty="0" smtClean="0"/>
                  <a:t>Ratio </a:t>
                </a:r>
              </a:p>
              <a:p>
                <a:pPr lvl="2"/>
                <a:r>
                  <a:rPr lang="en-IN" sz="3200" dirty="0" smtClean="0"/>
                  <a:t>Clue to find </a:t>
                </a:r>
                <a14:m>
                  <m:oMath xmlns:m="http://schemas.openxmlformats.org/officeDocument/2006/math">
                    <m:r>
                      <a:rPr lang="en-IN" sz="3200" i="1" dirty="0" smtClean="0">
                        <a:latin typeface="Cambria Math"/>
                      </a:rPr>
                      <m:t>𝐻𝐶𝐹</m:t>
                    </m:r>
                    <m:r>
                      <a:rPr lang="en-IN" sz="3200" i="1" dirty="0" smtClean="0">
                        <a:latin typeface="Cambria Math"/>
                      </a:rPr>
                      <m:t>(</m:t>
                    </m:r>
                    <m:r>
                      <a:rPr lang="en-IN" sz="3200" i="1" dirty="0" smtClean="0">
                        <a:latin typeface="Cambria Math"/>
                      </a:rPr>
                      <m:t>𝑥</m:t>
                    </m:r>
                    <m:r>
                      <a:rPr lang="en-IN" sz="32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IN" sz="3200" dirty="0" smtClean="0"/>
                  <a:t>.</a:t>
                </a:r>
              </a:p>
              <a:p>
                <a:pPr marL="777240" lvl="2" indent="0">
                  <a:buNone/>
                </a:pPr>
                <a:endParaRPr lang="en-IN" sz="2800" dirty="0" smtClean="0"/>
              </a:p>
              <a:p>
                <a:pPr marL="0" indent="0">
                  <a:buNone/>
                </a:pPr>
                <a:r>
                  <a:rPr lang="en-IN" sz="3200" b="1" dirty="0" smtClean="0">
                    <a:solidFill>
                      <a:srgbClr val="00B050"/>
                    </a:solidFill>
                  </a:rPr>
                  <a:t>Question:</a:t>
                </a:r>
              </a:p>
              <a:p>
                <a:pPr lvl="2"/>
                <a:r>
                  <a:rPr lang="en-IN" sz="3200" dirty="0" smtClean="0"/>
                  <a:t>Either Total or Individual Values. </a:t>
                </a:r>
                <a:r>
                  <a:rPr lang="en-IN" sz="2800" dirty="0"/>
                  <a:t>	</a:t>
                </a:r>
                <a:r>
                  <a:rPr lang="en-IN" dirty="0"/>
                  <a:t>	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047" t="-20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Type 2: Problems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591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8049217" cy="3877815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Pencils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pens and books in a shop are in the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10 : 2 : 3. If there are 120 pencils,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 books in the shop is: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a)36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b)48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c)72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d)40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Q.7)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2257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Q.7) </a:t>
            </a:r>
            <a:r>
              <a:rPr lang="en-IN" b="1" dirty="0">
                <a:solidFill>
                  <a:srgbClr val="00B050"/>
                </a:solidFill>
              </a:rPr>
              <a:t>Explanation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dirty="0" smtClean="0"/>
              <a:t> </a:t>
            </a:r>
          </a:p>
          <a:p>
            <a:pPr marL="0" indent="0" algn="ctr">
              <a:buNone/>
            </a:pPr>
            <a:endParaRPr lang="en-IN" sz="28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IN" sz="2800" dirty="0" smtClean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IN" sz="28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IN" sz="2800" dirty="0" smtClean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IN" sz="2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2800" dirty="0" smtClean="0">
                <a:solidFill>
                  <a:schemeClr val="tx1"/>
                </a:solidFill>
              </a:rPr>
              <a:t>  </a:t>
            </a:r>
            <a:endParaRPr lang="en-IN" dirty="0" smtClean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ctr">
              <a:buNone/>
            </a:pPr>
            <a:endParaRPr lang="en-IN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sz="quarter" idx="14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dirty="0" smtClean="0"/>
                  <a:t>	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/>
                      </a:rPr>
                      <m:t>1</m:t>
                    </m:r>
                    <m:r>
                      <a:rPr lang="en-IN" b="0" i="1" dirty="0" smtClean="0">
                        <a:latin typeface="Cambria Math"/>
                      </a:rPr>
                      <m:t>0</m:t>
                    </m:r>
                    <m:r>
                      <a:rPr lang="en-IN" i="1" dirty="0" smtClean="0">
                        <a:latin typeface="Cambria Math"/>
                      </a:rPr>
                      <m:t>𝑥</m:t>
                    </m:r>
                    <m:r>
                      <a:rPr lang="en-IN" i="1" dirty="0" smtClean="0">
                        <a:latin typeface="Cambria Math"/>
                      </a:rPr>
                      <m:t>=120</m:t>
                    </m:r>
                  </m:oMath>
                </a14:m>
                <a:endParaRPr lang="en-IN" dirty="0" smtClean="0"/>
              </a:p>
              <a:p>
                <a:pPr marL="0" indent="0">
                  <a:buNone/>
                </a:pPr>
                <a:r>
                  <a:rPr lang="en-IN" b="0" dirty="0" smtClean="0"/>
                  <a:t>               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/>
                      </a:rPr>
                      <m:t>𝑥</m:t>
                    </m:r>
                    <m:r>
                      <a:rPr lang="en-IN" i="1" dirty="0" smtClean="0">
                        <a:latin typeface="Cambria Math"/>
                      </a:rPr>
                      <m:t> = </m:t>
                    </m:r>
                  </m:oMath>
                </a14:m>
                <a:r>
                  <a:rPr lang="en-IN" dirty="0" smtClean="0"/>
                  <a:t>12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 smtClean="0"/>
                  <a:t>	Books =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/>
                      </a:rPr>
                      <m:t>3</m:t>
                    </m:r>
                    <m:r>
                      <a:rPr lang="en-IN" i="1" dirty="0" smtClean="0">
                        <a:latin typeface="Cambria Math"/>
                      </a:rPr>
                      <m:t>𝑥</m:t>
                    </m:r>
                  </m:oMath>
                </a14:m>
                <a:endParaRPr lang="en-IN" dirty="0" smtClean="0"/>
              </a:p>
              <a:p>
                <a:pPr marL="0" indent="0">
                  <a:buNone/>
                </a:pPr>
                <a:r>
                  <a:rPr lang="en-IN" dirty="0" smtClean="0"/>
                  <a:t>	            </a:t>
                </a:r>
                <a:r>
                  <a:rPr lang="en-IN" dirty="0" smtClean="0">
                    <a:solidFill>
                      <a:schemeClr val="tx1"/>
                    </a:solidFill>
                  </a:rPr>
                  <a:t>= 3(12)</a:t>
                </a:r>
              </a:p>
              <a:p>
                <a:pPr marL="0" indent="0">
                  <a:buNone/>
                </a:pPr>
                <a:r>
                  <a:rPr lang="en-IN" b="1" dirty="0">
                    <a:solidFill>
                      <a:srgbClr val="00B050"/>
                    </a:solidFill>
                  </a:rPr>
                  <a:t>	</a:t>
                </a:r>
                <a:r>
                  <a:rPr lang="en-IN" b="1" dirty="0" smtClean="0">
                    <a:solidFill>
                      <a:srgbClr val="00B050"/>
                    </a:solidFill>
                  </a:rPr>
                  <a:t>	= 36 books</a:t>
                </a:r>
                <a:endParaRPr lang="en-IN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763688" y="2384764"/>
            <a:ext cx="1728192" cy="6121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50504" y="3470417"/>
            <a:ext cx="864096" cy="4605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10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95736" y="3483171"/>
            <a:ext cx="864096" cy="4477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1880" y="3483171"/>
            <a:ext cx="792088" cy="4477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3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4" idx="2"/>
            <a:endCxn id="5" idx="0"/>
          </p:cNvCxnSpPr>
          <p:nvPr/>
        </p:nvCxnSpPr>
        <p:spPr>
          <a:xfrm flipH="1">
            <a:off x="1482552" y="2996952"/>
            <a:ext cx="1145232" cy="4734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2"/>
            <a:endCxn id="6" idx="0"/>
          </p:cNvCxnSpPr>
          <p:nvPr/>
        </p:nvCxnSpPr>
        <p:spPr>
          <a:xfrm>
            <a:off x="2627784" y="2996952"/>
            <a:ext cx="0" cy="48621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4" idx="2"/>
            <a:endCxn id="7" idx="0"/>
          </p:cNvCxnSpPr>
          <p:nvPr/>
        </p:nvCxnSpPr>
        <p:spPr>
          <a:xfrm>
            <a:off x="2627784" y="2996952"/>
            <a:ext cx="1260140" cy="48621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68519" y="3985720"/>
            <a:ext cx="896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Pencil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2323922" y="3962288"/>
            <a:ext cx="77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Pen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3494793" y="3985720"/>
            <a:ext cx="831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Books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1917951" y="3404676"/>
            <a:ext cx="2744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dirty="0" smtClean="0"/>
              <a:t>:</a:t>
            </a:r>
            <a:endParaRPr lang="en-IN" sz="2800" dirty="0"/>
          </a:p>
        </p:txBody>
      </p:sp>
      <p:sp>
        <p:nvSpPr>
          <p:cNvPr id="21" name="Rectangle 20"/>
          <p:cNvSpPr/>
          <p:nvPr/>
        </p:nvSpPr>
        <p:spPr>
          <a:xfrm>
            <a:off x="3136667" y="3439068"/>
            <a:ext cx="3552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234266" y="4352217"/>
                <a:ext cx="6803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 smtClean="0"/>
                  <a:t>10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/>
                      </a:rPr>
                      <m:t>𝒙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266" y="4352217"/>
                <a:ext cx="68033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7143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375969" y="4341309"/>
                <a:ext cx="4512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2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/>
                      </a:rPr>
                      <m:t>𝒙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969" y="4341309"/>
                <a:ext cx="45125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2162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662295" y="4352217"/>
                <a:ext cx="4512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3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/>
                      </a:rPr>
                      <m:t>𝒙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295" y="4352217"/>
                <a:ext cx="451257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2162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>
            <a:off x="1763688" y="4710641"/>
            <a:ext cx="2146875" cy="8101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17208" y="5487657"/>
            <a:ext cx="3410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Total no of Pencils =</a:t>
            </a:r>
            <a:r>
              <a:rPr lang="en-I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120</a:t>
            </a:r>
            <a:r>
              <a:rPr lang="en-IN" sz="24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en-IN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763688" y="2409064"/>
            <a:ext cx="1731105" cy="6232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1800"/>
              </a:spcBef>
              <a:spcAft>
                <a:spcPts val="1800"/>
              </a:spcAft>
            </a:pPr>
            <a:r>
              <a:rPr lang="en-US" sz="2300" dirty="0" smtClean="0"/>
              <a:t>Stationaries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158638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8121225" cy="4349005"/>
          </a:xfrm>
        </p:spPr>
        <p:txBody>
          <a:bodyPr>
            <a:normAutofit fontScale="92500"/>
          </a:bodyPr>
          <a:lstStyle/>
          <a:p>
            <a:pPr marL="0" lvl="0" indent="0" algn="just">
              <a:buNone/>
            </a:pP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of money is divided among A, B, C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in the ratio of 3 : 4 : 9 : 10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respectively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36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C’s share and B’s share is Rs.1500, then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total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amount of money A and D receive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together?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Rs.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1300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b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Rs.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2600 </a:t>
            </a: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Rs.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3900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(d) Rs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5200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Q.8)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919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Q.8) </a:t>
            </a:r>
            <a:r>
              <a:rPr lang="en-IN" b="1" dirty="0">
                <a:solidFill>
                  <a:srgbClr val="00B050"/>
                </a:solidFill>
              </a:rPr>
              <a:t>Explanation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 smtClean="0"/>
              <a:t> </a:t>
            </a:r>
          </a:p>
          <a:p>
            <a:pPr marL="0" indent="0" algn="ctr">
              <a:buNone/>
            </a:pPr>
            <a:endParaRPr lang="en-IN" sz="28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IN" sz="2800" dirty="0" smtClean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IN" sz="28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IN" sz="2800" dirty="0" smtClean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IN" sz="2800" dirty="0" smtClean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IN" sz="2800" b="1" dirty="0" smtClean="0">
                <a:solidFill>
                  <a:srgbClr val="FF0000"/>
                </a:solidFill>
              </a:rPr>
              <a:t>A + D = ?</a:t>
            </a:r>
            <a:endParaRPr lang="en-IN" sz="28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sz="quarter" idx="14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i="1" dirty="0" smtClean="0">
                    <a:latin typeface="Cambria Math"/>
                  </a:rPr>
                  <a:t>    C </a:t>
                </a:r>
                <a:r>
                  <a:rPr lang="en-IN" i="1" dirty="0">
                    <a:latin typeface="Cambria Math"/>
                  </a:rPr>
                  <a:t>– B = Rs.1500</a:t>
                </a:r>
                <a14:m>
                  <m:oMath xmlns:m="http://schemas.openxmlformats.org/officeDocument/2006/math">
                    <m:r>
                      <a:rPr lang="en-IN" i="1" dirty="0">
                        <a:latin typeface="Cambria Math"/>
                      </a:rPr>
                      <m:t> </m:t>
                    </m:r>
                  </m:oMath>
                </a14:m>
                <a:endParaRPr lang="en-IN" i="1" dirty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IN" i="1" dirty="0" smtClean="0">
                    <a:latin typeface="Cambria Math"/>
                  </a:rPr>
                  <a:t>9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IN" i="1" dirty="0" smtClean="0">
                    <a:latin typeface="Cambria Math"/>
                  </a:rPr>
                  <a:t> – 4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/>
                      </a:rPr>
                      <m:t>𝑥</m:t>
                    </m:r>
                    <m:r>
                      <a:rPr lang="en-IN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IN" i="1" dirty="0" smtClean="0">
                    <a:latin typeface="Cambria Math"/>
                  </a:rPr>
                  <a:t>= 1500</a:t>
                </a:r>
              </a:p>
              <a:p>
                <a:pPr marL="0" indent="0">
                  <a:buNone/>
                </a:pPr>
                <a:r>
                  <a:rPr lang="en-IN" i="1" dirty="0" smtClean="0">
                    <a:latin typeface="Cambria Math"/>
                  </a:rPr>
                  <a:t>          5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/>
                      </a:rPr>
                      <m:t>𝑥</m:t>
                    </m:r>
                    <m:r>
                      <a:rPr lang="en-IN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IN" i="1" dirty="0" smtClean="0">
                    <a:latin typeface="Cambria Math"/>
                  </a:rPr>
                  <a:t>= 1500</a:t>
                </a:r>
              </a:p>
              <a:p>
                <a:pPr marL="0" indent="0">
                  <a:buNone/>
                </a:pPr>
                <a:r>
                  <a:rPr lang="en-IN" i="1" dirty="0" smtClean="0">
                    <a:latin typeface="Cambria Math"/>
                  </a:rPr>
                  <a:t>           </a:t>
                </a:r>
                <a:r>
                  <a:rPr lang="en-IN" b="1" i="1" dirty="0" smtClean="0">
                    <a:solidFill>
                      <a:srgbClr val="00B050"/>
                    </a:solidFill>
                    <a:latin typeface="Cambria Math"/>
                  </a:rPr>
                  <a:t>   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solidFill>
                          <a:srgbClr val="00B05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IN" b="1" i="1" dirty="0" smtClean="0">
                    <a:solidFill>
                      <a:srgbClr val="00B050"/>
                    </a:solidFill>
                    <a:latin typeface="Cambria Math"/>
                  </a:rPr>
                  <a:t>= 300</a:t>
                </a:r>
              </a:p>
              <a:p>
                <a:pPr marL="0" indent="0">
                  <a:buNone/>
                </a:pPr>
                <a:r>
                  <a:rPr lang="en-IN" b="1" i="1" dirty="0" smtClean="0">
                    <a:solidFill>
                      <a:srgbClr val="FF0000"/>
                    </a:solidFill>
                    <a:latin typeface="Cambria Math"/>
                  </a:rPr>
                  <a:t>A + D =?</a:t>
                </a:r>
              </a:p>
              <a:p>
                <a:pPr marL="0" indent="0">
                  <a:buNone/>
                </a:pPr>
                <a:r>
                  <a:rPr lang="en-IN" i="1" dirty="0" smtClean="0">
                    <a:latin typeface="Cambria Math"/>
                  </a:rPr>
                  <a:t>3x + 10x = 13x</a:t>
                </a:r>
              </a:p>
              <a:p>
                <a:pPr marL="0" indent="0">
                  <a:buNone/>
                </a:pPr>
                <a:r>
                  <a:rPr lang="en-IN" i="1" dirty="0">
                    <a:latin typeface="Cambria Math"/>
                  </a:rPr>
                  <a:t>	 </a:t>
                </a:r>
                <a:r>
                  <a:rPr lang="en-IN" i="1" dirty="0" smtClean="0">
                    <a:latin typeface="Cambria Math"/>
                  </a:rPr>
                  <a:t>   = 13(300)</a:t>
                </a:r>
              </a:p>
              <a:p>
                <a:pPr marL="0" indent="0">
                  <a:buNone/>
                </a:pPr>
                <a:r>
                  <a:rPr lang="en-IN" i="1" dirty="0">
                    <a:latin typeface="Cambria Math"/>
                  </a:rPr>
                  <a:t>	</a:t>
                </a:r>
                <a:r>
                  <a:rPr lang="en-IN" b="1" i="1" dirty="0">
                    <a:solidFill>
                      <a:srgbClr val="00B050"/>
                    </a:solidFill>
                    <a:latin typeface="Cambria Math"/>
                  </a:rPr>
                  <a:t> </a:t>
                </a:r>
                <a:r>
                  <a:rPr lang="en-IN" b="1" i="1" dirty="0" smtClean="0">
                    <a:solidFill>
                      <a:srgbClr val="00B050"/>
                    </a:solidFill>
                    <a:latin typeface="Cambria Math"/>
                  </a:rPr>
                  <a:t>    = Rs.3900</a:t>
                </a:r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blipFill rotWithShape="1">
                <a:blip r:embed="rId2"/>
                <a:stretch>
                  <a:fillRect l="-2404" t="-12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737501" y="2384764"/>
            <a:ext cx="1728192" cy="6121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4022" y="3433359"/>
            <a:ext cx="657676" cy="4605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5396" y="3963018"/>
            <a:ext cx="294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2006611" y="3963018"/>
            <a:ext cx="294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9567" y="3971977"/>
            <a:ext cx="294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C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1477777" y="3360731"/>
            <a:ext cx="2744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dirty="0" smtClean="0"/>
              <a:t>:</a:t>
            </a:r>
            <a:endParaRPr lang="en-IN" sz="2800" dirty="0"/>
          </a:p>
        </p:txBody>
      </p:sp>
      <p:sp>
        <p:nvSpPr>
          <p:cNvPr id="21" name="Rectangle 20"/>
          <p:cNvSpPr/>
          <p:nvPr/>
        </p:nvSpPr>
        <p:spPr>
          <a:xfrm flipH="1" flipV="1">
            <a:off x="2512805" y="3448757"/>
            <a:ext cx="3144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907231" y="4371874"/>
                <a:ext cx="4512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 smtClean="0"/>
                  <a:t>3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/>
                      </a:rPr>
                      <m:t>𝒙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231" y="4371874"/>
                <a:ext cx="451257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2162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947074" y="4399170"/>
                <a:ext cx="4512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dirty="0" smtClean="0">
                          <a:latin typeface="Cambria Math"/>
                        </a:rPr>
                        <m:t>𝟒</m:t>
                      </m:r>
                      <m:r>
                        <a:rPr lang="en-IN" b="1" i="1" dirty="0" smtClean="0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7074" y="4399170"/>
                <a:ext cx="451257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929565" y="4400491"/>
                <a:ext cx="4512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 smtClean="0"/>
                  <a:t>9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/>
                      </a:rPr>
                      <m:t>𝒙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565" y="4400491"/>
                <a:ext cx="451257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2162" t="-8333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/>
          <p:cNvSpPr/>
          <p:nvPr/>
        </p:nvSpPr>
        <p:spPr>
          <a:xfrm>
            <a:off x="3465693" y="3354854"/>
            <a:ext cx="3552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dirty="0"/>
              <a:t>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84714" y="3433359"/>
            <a:ext cx="657676" cy="4605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10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825237" y="3433359"/>
            <a:ext cx="657676" cy="4605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4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808193" y="3433359"/>
            <a:ext cx="657676" cy="4605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9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4" idx="2"/>
          </p:cNvCxnSpPr>
          <p:nvPr/>
        </p:nvCxnSpPr>
        <p:spPr>
          <a:xfrm flipH="1">
            <a:off x="1132860" y="2996952"/>
            <a:ext cx="1468737" cy="43640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" idx="2"/>
          </p:cNvCxnSpPr>
          <p:nvPr/>
        </p:nvCxnSpPr>
        <p:spPr>
          <a:xfrm flipH="1">
            <a:off x="2154075" y="2996952"/>
            <a:ext cx="447522" cy="43640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4" idx="2"/>
            <a:endCxn id="29" idx="0"/>
          </p:cNvCxnSpPr>
          <p:nvPr/>
        </p:nvCxnSpPr>
        <p:spPr>
          <a:xfrm>
            <a:off x="2601597" y="2996952"/>
            <a:ext cx="535434" cy="43640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4" idx="2"/>
            <a:endCxn id="27" idx="0"/>
          </p:cNvCxnSpPr>
          <p:nvPr/>
        </p:nvCxnSpPr>
        <p:spPr>
          <a:xfrm>
            <a:off x="2601597" y="2996952"/>
            <a:ext cx="1511955" cy="43640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966088" y="3963018"/>
            <a:ext cx="294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784714" y="4401812"/>
                <a:ext cx="6576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 smtClean="0"/>
                  <a:t>10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/>
                      </a:rPr>
                      <m:t>𝒙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714" y="4401812"/>
                <a:ext cx="657676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8333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752212" y="2506192"/>
            <a:ext cx="1713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Sum of Money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830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animBg="1"/>
      <p:bldP spid="5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6" grpId="0"/>
      <p:bldP spid="27" grpId="0" animBg="1"/>
      <p:bldP spid="28" grpId="0" animBg="1"/>
      <p:bldP spid="29" grpId="0" animBg="1"/>
      <p:bldP spid="33" grpId="0"/>
      <p:bldP spid="34" grpId="0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060848"/>
            <a:ext cx="8229600" cy="4389120"/>
          </a:xfrm>
        </p:spPr>
        <p:txBody>
          <a:bodyPr/>
          <a:lstStyle/>
          <a:p>
            <a:pPr marL="0" lvl="0" indent="0" algn="just">
              <a:buNone/>
            </a:pP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and B are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ratio of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each number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by 20, then the new ratio becomes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:6.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of B.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a)40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b)48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c)50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d)55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sz="4400" b="1" dirty="0" smtClean="0"/>
              <a:t>Two Ratios Based Problems 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70913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Q.9)Explanation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4645151" y="2240280"/>
                <a:ext cx="3803904" cy="44290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1" i="1" smtClean="0">
                            <a:latin typeface="Cambria Math"/>
                          </a:rPr>
                          <m:t>𝑨</m:t>
                        </m:r>
                      </m:num>
                      <m:den>
                        <m:r>
                          <a:rPr lang="en-IN" sz="3600" b="1" i="1" smtClean="0">
                            <a:latin typeface="Cambria Math"/>
                          </a:rPr>
                          <m:t>𝑩</m:t>
                        </m:r>
                      </m:den>
                    </m:f>
                  </m:oMath>
                </a14:m>
                <a:r>
                  <a:rPr lang="en-IN" sz="3600" b="1" dirty="0" smtClean="0"/>
                  <a:t> =&gt;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1" i="1" smtClean="0">
                            <a:latin typeface="Cambria Math"/>
                          </a:rPr>
                          <m:t>𝟑</m:t>
                        </m:r>
                        <m:r>
                          <a:rPr lang="en-IN" sz="3600" b="1" i="1" smtClean="0">
                            <a:latin typeface="Cambria Math"/>
                          </a:rPr>
                          <m:t>𝒙</m:t>
                        </m:r>
                        <m:r>
                          <a:rPr lang="en-IN" sz="3600" b="1" i="1" smtClean="0">
                            <a:latin typeface="Cambria Math"/>
                          </a:rPr>
                          <m:t>+</m:t>
                        </m:r>
                        <m:r>
                          <a:rPr lang="en-IN" sz="3600" b="1" i="1" smtClean="0">
                            <a:latin typeface="Cambria Math"/>
                          </a:rPr>
                          <m:t>𝟐𝟎</m:t>
                        </m:r>
                      </m:num>
                      <m:den>
                        <m:r>
                          <a:rPr lang="en-IN" sz="3600" b="1" i="1" smtClean="0">
                            <a:latin typeface="Cambria Math"/>
                          </a:rPr>
                          <m:t>𝟒</m:t>
                        </m:r>
                        <m:r>
                          <a:rPr lang="en-IN" sz="3600" b="1" i="1" smtClean="0">
                            <a:latin typeface="Cambria Math"/>
                          </a:rPr>
                          <m:t>𝒙</m:t>
                        </m:r>
                        <m:r>
                          <a:rPr lang="en-IN" sz="3600" b="1" i="1" smtClean="0">
                            <a:latin typeface="Cambria Math"/>
                          </a:rPr>
                          <m:t>+</m:t>
                        </m:r>
                        <m:r>
                          <a:rPr lang="en-IN" sz="3600" b="1" i="1" smtClean="0">
                            <a:latin typeface="Cambria Math"/>
                          </a:rPr>
                          <m:t>𝟐𝟎</m:t>
                        </m:r>
                      </m:den>
                    </m:f>
                  </m:oMath>
                </a14:m>
                <a:r>
                  <a:rPr lang="en-IN" sz="3600" b="1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1" i="1" smtClean="0">
                            <a:latin typeface="Cambria Math"/>
                          </a:rPr>
                          <m:t>𝟓</m:t>
                        </m:r>
                      </m:num>
                      <m:den>
                        <m:r>
                          <a:rPr lang="en-IN" sz="3600" b="1" i="1" smtClean="0">
                            <a:latin typeface="Cambria Math"/>
                          </a:rPr>
                          <m:t>𝟔</m:t>
                        </m:r>
                      </m:den>
                    </m:f>
                  </m:oMath>
                </a14:m>
                <a:endParaRPr lang="en-IN" b="1" dirty="0" smtClean="0"/>
              </a:p>
              <a:p>
                <a:pPr marL="0" indent="0">
                  <a:buNone/>
                </a:pPr>
                <a:endParaRPr lang="en-IN" b="1" dirty="0"/>
              </a:p>
              <a:p>
                <a:pPr marL="0" indent="0">
                  <a:buNone/>
                </a:pPr>
                <a:r>
                  <a:rPr lang="en-IN" sz="1800" b="1" dirty="0" smtClean="0"/>
                  <a:t>Cross multiply the values,</a:t>
                </a:r>
              </a:p>
              <a:p>
                <a:pPr marL="0" indent="0">
                  <a:buNone/>
                </a:pPr>
                <a:r>
                  <a:rPr lang="en-IN" b="1" dirty="0" smtClean="0"/>
                  <a:t>  </a:t>
                </a:r>
                <a:r>
                  <a:rPr lang="en-IN" dirty="0" smtClean="0"/>
                  <a:t>18x + 120 = 20x + 100</a:t>
                </a:r>
              </a:p>
              <a:p>
                <a:pPr marL="0" indent="0">
                  <a:buNone/>
                </a:pPr>
                <a:r>
                  <a:rPr lang="en-IN" dirty="0" smtClean="0"/>
                  <a:t>              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latin typeface="Cambria Math"/>
                      </a:rPr>
                      <m:t>2</m:t>
                    </m:r>
                    <m:r>
                      <a:rPr lang="en-IN" b="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IN" dirty="0" smtClean="0"/>
                  <a:t> = 20</a:t>
                </a:r>
              </a:p>
              <a:p>
                <a:pPr marL="0" indent="0">
                  <a:buNone/>
                </a:pPr>
                <a:r>
                  <a:rPr lang="en-IN" dirty="0" smtClean="0"/>
                  <a:t>	 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/>
                      </a:rPr>
                      <m:t> </m:t>
                    </m:r>
                    <m:r>
                      <a:rPr lang="en-IN" i="1" dirty="0" smtClean="0">
                        <a:latin typeface="Cambria Math"/>
                      </a:rPr>
                      <m:t>𝑥</m:t>
                    </m:r>
                    <m:r>
                      <a:rPr lang="en-IN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IN" dirty="0" smtClean="0"/>
                  <a:t>= 10</a:t>
                </a:r>
              </a:p>
              <a:p>
                <a:pPr marL="0" indent="0">
                  <a:buNone/>
                </a:pPr>
                <a:endParaRPr lang="en-IN" dirty="0" smtClean="0"/>
              </a:p>
              <a:p>
                <a:pPr marL="0" indent="0">
                  <a:buNone/>
                </a:pPr>
                <a:r>
                  <a:rPr lang="en-IN" dirty="0" smtClean="0"/>
                  <a:t>A = 3x =&gt; 3(10) = 30</a:t>
                </a:r>
              </a:p>
              <a:p>
                <a:pPr marL="0" indent="0">
                  <a:buNone/>
                </a:pPr>
                <a:r>
                  <a:rPr lang="en-IN" b="1" dirty="0" smtClean="0">
                    <a:solidFill>
                      <a:srgbClr val="00B050"/>
                    </a:solidFill>
                  </a:rPr>
                  <a:t>B = 4x =&gt; 4(10) = 40</a:t>
                </a:r>
              </a:p>
              <a:p>
                <a:pPr marL="0" indent="0">
                  <a:buNone/>
                </a:pPr>
                <a:endParaRPr lang="en-IN" sz="1800" b="1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4645151" y="2240280"/>
                <a:ext cx="3803904" cy="4429080"/>
              </a:xfrm>
              <a:blipFill rotWithShape="1">
                <a:blip r:embed="rId2"/>
                <a:stretch>
                  <a:fillRect l="-24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324457" y="2635681"/>
            <a:ext cx="5760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  A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186644" y="2635681"/>
            <a:ext cx="5760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  B</a:t>
            </a:r>
            <a:endParaRPr lang="en-IN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449805" y="319455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5750" y="319455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4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1371432" y="3636545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3x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345750" y="3636545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4x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1449805" y="435581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5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2318219" y="435581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6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1812945" y="3077645"/>
            <a:ext cx="4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812945" y="4278868"/>
            <a:ext cx="4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748393" y="3645060"/>
            <a:ext cx="5760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mtClean="0"/>
              <a:t>+20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2874277" y="3641880"/>
            <a:ext cx="5760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+20</a:t>
            </a:r>
            <a:endParaRPr lang="en-IN" dirty="0"/>
          </a:p>
        </p:txBody>
      </p:sp>
      <p:cxnSp>
        <p:nvCxnSpPr>
          <p:cNvPr id="23" name="Straight Arrow Connector 22"/>
          <p:cNvCxnSpPr>
            <a:endCxn id="19" idx="0"/>
          </p:cNvCxnSpPr>
          <p:nvPr/>
        </p:nvCxnSpPr>
        <p:spPr>
          <a:xfrm>
            <a:off x="2606251" y="3379220"/>
            <a:ext cx="556058" cy="2626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1"/>
            <a:endCxn id="18" idx="0"/>
          </p:cNvCxnSpPr>
          <p:nvPr/>
        </p:nvCxnSpPr>
        <p:spPr>
          <a:xfrm flipH="1">
            <a:off x="1036425" y="3379220"/>
            <a:ext cx="413380" cy="2658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8" idx="2"/>
            <a:endCxn id="13" idx="1"/>
          </p:cNvCxnSpPr>
          <p:nvPr/>
        </p:nvCxnSpPr>
        <p:spPr>
          <a:xfrm>
            <a:off x="1036425" y="4014392"/>
            <a:ext cx="413380" cy="52608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9" idx="2"/>
          </p:cNvCxnSpPr>
          <p:nvPr/>
        </p:nvCxnSpPr>
        <p:spPr>
          <a:xfrm flipH="1">
            <a:off x="2609629" y="4011212"/>
            <a:ext cx="552680" cy="4775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76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Q.9)Shortcut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3200" b="1" dirty="0" smtClean="0"/>
              <a:t> </a:t>
            </a:r>
            <a:endParaRPr lang="en-IN" sz="3200" b="1" dirty="0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sz="3200" b="1" dirty="0" smtClean="0"/>
              <a:t>A = 3R = 3(10) = 30</a:t>
            </a:r>
          </a:p>
          <a:p>
            <a:pPr marL="0" indent="0">
              <a:buNone/>
            </a:pPr>
            <a:endParaRPr lang="en-IN" sz="3200" b="1" dirty="0" smtClean="0"/>
          </a:p>
          <a:p>
            <a:pPr marL="0" indent="0">
              <a:buNone/>
            </a:pPr>
            <a:r>
              <a:rPr lang="en-IN" sz="3200" b="1" dirty="0" smtClean="0">
                <a:solidFill>
                  <a:srgbClr val="00B050"/>
                </a:solidFill>
              </a:rPr>
              <a:t>B  = 4R </a:t>
            </a:r>
            <a:r>
              <a:rPr lang="en-IN" sz="3200" b="1" dirty="0">
                <a:solidFill>
                  <a:srgbClr val="00B050"/>
                </a:solidFill>
              </a:rPr>
              <a:t>= </a:t>
            </a:r>
            <a:r>
              <a:rPr lang="en-IN" sz="3200" b="1" dirty="0" smtClean="0">
                <a:solidFill>
                  <a:srgbClr val="00B050"/>
                </a:solidFill>
              </a:rPr>
              <a:t>4(10</a:t>
            </a:r>
            <a:r>
              <a:rPr lang="en-IN" sz="3200" b="1" dirty="0">
                <a:solidFill>
                  <a:srgbClr val="00B050"/>
                </a:solidFill>
              </a:rPr>
              <a:t>) = </a:t>
            </a:r>
            <a:r>
              <a:rPr lang="en-IN" sz="3200" b="1" dirty="0" smtClean="0">
                <a:solidFill>
                  <a:srgbClr val="00B050"/>
                </a:solidFill>
              </a:rPr>
              <a:t>40</a:t>
            </a:r>
            <a:endParaRPr lang="en-IN" sz="32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1857518" y="2635681"/>
            <a:ext cx="57606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  A</a:t>
            </a:r>
            <a:endParaRPr lang="en-IN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719705" y="2635681"/>
            <a:ext cx="57606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  B</a:t>
            </a:r>
            <a:endParaRPr lang="en-IN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982866" y="3194554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8811" y="3194554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4</a:t>
            </a:r>
            <a:endParaRPr lang="en-IN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982866" y="4355812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5</a:t>
            </a:r>
            <a:endParaRPr lang="en-IN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851280" y="4355812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6</a:t>
            </a:r>
            <a:endParaRPr lang="en-IN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2346006" y="3077645"/>
            <a:ext cx="425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 </a:t>
            </a:r>
            <a:r>
              <a:rPr lang="en-IN" sz="3600" b="1" dirty="0" smtClean="0"/>
              <a:t>:</a:t>
            </a:r>
            <a:endParaRPr lang="en-IN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346006" y="4221088"/>
            <a:ext cx="425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 </a:t>
            </a:r>
            <a:r>
              <a:rPr lang="en-IN" sz="3600" b="1" dirty="0" smtClean="0"/>
              <a:t>:</a:t>
            </a:r>
            <a:endParaRPr lang="en-IN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784581" y="3638060"/>
            <a:ext cx="57606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/>
              <a:t>2R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7904" y="3641006"/>
            <a:ext cx="57606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2R</a:t>
            </a:r>
            <a:endParaRPr lang="en-IN" sz="2400" b="1" dirty="0"/>
          </a:p>
        </p:txBody>
      </p:sp>
      <p:sp>
        <p:nvSpPr>
          <p:cNvPr id="24" name="Curved Left Arrow 23"/>
          <p:cNvSpPr/>
          <p:nvPr/>
        </p:nvSpPr>
        <p:spPr>
          <a:xfrm>
            <a:off x="3166843" y="3339255"/>
            <a:ext cx="426050" cy="1342167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b="1">
              <a:solidFill>
                <a:schemeClr val="tx1"/>
              </a:solidFill>
            </a:endParaRPr>
          </a:p>
        </p:txBody>
      </p:sp>
      <p:sp>
        <p:nvSpPr>
          <p:cNvPr id="25" name="Curved Left Arrow 24"/>
          <p:cNvSpPr/>
          <p:nvPr/>
        </p:nvSpPr>
        <p:spPr>
          <a:xfrm flipH="1">
            <a:off x="1498513" y="3356992"/>
            <a:ext cx="484353" cy="140929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b="1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907704" y="5157192"/>
            <a:ext cx="1636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2R = 20 </a:t>
            </a:r>
            <a:endParaRPr lang="en-IN" sz="24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1907704" y="5678924"/>
            <a:ext cx="1564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050"/>
                </a:solidFill>
              </a:rPr>
              <a:t>1</a:t>
            </a:r>
            <a:r>
              <a:rPr lang="en-IN" sz="2400" b="1" dirty="0" smtClean="0">
                <a:solidFill>
                  <a:srgbClr val="00B050"/>
                </a:solidFill>
              </a:rPr>
              <a:t>R = 10 </a:t>
            </a:r>
            <a:endParaRPr lang="en-IN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0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  <p:bldP spid="14" grpId="0"/>
      <p:bldP spid="15" grpId="0"/>
      <p:bldP spid="16" grpId="0"/>
      <p:bldP spid="17" grpId="0"/>
      <p:bldP spid="18" grpId="0" animBg="1"/>
      <p:bldP spid="19" grpId="0" animBg="1"/>
      <p:bldP spid="24" grpId="0" animBg="1"/>
      <p:bldP spid="25" grpId="0" animBg="1"/>
      <p:bldP spid="26" grpId="0"/>
      <p:bldP spid="2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060848"/>
            <a:ext cx="8229600" cy="4389120"/>
          </a:xfrm>
        </p:spPr>
        <p:txBody>
          <a:bodyPr/>
          <a:lstStyle/>
          <a:p>
            <a:pPr marL="0" lvl="0" indent="0" algn="just">
              <a:buNone/>
            </a:pP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 P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Q are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ratio of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: 9.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number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decreased by 24, then the new ratio becomes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5.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of P and Q.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a)80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b)96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c)64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d)112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sz="4400" b="1" dirty="0" smtClean="0"/>
              <a:t>Two Ratios Based Problems 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341221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chemeClr val="tx1"/>
                </a:solidFill>
              </a:rPr>
              <a:t>)Explanation</a:t>
            </a:r>
            <a:endParaRPr lang="en-IN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685800" y="2240280"/>
                <a:ext cx="3803904" cy="421305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b="1" dirty="0" smtClean="0">
                    <a:solidFill>
                      <a:schemeClr val="tx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IN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IN" b="1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IN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IN" b="1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IN" b="1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IN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sz="3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𝑷</m:t>
                        </m:r>
                      </m:num>
                      <m:den>
                        <m:r>
                          <a:rPr lang="en-IN" sz="36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𝑸</m:t>
                        </m:r>
                      </m:den>
                    </m:f>
                  </m:oMath>
                </a14:m>
                <a:r>
                  <a:rPr lang="en-IN" sz="3600" b="1" dirty="0">
                    <a:solidFill>
                      <a:schemeClr val="tx1"/>
                    </a:solidFill>
                  </a:rPr>
                  <a:t> =&gt;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𝟕</m:t>
                        </m:r>
                        <m:r>
                          <a:rPr lang="en-IN" sz="36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IN" sz="36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IN" sz="36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𝟐𝟒</m:t>
                        </m:r>
                      </m:num>
                      <m:den>
                        <m:r>
                          <a:rPr lang="en-IN" sz="36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𝟗</m:t>
                        </m:r>
                        <m:r>
                          <a:rPr lang="en-IN" sz="36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IN" sz="36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IN" sz="36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𝟐𝟒</m:t>
                        </m:r>
                      </m:den>
                    </m:f>
                  </m:oMath>
                </a14:m>
                <a:r>
                  <a:rPr lang="en-IN" sz="3600" b="1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𝟑</m:t>
                        </m:r>
                      </m:num>
                      <m:den>
                        <m:r>
                          <a:rPr lang="en-IN" sz="36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𝟓</m:t>
                        </m:r>
                      </m:den>
                    </m:f>
                  </m:oMath>
                </a14:m>
                <a:endParaRPr lang="en-IN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685800" y="2240280"/>
                <a:ext cx="3803904" cy="4213056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4645151" y="2240280"/>
                <a:ext cx="3803904" cy="44290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b="1" dirty="0" smtClean="0">
                    <a:solidFill>
                      <a:srgbClr val="FF0000"/>
                    </a:solidFill>
                  </a:rPr>
                  <a:t>Cross multiply the values,</a:t>
                </a:r>
              </a:p>
              <a:p>
                <a:pPr marL="0" indent="0">
                  <a:buNone/>
                </a:pPr>
                <a:r>
                  <a:rPr lang="en-IN" sz="2800" b="1" dirty="0" smtClean="0">
                    <a:solidFill>
                      <a:schemeClr val="tx1"/>
                    </a:solidFill>
                  </a:rPr>
                  <a:t>  35x </a:t>
                </a:r>
                <a:r>
                  <a:rPr lang="en-IN" sz="2800" b="1" dirty="0">
                    <a:solidFill>
                      <a:schemeClr val="tx1"/>
                    </a:solidFill>
                  </a:rPr>
                  <a:t>-</a:t>
                </a:r>
                <a:r>
                  <a:rPr lang="en-IN" sz="2800" b="1" dirty="0" smtClean="0">
                    <a:solidFill>
                      <a:schemeClr val="tx1"/>
                    </a:solidFill>
                  </a:rPr>
                  <a:t> 120 = 27x </a:t>
                </a:r>
                <a:r>
                  <a:rPr lang="en-IN" sz="2800" b="1" dirty="0">
                    <a:solidFill>
                      <a:schemeClr val="tx1"/>
                    </a:solidFill>
                  </a:rPr>
                  <a:t>-</a:t>
                </a:r>
                <a:r>
                  <a:rPr lang="en-IN" sz="2800" b="1" dirty="0" smtClean="0">
                    <a:solidFill>
                      <a:schemeClr val="tx1"/>
                    </a:solidFill>
                  </a:rPr>
                  <a:t> 72</a:t>
                </a:r>
              </a:p>
              <a:p>
                <a:pPr marL="0" indent="0">
                  <a:buNone/>
                </a:pPr>
                <a:r>
                  <a:rPr lang="en-IN" sz="2800" b="1" dirty="0" smtClean="0">
                    <a:solidFill>
                      <a:schemeClr val="tx1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𝟖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IN" sz="2800" b="1" dirty="0" smtClean="0">
                    <a:solidFill>
                      <a:schemeClr val="tx1"/>
                    </a:solidFill>
                  </a:rPr>
                  <a:t> = 48</a:t>
                </a:r>
              </a:p>
              <a:p>
                <a:pPr marL="0" indent="0">
                  <a:buNone/>
                </a:pPr>
                <a:r>
                  <a:rPr lang="en-IN" sz="2800" b="1" dirty="0" smtClean="0">
                    <a:solidFill>
                      <a:schemeClr val="tx1"/>
                    </a:solidFill>
                  </a:rPr>
                  <a:t>	   </a:t>
                </a:r>
                <a14:m>
                  <m:oMath xmlns:m="http://schemas.openxmlformats.org/officeDocument/2006/math">
                    <m:r>
                      <a:rPr lang="en-IN" sz="28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  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𝒙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IN" sz="2800" b="1" dirty="0" smtClean="0">
                    <a:solidFill>
                      <a:schemeClr val="tx1"/>
                    </a:solidFill>
                  </a:rPr>
                  <a:t>= 6</a:t>
                </a:r>
              </a:p>
              <a:p>
                <a:pPr marL="0" indent="0">
                  <a:buNone/>
                </a:pPr>
                <a:endParaRPr lang="en-IN" sz="2800" b="1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IN" sz="2800" b="1" dirty="0" smtClean="0">
                    <a:solidFill>
                      <a:schemeClr val="tx1"/>
                    </a:solidFill>
                  </a:rPr>
                  <a:t>P = 7x =&gt; 7(6) = 42</a:t>
                </a:r>
              </a:p>
              <a:p>
                <a:pPr marL="0" indent="0">
                  <a:buNone/>
                </a:pPr>
                <a:r>
                  <a:rPr lang="en-IN" sz="2800" b="1" dirty="0">
                    <a:solidFill>
                      <a:schemeClr val="tx1"/>
                    </a:solidFill>
                  </a:rPr>
                  <a:t>Q</a:t>
                </a:r>
                <a:r>
                  <a:rPr lang="en-IN" sz="2800" b="1" dirty="0" smtClean="0">
                    <a:solidFill>
                      <a:schemeClr val="tx1"/>
                    </a:solidFill>
                  </a:rPr>
                  <a:t> = 9x =&gt; 9(6) = 54</a:t>
                </a:r>
              </a:p>
              <a:p>
                <a:pPr marL="0" indent="0">
                  <a:buNone/>
                </a:pPr>
                <a:endParaRPr lang="en-IN" sz="2000" b="1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IN" sz="2800" b="1" dirty="0" smtClean="0">
                    <a:solidFill>
                      <a:srgbClr val="00B050"/>
                    </a:solidFill>
                  </a:rPr>
                  <a:t>P + Q = 42 + 54 = 96</a:t>
                </a:r>
                <a:endParaRPr lang="en-IN" sz="28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4645151" y="2240280"/>
                <a:ext cx="3803904" cy="4429080"/>
              </a:xfrm>
              <a:blipFill rotWithShape="1">
                <a:blip r:embed="rId3"/>
                <a:stretch>
                  <a:fillRect l="-3205" t="-689" b="-17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324457" y="2635681"/>
            <a:ext cx="5760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  P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186644" y="2635681"/>
            <a:ext cx="5760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  Q</a:t>
            </a:r>
            <a:endParaRPr lang="en-IN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449805" y="319455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5750" y="319455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432" y="3636545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7</a:t>
            </a:r>
            <a:r>
              <a:rPr lang="en-IN" b="1" dirty="0" smtClean="0"/>
              <a:t>x</a:t>
            </a:r>
            <a:endParaRPr lang="en-IN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2345750" y="3636545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9</a:t>
            </a:r>
            <a:r>
              <a:rPr lang="en-IN" b="1" dirty="0" smtClean="0"/>
              <a:t>x</a:t>
            </a:r>
            <a:endParaRPr lang="en-IN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449805" y="435581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8219" y="435581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2945" y="3077645"/>
            <a:ext cx="4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</a:t>
            </a:r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812945" y="4278868"/>
            <a:ext cx="4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</a:t>
            </a:r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748393" y="3645060"/>
            <a:ext cx="5760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- 24</a:t>
            </a:r>
            <a:endParaRPr lang="en-IN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2874277" y="3641880"/>
            <a:ext cx="5760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- 24</a:t>
            </a:r>
            <a:endParaRPr lang="en-IN" b="1" dirty="0"/>
          </a:p>
        </p:txBody>
      </p:sp>
      <p:cxnSp>
        <p:nvCxnSpPr>
          <p:cNvPr id="23" name="Straight Arrow Connector 22"/>
          <p:cNvCxnSpPr>
            <a:endCxn id="19" idx="0"/>
          </p:cNvCxnSpPr>
          <p:nvPr/>
        </p:nvCxnSpPr>
        <p:spPr>
          <a:xfrm>
            <a:off x="2606251" y="3379220"/>
            <a:ext cx="556058" cy="2626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1"/>
            <a:endCxn id="18" idx="0"/>
          </p:cNvCxnSpPr>
          <p:nvPr/>
        </p:nvCxnSpPr>
        <p:spPr>
          <a:xfrm flipH="1">
            <a:off x="1036425" y="3379220"/>
            <a:ext cx="413380" cy="2658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8" idx="2"/>
            <a:endCxn id="13" idx="1"/>
          </p:cNvCxnSpPr>
          <p:nvPr/>
        </p:nvCxnSpPr>
        <p:spPr>
          <a:xfrm>
            <a:off x="1036425" y="4014392"/>
            <a:ext cx="413380" cy="52608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9" idx="2"/>
          </p:cNvCxnSpPr>
          <p:nvPr/>
        </p:nvCxnSpPr>
        <p:spPr>
          <a:xfrm flipH="1">
            <a:off x="2609629" y="4011212"/>
            <a:ext cx="552680" cy="4775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08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 animBg="1"/>
      <p:bldP spid="1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)Shortcut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3200" b="1" dirty="0" smtClean="0">
                <a:solidFill>
                  <a:schemeClr val="tx1"/>
                </a:solidFill>
              </a:rPr>
              <a:t> </a:t>
            </a:r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28" name="Content Placeholder 27"/>
          <p:cNvSpPr>
            <a:spLocks noGrp="1"/>
          </p:cNvSpPr>
          <p:nvPr>
            <p:ph sz="quarter" idx="14"/>
          </p:nvPr>
        </p:nvSpPr>
        <p:spPr>
          <a:xfrm>
            <a:off x="4645150" y="2240280"/>
            <a:ext cx="3959297" cy="3877056"/>
          </a:xfrm>
        </p:spPr>
        <p:txBody>
          <a:bodyPr/>
          <a:lstStyle/>
          <a:p>
            <a:pPr marL="0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3200" b="1" dirty="0">
                <a:solidFill>
                  <a:schemeClr val="tx1"/>
                </a:solidFill>
              </a:rPr>
              <a:t>P</a:t>
            </a:r>
            <a:r>
              <a:rPr lang="en-IN" sz="3200" b="1" dirty="0" smtClean="0">
                <a:solidFill>
                  <a:schemeClr val="tx1"/>
                </a:solidFill>
              </a:rPr>
              <a:t> = 7R = 7(6) = 42</a:t>
            </a:r>
          </a:p>
          <a:p>
            <a:pPr marL="0" indent="0">
              <a:buNone/>
            </a:pPr>
            <a:r>
              <a:rPr lang="en-IN" sz="3200" b="1" dirty="0" smtClean="0">
                <a:solidFill>
                  <a:schemeClr val="tx1"/>
                </a:solidFill>
              </a:rPr>
              <a:t>Q = 9R </a:t>
            </a:r>
            <a:r>
              <a:rPr lang="en-IN" sz="3200" b="1" dirty="0">
                <a:solidFill>
                  <a:schemeClr val="tx1"/>
                </a:solidFill>
              </a:rPr>
              <a:t>= </a:t>
            </a:r>
            <a:r>
              <a:rPr lang="en-IN" sz="3200" b="1" dirty="0" smtClean="0">
                <a:solidFill>
                  <a:schemeClr val="tx1"/>
                </a:solidFill>
              </a:rPr>
              <a:t>9(6) </a:t>
            </a:r>
            <a:r>
              <a:rPr lang="en-IN" sz="3200" b="1" dirty="0">
                <a:solidFill>
                  <a:schemeClr val="tx1"/>
                </a:solidFill>
              </a:rPr>
              <a:t>= </a:t>
            </a:r>
            <a:r>
              <a:rPr lang="en-IN" sz="3200" b="1" dirty="0" smtClean="0">
                <a:solidFill>
                  <a:schemeClr val="tx1"/>
                </a:solidFill>
              </a:rPr>
              <a:t>54</a:t>
            </a:r>
          </a:p>
          <a:p>
            <a:pPr marL="0" indent="0">
              <a:buNone/>
            </a:pPr>
            <a:endParaRPr lang="en-IN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2800" b="1" dirty="0" smtClean="0">
                <a:solidFill>
                  <a:schemeClr val="tx1"/>
                </a:solidFill>
              </a:rPr>
              <a:t>P + Q = 7R + 9R </a:t>
            </a:r>
          </a:p>
          <a:p>
            <a:pPr marL="0" indent="0">
              <a:buNone/>
            </a:pPr>
            <a:r>
              <a:rPr lang="en-IN" sz="2800" b="1" dirty="0">
                <a:solidFill>
                  <a:schemeClr val="tx1"/>
                </a:solidFill>
              </a:rPr>
              <a:t>	</a:t>
            </a:r>
            <a:r>
              <a:rPr lang="en-IN" sz="2800" b="1" dirty="0" smtClean="0">
                <a:solidFill>
                  <a:schemeClr val="tx1"/>
                </a:solidFill>
              </a:rPr>
              <a:t> = 16 R</a:t>
            </a:r>
          </a:p>
          <a:p>
            <a:pPr marL="0" indent="0">
              <a:buNone/>
            </a:pPr>
            <a:r>
              <a:rPr lang="en-IN" sz="2800" b="1" dirty="0" smtClean="0">
                <a:solidFill>
                  <a:srgbClr val="00B050"/>
                </a:solidFill>
              </a:rPr>
              <a:t>P + Q = 16(6) = 96</a:t>
            </a:r>
            <a:endParaRPr lang="en-IN" sz="28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57518" y="2635681"/>
            <a:ext cx="57606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  P</a:t>
            </a:r>
            <a:endParaRPr lang="en-IN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719705" y="2635681"/>
            <a:ext cx="66016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 Q</a:t>
            </a:r>
            <a:endParaRPr lang="en-IN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982866" y="3194554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8811" y="3194554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2866" y="4355812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1280" y="4355812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6006" y="3077645"/>
            <a:ext cx="425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 </a:t>
            </a:r>
            <a:r>
              <a:rPr lang="en-IN" sz="3600" b="1" dirty="0" smtClean="0"/>
              <a:t>:</a:t>
            </a:r>
            <a:endParaRPr lang="en-IN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346006" y="4221088"/>
            <a:ext cx="425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 </a:t>
            </a:r>
            <a:r>
              <a:rPr lang="en-IN" sz="3600" b="1" dirty="0" smtClean="0"/>
              <a:t>:</a:t>
            </a:r>
            <a:endParaRPr lang="en-IN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784581" y="3638060"/>
            <a:ext cx="57606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4R</a:t>
            </a:r>
            <a:endParaRPr lang="en-IN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3707904" y="3641006"/>
            <a:ext cx="57606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  <a:r>
              <a:rPr lang="en-IN" sz="2400" b="1" dirty="0" smtClean="0"/>
              <a:t>R</a:t>
            </a:r>
            <a:endParaRPr lang="en-IN" sz="2400" b="1" dirty="0"/>
          </a:p>
        </p:txBody>
      </p:sp>
      <p:sp>
        <p:nvSpPr>
          <p:cNvPr id="24" name="Curved Left Arrow 23"/>
          <p:cNvSpPr/>
          <p:nvPr/>
        </p:nvSpPr>
        <p:spPr>
          <a:xfrm>
            <a:off x="3166843" y="3339255"/>
            <a:ext cx="426050" cy="1342167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b="1">
              <a:solidFill>
                <a:schemeClr val="tx1"/>
              </a:solidFill>
            </a:endParaRPr>
          </a:p>
        </p:txBody>
      </p:sp>
      <p:sp>
        <p:nvSpPr>
          <p:cNvPr id="25" name="Curved Left Arrow 24"/>
          <p:cNvSpPr/>
          <p:nvPr/>
        </p:nvSpPr>
        <p:spPr>
          <a:xfrm flipH="1">
            <a:off x="1498513" y="3356992"/>
            <a:ext cx="484353" cy="140929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b="1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907704" y="5157192"/>
            <a:ext cx="1636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  <a:r>
              <a:rPr lang="en-IN" sz="2400" b="1" dirty="0" smtClean="0"/>
              <a:t>R = 24 </a:t>
            </a:r>
            <a:endParaRPr lang="en-IN" sz="24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1907704" y="5678924"/>
            <a:ext cx="1564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050"/>
                </a:solidFill>
              </a:rPr>
              <a:t>1</a:t>
            </a:r>
            <a:r>
              <a:rPr lang="en-IN" sz="2400" b="1" dirty="0" smtClean="0">
                <a:solidFill>
                  <a:srgbClr val="00B050"/>
                </a:solidFill>
              </a:rPr>
              <a:t>R = 6 </a:t>
            </a:r>
            <a:endParaRPr lang="en-IN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541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  <p:bldP spid="14" grpId="0"/>
      <p:bldP spid="15" grpId="0"/>
      <p:bldP spid="16" grpId="0"/>
      <p:bldP spid="17" grpId="0"/>
      <p:bldP spid="18" grpId="0" animBg="1"/>
      <p:bldP spid="19" grpId="0" animBg="1"/>
      <p:bldP spid="24" grpId="0" animBg="1"/>
      <p:bldP spid="25" grpId="0" animBg="1"/>
      <p:bldP spid="26" grpId="0"/>
      <p:bldP spid="2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92208"/>
            <a:ext cx="8229600" cy="4389120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and B are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ratio of 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6:11. If each number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increased by 8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the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 becomes 2 : 3.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lang="en-IN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lang="en-IN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B.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a)22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b)34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c)60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d)17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Q.10)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6483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Q.10) </a:t>
            </a:r>
            <a:r>
              <a:rPr lang="en-IN" b="1" dirty="0">
                <a:solidFill>
                  <a:srgbClr val="00B050"/>
                </a:solidFill>
              </a:rPr>
              <a:t>Explanation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685800" y="2240280"/>
                <a:ext cx="3803904" cy="435707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 smtClean="0"/>
                  <a:t> 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 smtClean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 smtClean="0"/>
              </a:p>
              <a:p>
                <a:pPr marL="0" indent="0">
                  <a:buNone/>
                </a:pPr>
                <a:endParaRPr lang="en-IN" dirty="0" smtClean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1" i="1">
                            <a:latin typeface="Cambria Math"/>
                          </a:rPr>
                          <m:t>𝑨</m:t>
                        </m:r>
                      </m:num>
                      <m:den>
                        <m:r>
                          <a:rPr lang="en-IN" sz="3600" b="1" i="1">
                            <a:latin typeface="Cambria Math"/>
                          </a:rPr>
                          <m:t>𝑩</m:t>
                        </m:r>
                      </m:den>
                    </m:f>
                  </m:oMath>
                </a14:m>
                <a:r>
                  <a:rPr lang="en-IN" sz="3600" b="1" dirty="0"/>
                  <a:t> =&gt;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1" i="1">
                            <a:latin typeface="Cambria Math"/>
                          </a:rPr>
                          <m:t>𝟔</m:t>
                        </m:r>
                        <m:r>
                          <a:rPr lang="en-IN" sz="3600" b="1" i="1">
                            <a:latin typeface="Cambria Math"/>
                          </a:rPr>
                          <m:t>𝒙</m:t>
                        </m:r>
                        <m:r>
                          <a:rPr lang="en-IN" sz="3600" b="1" i="1">
                            <a:latin typeface="Cambria Math"/>
                          </a:rPr>
                          <m:t>+</m:t>
                        </m:r>
                        <m:r>
                          <a:rPr lang="en-IN" sz="3600" b="1" i="1">
                            <a:latin typeface="Cambria Math"/>
                          </a:rPr>
                          <m:t>𝟖</m:t>
                        </m:r>
                      </m:num>
                      <m:den>
                        <m:r>
                          <a:rPr lang="en-IN" sz="3600" b="1" i="1">
                            <a:latin typeface="Cambria Math"/>
                          </a:rPr>
                          <m:t>𝟏𝟏</m:t>
                        </m:r>
                        <m:r>
                          <a:rPr lang="en-IN" sz="3600" b="1" i="1">
                            <a:latin typeface="Cambria Math"/>
                          </a:rPr>
                          <m:t>𝒙</m:t>
                        </m:r>
                        <m:r>
                          <a:rPr lang="en-IN" sz="3600" b="1" i="1">
                            <a:latin typeface="Cambria Math"/>
                          </a:rPr>
                          <m:t>+</m:t>
                        </m:r>
                        <m:r>
                          <a:rPr lang="en-IN" sz="3600" b="1" i="1">
                            <a:latin typeface="Cambria Math"/>
                          </a:rPr>
                          <m:t>𝟖</m:t>
                        </m:r>
                      </m:den>
                    </m:f>
                  </m:oMath>
                </a14:m>
                <a:r>
                  <a:rPr lang="en-IN" sz="3600" b="1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1" i="1">
                            <a:latin typeface="Cambria Math"/>
                          </a:rPr>
                          <m:t>𝟐</m:t>
                        </m:r>
                      </m:num>
                      <m:den>
                        <m:r>
                          <a:rPr lang="en-IN" sz="3600" b="1" i="1">
                            <a:latin typeface="Cambria Math"/>
                          </a:rPr>
                          <m:t>𝟑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685800" y="2240280"/>
                <a:ext cx="3803904" cy="4357072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4427984" y="2240280"/>
                <a:ext cx="4464496" cy="44290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b="1" dirty="0" smtClean="0"/>
                  <a:t>Cross multiply the values,</a:t>
                </a:r>
              </a:p>
              <a:p>
                <a:pPr marL="0" indent="0">
                  <a:buNone/>
                </a:pPr>
                <a:r>
                  <a:rPr lang="en-IN" sz="3200" b="1" dirty="0" smtClean="0"/>
                  <a:t>  </a:t>
                </a:r>
                <a:r>
                  <a:rPr lang="en-IN" sz="2800" dirty="0" smtClean="0"/>
                  <a:t>18x + 24 = 22x + 16</a:t>
                </a:r>
              </a:p>
              <a:p>
                <a:pPr marL="0" indent="0">
                  <a:buNone/>
                </a:pPr>
                <a:r>
                  <a:rPr lang="en-IN" sz="2800" dirty="0"/>
                  <a:t>	</a:t>
                </a:r>
                <a:r>
                  <a:rPr lang="en-IN" sz="2800" dirty="0" smtClean="0"/>
                  <a:t>   4x = 8</a:t>
                </a:r>
              </a:p>
              <a:p>
                <a:pPr marL="0" indent="0">
                  <a:buNone/>
                </a:pPr>
                <a:r>
                  <a:rPr lang="en-IN" sz="2800" b="1" dirty="0" smtClean="0">
                    <a:solidFill>
                      <a:srgbClr val="00B050"/>
                    </a:solidFill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IN" sz="2800" b="1" i="0" dirty="0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IN" sz="2800" b="1" i="1" dirty="0" smtClean="0">
                        <a:solidFill>
                          <a:srgbClr val="00B05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IN" sz="2800" b="1" dirty="0" smtClean="0">
                    <a:solidFill>
                      <a:srgbClr val="00B050"/>
                    </a:solidFill>
                  </a:rPr>
                  <a:t> = 2</a:t>
                </a:r>
              </a:p>
              <a:p>
                <a:pPr marL="0" indent="0">
                  <a:buNone/>
                </a:pPr>
                <a:endParaRPr lang="en-IN" sz="2800" b="1" dirty="0" smtClean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IN" sz="2800" b="1" dirty="0" smtClean="0">
                    <a:solidFill>
                      <a:srgbClr val="00B050"/>
                    </a:solidFill>
                  </a:rPr>
                  <a:t>value </a:t>
                </a:r>
                <a:r>
                  <a:rPr lang="en-IN" sz="2800" b="1" dirty="0" smtClean="0">
                    <a:solidFill>
                      <a:srgbClr val="00B050"/>
                    </a:solidFill>
                  </a:rPr>
                  <a:t>of B = </a:t>
                </a:r>
                <a:r>
                  <a:rPr lang="en-IN" sz="2800" b="1" dirty="0" smtClean="0">
                    <a:solidFill>
                      <a:srgbClr val="00B050"/>
                    </a:solidFill>
                  </a:rPr>
                  <a:t>11x</a:t>
                </a:r>
                <a:endParaRPr lang="en-IN" sz="2800" b="1" dirty="0" smtClean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IN" sz="2800" b="1" dirty="0">
                    <a:solidFill>
                      <a:srgbClr val="00B050"/>
                    </a:solidFill>
                  </a:rPr>
                  <a:t>	 </a:t>
                </a:r>
                <a:r>
                  <a:rPr lang="en-IN" sz="2800" b="1" dirty="0" smtClean="0">
                    <a:solidFill>
                      <a:srgbClr val="00B050"/>
                    </a:solidFill>
                  </a:rPr>
                  <a:t>        </a:t>
                </a:r>
                <a:r>
                  <a:rPr lang="en-IN" sz="2800" b="1" dirty="0" smtClean="0">
                    <a:solidFill>
                      <a:srgbClr val="00B050"/>
                    </a:solidFill>
                  </a:rPr>
                  <a:t>= 11(2</a:t>
                </a:r>
                <a:r>
                  <a:rPr lang="en-IN" sz="2800" b="1" dirty="0">
                    <a:solidFill>
                      <a:srgbClr val="00B050"/>
                    </a:solidFill>
                  </a:rPr>
                  <a:t>)</a:t>
                </a:r>
                <a:endParaRPr lang="en-IN" sz="2800" b="1" dirty="0" smtClean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IN" sz="2800" b="1" dirty="0">
                    <a:solidFill>
                      <a:srgbClr val="00B050"/>
                    </a:solidFill>
                  </a:rPr>
                  <a:t>	 </a:t>
                </a:r>
                <a:r>
                  <a:rPr lang="en-IN" sz="2800" b="1" dirty="0" smtClean="0">
                    <a:solidFill>
                      <a:srgbClr val="00B050"/>
                    </a:solidFill>
                  </a:rPr>
                  <a:t>        </a:t>
                </a:r>
                <a:r>
                  <a:rPr lang="en-IN" sz="2800" b="1" dirty="0" smtClean="0">
                    <a:solidFill>
                      <a:srgbClr val="00B050"/>
                    </a:solidFill>
                  </a:rPr>
                  <a:t>= </a:t>
                </a:r>
                <a:r>
                  <a:rPr lang="en-IN" sz="2800" b="1" dirty="0" smtClean="0">
                    <a:solidFill>
                      <a:srgbClr val="00B050"/>
                    </a:solidFill>
                  </a:rPr>
                  <a:t>22</a:t>
                </a:r>
                <a:endParaRPr lang="en-IN" sz="2800" b="1" dirty="0" smtClean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IN" sz="1800" b="1" dirty="0"/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4427984" y="2240280"/>
                <a:ext cx="4464496" cy="4429080"/>
              </a:xfrm>
              <a:blipFill>
                <a:blip r:embed="rId3"/>
                <a:stretch>
                  <a:fillRect l="-2729" t="-11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324457" y="2635681"/>
            <a:ext cx="5760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  A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186644" y="2635681"/>
            <a:ext cx="5760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  B</a:t>
            </a:r>
            <a:endParaRPr lang="en-IN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449805" y="319455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6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2244654" y="319455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11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1449805" y="3636545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  <a:r>
              <a:rPr lang="en-IN" dirty="0" smtClean="0"/>
              <a:t>x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186644" y="36450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11x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1449805" y="435581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2318219" y="435581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1812945" y="3077645"/>
            <a:ext cx="4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812945" y="4278868"/>
            <a:ext cx="4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748393" y="3645060"/>
            <a:ext cx="5760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+8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2874277" y="3641880"/>
            <a:ext cx="5760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+8</a:t>
            </a:r>
            <a:endParaRPr lang="en-IN" dirty="0"/>
          </a:p>
        </p:txBody>
      </p:sp>
      <p:cxnSp>
        <p:nvCxnSpPr>
          <p:cNvPr id="23" name="Straight Arrow Connector 22"/>
          <p:cNvCxnSpPr>
            <a:endCxn id="19" idx="0"/>
          </p:cNvCxnSpPr>
          <p:nvPr/>
        </p:nvCxnSpPr>
        <p:spPr>
          <a:xfrm>
            <a:off x="2606251" y="3379220"/>
            <a:ext cx="556058" cy="2626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1"/>
            <a:endCxn id="18" idx="0"/>
          </p:cNvCxnSpPr>
          <p:nvPr/>
        </p:nvCxnSpPr>
        <p:spPr>
          <a:xfrm flipH="1">
            <a:off x="1036425" y="3379220"/>
            <a:ext cx="413380" cy="2658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8" idx="2"/>
            <a:endCxn id="13" idx="1"/>
          </p:cNvCxnSpPr>
          <p:nvPr/>
        </p:nvCxnSpPr>
        <p:spPr>
          <a:xfrm>
            <a:off x="1036425" y="4014392"/>
            <a:ext cx="413380" cy="52608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9" idx="2"/>
          </p:cNvCxnSpPr>
          <p:nvPr/>
        </p:nvCxnSpPr>
        <p:spPr>
          <a:xfrm flipH="1">
            <a:off x="2609629" y="4011212"/>
            <a:ext cx="552680" cy="4775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556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animBg="1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 animBg="1"/>
      <p:bldP spid="1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Q.10) </a:t>
            </a:r>
            <a:r>
              <a:rPr lang="en-IN" b="1" dirty="0">
                <a:solidFill>
                  <a:srgbClr val="00B050"/>
                </a:solidFill>
              </a:rPr>
              <a:t>Shortcut</a:t>
            </a:r>
            <a:endParaRPr lang="en-IN" dirty="0"/>
          </a:p>
        </p:txBody>
      </p:sp>
      <p:sp>
        <p:nvSpPr>
          <p:cNvPr id="23" name="Content Placeholder 22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4501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14"/>
          </p:nvPr>
        </p:nvSpPr>
        <p:spPr>
          <a:xfrm>
            <a:off x="4283968" y="2340654"/>
            <a:ext cx="4437322" cy="4517346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1135528" y="2285591"/>
            <a:ext cx="602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  A</a:t>
            </a:r>
            <a:endParaRPr lang="en-IN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2313202" y="2285591"/>
            <a:ext cx="60261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 B</a:t>
            </a:r>
            <a:endParaRPr lang="en-IN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449805" y="319455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45750" y="319455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11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1812945" y="3077645"/>
            <a:ext cx="4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443807" y="41490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9752" y="41490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6946" y="4072136"/>
            <a:ext cx="4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28" name="Curved Left Arrow 27"/>
          <p:cNvSpPr/>
          <p:nvPr/>
        </p:nvSpPr>
        <p:spPr>
          <a:xfrm>
            <a:off x="2705790" y="3339255"/>
            <a:ext cx="282034" cy="99449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 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9" name="Curved Left Arrow 28"/>
          <p:cNvSpPr/>
          <p:nvPr/>
        </p:nvSpPr>
        <p:spPr>
          <a:xfrm flipH="1">
            <a:off x="1168704" y="3339254"/>
            <a:ext cx="311506" cy="99449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3528" y="3563886"/>
            <a:ext cx="7698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- 4R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3059832" y="3600865"/>
            <a:ext cx="6480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- </a:t>
            </a:r>
            <a:r>
              <a:rPr lang="en-IN" dirty="0"/>
              <a:t>8</a:t>
            </a:r>
            <a:r>
              <a:rPr lang="en-IN" dirty="0" smtClean="0"/>
              <a:t>R</a:t>
            </a:r>
            <a:endParaRPr lang="en-IN" dirty="0"/>
          </a:p>
        </p:txBody>
      </p:sp>
      <p:sp>
        <p:nvSpPr>
          <p:cNvPr id="18" name="Content Placeholder 22"/>
          <p:cNvSpPr txBox="1">
            <a:spLocks/>
          </p:cNvSpPr>
          <p:nvPr/>
        </p:nvSpPr>
        <p:spPr>
          <a:xfrm>
            <a:off x="4917386" y="3532021"/>
            <a:ext cx="3803904" cy="3877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IN" dirty="0" smtClean="0"/>
              <a:t> </a:t>
            </a:r>
          </a:p>
          <a:p>
            <a:pPr marL="0" indent="0">
              <a:buFont typeface="Wingdings" pitchFamily="2" charset="2"/>
              <a:buNone/>
            </a:pPr>
            <a:endParaRPr lang="en-IN" dirty="0" smtClean="0"/>
          </a:p>
          <a:p>
            <a:pPr marL="0" indent="0">
              <a:buFont typeface="Wingdings" pitchFamily="2" charset="2"/>
              <a:buNone/>
            </a:pPr>
            <a:endParaRPr lang="en-IN" dirty="0" smtClean="0"/>
          </a:p>
          <a:p>
            <a:pPr marL="0" indent="0">
              <a:buFont typeface="Wingdings" pitchFamily="2" charset="2"/>
              <a:buNone/>
            </a:pPr>
            <a:endParaRPr lang="en-IN" dirty="0" smtClean="0"/>
          </a:p>
          <a:p>
            <a:pPr marL="0" indent="0">
              <a:buFont typeface="Wingdings" pitchFamily="2" charset="2"/>
              <a:buNone/>
            </a:pPr>
            <a:endParaRPr lang="en-IN" dirty="0" smtClean="0"/>
          </a:p>
          <a:p>
            <a:pPr marL="0" indent="0">
              <a:buFont typeface="Wingdings" pitchFamily="2" charset="2"/>
              <a:buNone/>
            </a:pPr>
            <a:endParaRPr lang="en-IN" dirty="0" smtClean="0"/>
          </a:p>
          <a:p>
            <a:pPr marL="0" indent="0">
              <a:buFont typeface="Wingdings" pitchFamily="2" charset="2"/>
              <a:buNone/>
            </a:pP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5251065" y="2204864"/>
            <a:ext cx="7401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  A</a:t>
            </a:r>
            <a:endParaRPr lang="en-IN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409365" y="2204864"/>
            <a:ext cx="663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563353" y="276373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9298" y="276373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11</a:t>
            </a:r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6018359" y="2646828"/>
            <a:ext cx="4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2800" b="1" dirty="0" smtClean="0"/>
              <a:t>: </a:t>
            </a:r>
            <a:endParaRPr lang="en-IN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5557355" y="3718263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10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6453300" y="3718263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15</a:t>
            </a:r>
            <a:endParaRPr lang="en-IN" dirty="0"/>
          </a:p>
        </p:txBody>
      </p:sp>
      <p:sp>
        <p:nvSpPr>
          <p:cNvPr id="36" name="TextBox 35"/>
          <p:cNvSpPr txBox="1"/>
          <p:nvPr/>
        </p:nvSpPr>
        <p:spPr>
          <a:xfrm>
            <a:off x="6018359" y="3641319"/>
            <a:ext cx="4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37" name="Curved Left Arrow 36"/>
          <p:cNvSpPr/>
          <p:nvPr/>
        </p:nvSpPr>
        <p:spPr>
          <a:xfrm>
            <a:off x="6819338" y="2908438"/>
            <a:ext cx="282034" cy="99449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 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8" name="Curved Left Arrow 37"/>
          <p:cNvSpPr/>
          <p:nvPr/>
        </p:nvSpPr>
        <p:spPr>
          <a:xfrm flipH="1">
            <a:off x="5282252" y="2908437"/>
            <a:ext cx="311506" cy="99449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37076" y="3133069"/>
            <a:ext cx="7698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dirty="0" smtClean="0"/>
              <a:t> 4R</a:t>
            </a:r>
            <a:endParaRPr lang="en-IN" dirty="0"/>
          </a:p>
        </p:txBody>
      </p:sp>
      <p:sp>
        <p:nvSpPr>
          <p:cNvPr id="40" name="TextBox 39"/>
          <p:cNvSpPr txBox="1"/>
          <p:nvPr/>
        </p:nvSpPr>
        <p:spPr>
          <a:xfrm>
            <a:off x="7173380" y="3170048"/>
            <a:ext cx="6480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 4R</a:t>
            </a:r>
            <a:endParaRPr lang="en-IN" dirty="0"/>
          </a:p>
        </p:txBody>
      </p:sp>
      <p:sp>
        <p:nvSpPr>
          <p:cNvPr id="3" name="Block Arc 2"/>
          <p:cNvSpPr/>
          <p:nvPr/>
        </p:nvSpPr>
        <p:spPr>
          <a:xfrm>
            <a:off x="1491318" y="2972922"/>
            <a:ext cx="1096812" cy="374207"/>
          </a:xfrm>
          <a:prstGeom prst="blockArc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783557" y="2643547"/>
            <a:ext cx="4523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 5</a:t>
            </a:r>
            <a:endParaRPr lang="en-IN" dirty="0"/>
          </a:p>
        </p:txBody>
      </p:sp>
      <p:sp>
        <p:nvSpPr>
          <p:cNvPr id="42" name="Block Arc 41"/>
          <p:cNvSpPr/>
          <p:nvPr/>
        </p:nvSpPr>
        <p:spPr>
          <a:xfrm rot="10800000">
            <a:off x="1491318" y="4333746"/>
            <a:ext cx="1096812" cy="374207"/>
          </a:xfrm>
          <a:prstGeom prst="blockArc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816051" y="4705098"/>
            <a:ext cx="4523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 1</a:t>
            </a:r>
            <a:endParaRPr lang="en-IN" dirty="0"/>
          </a:p>
        </p:txBody>
      </p:sp>
      <p:cxnSp>
        <p:nvCxnSpPr>
          <p:cNvPr id="5" name="Straight Arrow Connector 4"/>
          <p:cNvCxnSpPr>
            <a:stCxn id="41" idx="2"/>
          </p:cNvCxnSpPr>
          <p:nvPr/>
        </p:nvCxnSpPr>
        <p:spPr>
          <a:xfrm>
            <a:off x="2009729" y="3012879"/>
            <a:ext cx="474039" cy="113620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1619672" y="3012879"/>
            <a:ext cx="376103" cy="113620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1531572" y="3451570"/>
            <a:ext cx="0" cy="769859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2586820" y="3451569"/>
            <a:ext cx="0" cy="769859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92083" y="4358113"/>
            <a:ext cx="14682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4R = </a:t>
            </a:r>
            <a:r>
              <a:rPr lang="en-IN" sz="2800" b="1" dirty="0" smtClean="0"/>
              <a:t>8</a:t>
            </a:r>
            <a:endParaRPr lang="en-IN" sz="2800" b="1" dirty="0"/>
          </a:p>
        </p:txBody>
      </p:sp>
      <p:sp>
        <p:nvSpPr>
          <p:cNvPr id="46" name="Rectangle 45"/>
          <p:cNvSpPr/>
          <p:nvPr/>
        </p:nvSpPr>
        <p:spPr>
          <a:xfrm>
            <a:off x="5492082" y="4855066"/>
            <a:ext cx="12552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1</a:t>
            </a:r>
            <a:r>
              <a:rPr lang="en-IN" sz="2800" b="1" dirty="0" smtClean="0"/>
              <a:t>R </a:t>
            </a:r>
            <a:r>
              <a:rPr lang="en-IN" sz="2800" b="1" dirty="0"/>
              <a:t>= 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48700" y="5373216"/>
            <a:ext cx="41725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>
                <a:solidFill>
                  <a:srgbClr val="00B050"/>
                </a:solidFill>
              </a:rPr>
              <a:t>value </a:t>
            </a:r>
            <a:r>
              <a:rPr lang="en-IN" sz="2800" b="1" dirty="0" smtClean="0">
                <a:solidFill>
                  <a:srgbClr val="00B050"/>
                </a:solidFill>
              </a:rPr>
              <a:t>of B = </a:t>
            </a:r>
            <a:r>
              <a:rPr lang="en-IN" sz="2800" b="1" dirty="0" smtClean="0">
                <a:solidFill>
                  <a:srgbClr val="00B050"/>
                </a:solidFill>
              </a:rPr>
              <a:t>11R     </a:t>
            </a:r>
            <a:endParaRPr lang="en-IN" sz="2800" b="1" dirty="0">
              <a:solidFill>
                <a:srgbClr val="00B05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421640" y="1992932"/>
            <a:ext cx="2962228" cy="397766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708470" y="2031892"/>
            <a:ext cx="2855418" cy="389974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970011" y="2723772"/>
            <a:ext cx="187537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Old Value--</a:t>
            </a:r>
            <a:r>
              <a:rPr lang="en-IN" b="1" dirty="0" smtClean="0">
                <a:solidFill>
                  <a:srgbClr val="FF0000"/>
                </a:solidFill>
                <a:sym typeface="Wingdings" pitchFamily="2" charset="2"/>
              </a:rPr>
              <a:t>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970011" y="3735326"/>
            <a:ext cx="19504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New Value--</a:t>
            </a:r>
            <a:r>
              <a:rPr lang="en-IN" b="1" dirty="0" smtClean="0">
                <a:solidFill>
                  <a:srgbClr val="FF0000"/>
                </a:solidFill>
                <a:sym typeface="Wingdings" pitchFamily="2" charset="2"/>
              </a:rPr>
              <a:t>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548701" y="5790572"/>
            <a:ext cx="417258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00B050"/>
                </a:solidFill>
              </a:rPr>
              <a:t>	</a:t>
            </a:r>
            <a:r>
              <a:rPr lang="en-IN" sz="2800" b="1" dirty="0" smtClean="0">
                <a:solidFill>
                  <a:srgbClr val="00B050"/>
                </a:solidFill>
              </a:rPr>
              <a:t>	        = </a:t>
            </a:r>
            <a:r>
              <a:rPr lang="en-IN" sz="2800" b="1" dirty="0" smtClean="0">
                <a:solidFill>
                  <a:srgbClr val="00B050"/>
                </a:solidFill>
              </a:rPr>
              <a:t>11(2</a:t>
            </a:r>
            <a:r>
              <a:rPr lang="en-IN" sz="2800" b="1" dirty="0" smtClean="0">
                <a:solidFill>
                  <a:srgbClr val="00B050"/>
                </a:solidFill>
              </a:rPr>
              <a:t>)</a:t>
            </a:r>
          </a:p>
          <a:p>
            <a:r>
              <a:rPr lang="en-IN" sz="2800" b="1" dirty="0">
                <a:solidFill>
                  <a:srgbClr val="00B050"/>
                </a:solidFill>
              </a:rPr>
              <a:t>	</a:t>
            </a:r>
            <a:r>
              <a:rPr lang="en-IN" sz="2800" b="1" dirty="0" smtClean="0">
                <a:solidFill>
                  <a:srgbClr val="00B050"/>
                </a:solidFill>
              </a:rPr>
              <a:t>	        </a:t>
            </a:r>
            <a:r>
              <a:rPr lang="en-IN" sz="2800" b="1" smtClean="0">
                <a:solidFill>
                  <a:srgbClr val="00B050"/>
                </a:solidFill>
              </a:rPr>
              <a:t>= </a:t>
            </a:r>
            <a:r>
              <a:rPr lang="en-IN" sz="2800" b="1" smtClean="0">
                <a:solidFill>
                  <a:srgbClr val="00B050"/>
                </a:solidFill>
              </a:rPr>
              <a:t>22</a:t>
            </a:r>
            <a:endParaRPr lang="en-IN" sz="2800" b="1" dirty="0" smtClean="0">
              <a:solidFill>
                <a:srgbClr val="00B050"/>
              </a:solidFill>
            </a:endParaRPr>
          </a:p>
          <a:p>
            <a:r>
              <a:rPr lang="en-IN" sz="2800" b="1" dirty="0" smtClean="0">
                <a:solidFill>
                  <a:srgbClr val="00B050"/>
                </a:solidFill>
              </a:rPr>
              <a:t>     </a:t>
            </a:r>
            <a:endParaRPr lang="en-IN" sz="2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374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/>
      <p:bldP spid="17" grpId="0"/>
      <p:bldP spid="25" grpId="0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19" grpId="0" animBg="1"/>
      <p:bldP spid="20" grpId="0" animBg="1"/>
      <p:bldP spid="21" grpId="0"/>
      <p:bldP spid="22" grpId="0"/>
      <p:bldP spid="33" grpId="0"/>
      <p:bldP spid="34" grpId="0"/>
      <p:bldP spid="35" grpId="0"/>
      <p:bldP spid="36" grpId="0"/>
      <p:bldP spid="37" grpId="0" animBg="1"/>
      <p:bldP spid="38" grpId="0" animBg="1"/>
      <p:bldP spid="39" grpId="0" animBg="1"/>
      <p:bldP spid="40" grpId="0" animBg="1"/>
      <p:bldP spid="3" grpId="0" animBg="1"/>
      <p:bldP spid="41" grpId="0" animBg="1"/>
      <p:bldP spid="42" grpId="0" animBg="1"/>
      <p:bldP spid="43" grpId="0" animBg="1"/>
      <p:bldP spid="6" grpId="0"/>
      <p:bldP spid="46" grpId="0"/>
      <p:bldP spid="47" grpId="0"/>
      <p:bldP spid="55" grpId="0" animBg="1"/>
      <p:bldP spid="56" grpId="0" animBg="1"/>
      <p:bldP spid="5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 algn="just">
              <a:buNone/>
            </a:pPr>
            <a:r>
              <a:rPr lang="en-US" sz="3200" b="1" dirty="0" smtClean="0"/>
              <a:t>	The </a:t>
            </a:r>
            <a:r>
              <a:rPr lang="en-US" sz="3200" b="1" dirty="0"/>
              <a:t>present age of </a:t>
            </a:r>
            <a:r>
              <a:rPr lang="en-US" sz="3200" b="1" dirty="0" smtClean="0"/>
              <a:t>A and B </a:t>
            </a:r>
            <a:r>
              <a:rPr lang="en-US" sz="3200" b="1" dirty="0"/>
              <a:t>are in the ratio of  </a:t>
            </a:r>
            <a:r>
              <a:rPr lang="en-US" sz="3200" b="1" dirty="0" smtClean="0"/>
              <a:t>2 : 5</a:t>
            </a:r>
            <a:r>
              <a:rPr lang="en-US" sz="3200" b="1" dirty="0"/>
              <a:t>. After </a:t>
            </a:r>
            <a:r>
              <a:rPr lang="en-US" sz="3200" b="1" dirty="0" smtClean="0"/>
              <a:t>8 </a:t>
            </a:r>
            <a:r>
              <a:rPr lang="en-US" sz="3200" b="1" dirty="0"/>
              <a:t>years, the ratio of their ages will become </a:t>
            </a:r>
            <a:r>
              <a:rPr lang="en-US" sz="3200" b="1" dirty="0" smtClean="0"/>
              <a:t>1 : 2. </a:t>
            </a:r>
            <a:r>
              <a:rPr lang="en-US" sz="3200" b="1" dirty="0"/>
              <a:t>Find the </a:t>
            </a:r>
            <a:r>
              <a:rPr lang="en-IN" sz="3200" b="1" dirty="0" smtClean="0"/>
              <a:t>present age of B.</a:t>
            </a:r>
          </a:p>
          <a:p>
            <a:pPr marL="0" lvl="0" indent="0" algn="just">
              <a:buNone/>
            </a:pPr>
            <a:endParaRPr lang="en-IN" sz="3200" b="1" dirty="0"/>
          </a:p>
          <a:p>
            <a:pPr marL="0" indent="0" algn="just">
              <a:buNone/>
            </a:pPr>
            <a:r>
              <a:rPr lang="en-US" sz="3200" b="1" dirty="0" smtClean="0"/>
              <a:t>a)45 years</a:t>
            </a:r>
            <a:r>
              <a:rPr lang="en-US" sz="3200" b="1" dirty="0"/>
              <a:t>			</a:t>
            </a:r>
            <a:r>
              <a:rPr lang="en-US" sz="3200" b="1" dirty="0" smtClean="0"/>
              <a:t>	b)50</a:t>
            </a:r>
            <a:r>
              <a:rPr lang="en-US" sz="3200" b="1" dirty="0"/>
              <a:t>	</a:t>
            </a:r>
            <a:r>
              <a:rPr lang="en-US" sz="3200" b="1" dirty="0" smtClean="0"/>
              <a:t>years</a:t>
            </a:r>
            <a:r>
              <a:rPr lang="en-US" sz="3200" b="1" dirty="0"/>
              <a:t>		</a:t>
            </a:r>
            <a:endParaRPr lang="en-US" sz="3200" b="1" dirty="0" smtClean="0"/>
          </a:p>
          <a:p>
            <a:pPr marL="0" indent="0" algn="just">
              <a:buNone/>
            </a:pPr>
            <a:r>
              <a:rPr lang="en-US" sz="3200" b="1" dirty="0" smtClean="0"/>
              <a:t>c)40</a:t>
            </a:r>
            <a:r>
              <a:rPr lang="en-US" sz="3200" b="1" dirty="0"/>
              <a:t> </a:t>
            </a:r>
            <a:r>
              <a:rPr lang="en-US" sz="3200" b="1" dirty="0" smtClean="0"/>
              <a:t>years </a:t>
            </a:r>
            <a:r>
              <a:rPr lang="en-US" sz="3200" b="1" dirty="0"/>
              <a:t>		</a:t>
            </a:r>
            <a:r>
              <a:rPr lang="en-US" sz="3200" b="1" dirty="0" smtClean="0"/>
              <a:t>		d)60 </a:t>
            </a:r>
            <a:r>
              <a:rPr lang="en-US" sz="3200" b="1" dirty="0"/>
              <a:t>years</a:t>
            </a:r>
            <a:endParaRPr lang="en-IN" sz="32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/>
              <a:t>Q.11)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08968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Q.11) </a:t>
            </a:r>
            <a:r>
              <a:rPr lang="en-IN" b="1" dirty="0">
                <a:solidFill>
                  <a:srgbClr val="00B050"/>
                </a:solidFill>
              </a:rPr>
              <a:t>Explanation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4645151" y="2240280"/>
                <a:ext cx="3803904" cy="421305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1" i="1" smtClean="0">
                            <a:latin typeface="Cambria Math"/>
                          </a:rPr>
                          <m:t>𝑨</m:t>
                        </m:r>
                      </m:num>
                      <m:den>
                        <m:r>
                          <a:rPr lang="en-IN" sz="3600" b="1" i="1" smtClean="0">
                            <a:latin typeface="Cambria Math"/>
                          </a:rPr>
                          <m:t>𝑩</m:t>
                        </m:r>
                      </m:den>
                    </m:f>
                  </m:oMath>
                </a14:m>
                <a:r>
                  <a:rPr lang="en-IN" sz="3600" b="1" dirty="0" smtClean="0"/>
                  <a:t> =&gt;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1" i="1" smtClean="0">
                            <a:latin typeface="Cambria Math"/>
                          </a:rPr>
                          <m:t>𝟐</m:t>
                        </m:r>
                        <m:r>
                          <a:rPr lang="en-IN" sz="3600" b="1" i="1" smtClean="0">
                            <a:latin typeface="Cambria Math"/>
                          </a:rPr>
                          <m:t>𝒙</m:t>
                        </m:r>
                        <m:r>
                          <a:rPr lang="en-IN" sz="3600" b="1" i="1" smtClean="0">
                            <a:latin typeface="Cambria Math"/>
                          </a:rPr>
                          <m:t>+</m:t>
                        </m:r>
                        <m:r>
                          <a:rPr lang="en-IN" sz="3600" b="1" i="1" smtClean="0">
                            <a:latin typeface="Cambria Math"/>
                          </a:rPr>
                          <m:t>𝟖</m:t>
                        </m:r>
                      </m:num>
                      <m:den>
                        <m:r>
                          <a:rPr lang="en-IN" sz="3600" b="1" i="1" smtClean="0">
                            <a:latin typeface="Cambria Math"/>
                          </a:rPr>
                          <m:t>𝟓</m:t>
                        </m:r>
                        <m:r>
                          <a:rPr lang="en-IN" sz="3600" b="1" i="1" smtClean="0">
                            <a:latin typeface="Cambria Math"/>
                          </a:rPr>
                          <m:t>𝒙</m:t>
                        </m:r>
                        <m:r>
                          <a:rPr lang="en-IN" sz="3600" b="1" i="1" smtClean="0">
                            <a:latin typeface="Cambria Math"/>
                          </a:rPr>
                          <m:t>+</m:t>
                        </m:r>
                        <m:r>
                          <a:rPr lang="en-IN" sz="3600" b="1" i="1" smtClean="0">
                            <a:latin typeface="Cambria Math"/>
                          </a:rPr>
                          <m:t>𝟖</m:t>
                        </m:r>
                      </m:den>
                    </m:f>
                  </m:oMath>
                </a14:m>
                <a:r>
                  <a:rPr lang="en-IN" sz="3600" b="1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IN" sz="3600" b="1" i="1" smtClean="0"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endParaRPr lang="en-IN" b="1" dirty="0" smtClean="0"/>
              </a:p>
              <a:p>
                <a:pPr marL="0" indent="0">
                  <a:buNone/>
                </a:pPr>
                <a:endParaRPr lang="en-IN" b="1" dirty="0"/>
              </a:p>
              <a:p>
                <a:pPr marL="0" indent="0">
                  <a:buNone/>
                </a:pPr>
                <a:r>
                  <a:rPr lang="en-IN" sz="1800" b="1" dirty="0" smtClean="0"/>
                  <a:t>Cross multiply the values,</a:t>
                </a:r>
              </a:p>
              <a:p>
                <a:pPr marL="0" indent="0">
                  <a:buNone/>
                </a:pPr>
                <a:r>
                  <a:rPr lang="en-IN" b="1" dirty="0" smtClean="0"/>
                  <a:t>  </a:t>
                </a:r>
                <a:r>
                  <a:rPr lang="en-IN" dirty="0" smtClean="0"/>
                  <a:t>4x + 16= 5x + 8 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smtClean="0"/>
                  <a:t>   </a:t>
                </a:r>
                <a14:m>
                  <m:oMath xmlns:m="http://schemas.openxmlformats.org/officeDocument/2006/math">
                    <m:r>
                      <a:rPr lang="en-IN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IN" dirty="0"/>
                  <a:t> = 8</a:t>
                </a:r>
              </a:p>
              <a:p>
                <a:pPr marL="0" indent="0">
                  <a:buNone/>
                </a:pPr>
                <a:endParaRPr lang="en-IN" dirty="0" smtClean="0"/>
              </a:p>
              <a:p>
                <a:pPr marL="0" indent="0">
                  <a:buNone/>
                </a:pPr>
                <a:r>
                  <a:rPr lang="en-IN" dirty="0"/>
                  <a:t>B</a:t>
                </a:r>
                <a:r>
                  <a:rPr lang="en-IN" dirty="0" smtClean="0"/>
                  <a:t> = </a:t>
                </a:r>
                <a:r>
                  <a:rPr lang="en-IN" dirty="0"/>
                  <a:t>5</a:t>
                </a:r>
                <a:r>
                  <a:rPr lang="en-IN" dirty="0" smtClean="0"/>
                  <a:t>x =&gt; 5(8) = </a:t>
                </a:r>
                <a:r>
                  <a:rPr lang="en-IN" b="1" dirty="0" smtClean="0">
                    <a:solidFill>
                      <a:srgbClr val="00B050"/>
                    </a:solidFill>
                  </a:rPr>
                  <a:t>40 years</a:t>
                </a:r>
              </a:p>
              <a:p>
                <a:pPr marL="0" indent="0">
                  <a:buNone/>
                </a:pPr>
                <a:endParaRPr lang="en-IN" sz="1800" b="1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4645151" y="2240280"/>
                <a:ext cx="3803904" cy="4213056"/>
              </a:xfrm>
              <a:blipFill rotWithShape="1">
                <a:blip r:embed="rId2"/>
                <a:stretch>
                  <a:fillRect l="-24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324457" y="2635681"/>
            <a:ext cx="5760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  A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186644" y="2636912"/>
            <a:ext cx="5760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  B</a:t>
            </a:r>
            <a:endParaRPr lang="en-IN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449805" y="319455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2345750" y="319455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432" y="3636545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r>
              <a:rPr lang="en-IN" dirty="0" smtClean="0"/>
              <a:t>x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345750" y="3636545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  <a:r>
              <a:rPr lang="en-IN" dirty="0" smtClean="0"/>
              <a:t>x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1449805" y="435581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8219" y="435581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2945" y="3077645"/>
            <a:ext cx="4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812945" y="4278868"/>
            <a:ext cx="4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748393" y="3645060"/>
            <a:ext cx="5760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dirty="0" smtClean="0"/>
              <a:t>+ 8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2874277" y="3641880"/>
            <a:ext cx="5760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dirty="0" smtClean="0"/>
              <a:t>+ 8</a:t>
            </a:r>
            <a:endParaRPr lang="en-IN" dirty="0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2726798" y="3386169"/>
            <a:ext cx="556058" cy="2626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1"/>
            <a:endCxn id="18" idx="0"/>
          </p:cNvCxnSpPr>
          <p:nvPr/>
        </p:nvCxnSpPr>
        <p:spPr>
          <a:xfrm flipH="1">
            <a:off x="1036425" y="3379220"/>
            <a:ext cx="413380" cy="2658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8" idx="2"/>
            <a:endCxn id="13" idx="1"/>
          </p:cNvCxnSpPr>
          <p:nvPr/>
        </p:nvCxnSpPr>
        <p:spPr>
          <a:xfrm>
            <a:off x="1036425" y="4014392"/>
            <a:ext cx="413380" cy="52608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9" idx="2"/>
          </p:cNvCxnSpPr>
          <p:nvPr/>
        </p:nvCxnSpPr>
        <p:spPr>
          <a:xfrm flipH="1">
            <a:off x="2609629" y="4011212"/>
            <a:ext cx="552680" cy="4775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894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Q.11) </a:t>
            </a:r>
            <a:r>
              <a:rPr lang="en-IN" b="1" dirty="0">
                <a:solidFill>
                  <a:srgbClr val="00B050"/>
                </a:solidFill>
              </a:rPr>
              <a:t>Shortcut</a:t>
            </a:r>
            <a:endParaRPr lang="en-IN" dirty="0"/>
          </a:p>
        </p:txBody>
      </p:sp>
      <p:sp>
        <p:nvSpPr>
          <p:cNvPr id="23" name="Content Placeholder 22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4501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1135528" y="2285591"/>
            <a:ext cx="602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  A</a:t>
            </a:r>
            <a:endParaRPr lang="en-IN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2345750" y="2285591"/>
            <a:ext cx="6600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 B</a:t>
            </a:r>
            <a:endParaRPr lang="en-IN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449805" y="319455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45750" y="319455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2945" y="3077645"/>
            <a:ext cx="4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443807" y="41490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9752" y="41490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6946" y="4072136"/>
            <a:ext cx="4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28" name="Curved Left Arrow 27"/>
          <p:cNvSpPr/>
          <p:nvPr/>
        </p:nvSpPr>
        <p:spPr>
          <a:xfrm>
            <a:off x="2705790" y="3339255"/>
            <a:ext cx="282034" cy="99449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 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9" name="Curved Left Arrow 28"/>
          <p:cNvSpPr/>
          <p:nvPr/>
        </p:nvSpPr>
        <p:spPr>
          <a:xfrm flipH="1">
            <a:off x="1168704" y="3339254"/>
            <a:ext cx="311506" cy="99449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3528" y="3563886"/>
            <a:ext cx="7698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- 1R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3059832" y="3600865"/>
            <a:ext cx="6480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- 3R</a:t>
            </a:r>
            <a:endParaRPr lang="en-IN" dirty="0"/>
          </a:p>
        </p:txBody>
      </p:sp>
      <p:sp>
        <p:nvSpPr>
          <p:cNvPr id="18" name="Content Placeholder 22"/>
          <p:cNvSpPr txBox="1">
            <a:spLocks/>
          </p:cNvSpPr>
          <p:nvPr/>
        </p:nvSpPr>
        <p:spPr>
          <a:xfrm>
            <a:off x="4917386" y="3532021"/>
            <a:ext cx="3803904" cy="3877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IN" dirty="0" smtClean="0"/>
              <a:t> </a:t>
            </a:r>
          </a:p>
          <a:p>
            <a:pPr marL="0" indent="0">
              <a:buFont typeface="Wingdings" pitchFamily="2" charset="2"/>
              <a:buNone/>
            </a:pPr>
            <a:endParaRPr lang="en-IN" dirty="0" smtClean="0"/>
          </a:p>
          <a:p>
            <a:pPr marL="0" indent="0">
              <a:buFont typeface="Wingdings" pitchFamily="2" charset="2"/>
              <a:buNone/>
            </a:pPr>
            <a:endParaRPr lang="en-IN" dirty="0" smtClean="0"/>
          </a:p>
          <a:p>
            <a:pPr marL="0" indent="0">
              <a:buFont typeface="Wingdings" pitchFamily="2" charset="2"/>
              <a:buNone/>
            </a:pPr>
            <a:endParaRPr lang="en-IN" dirty="0" smtClean="0"/>
          </a:p>
          <a:p>
            <a:pPr marL="0" indent="0">
              <a:buFont typeface="Wingdings" pitchFamily="2" charset="2"/>
              <a:buNone/>
            </a:pPr>
            <a:endParaRPr lang="en-IN" dirty="0" smtClean="0"/>
          </a:p>
          <a:p>
            <a:pPr marL="0" indent="0">
              <a:buFont typeface="Wingdings" pitchFamily="2" charset="2"/>
              <a:buNone/>
            </a:pPr>
            <a:endParaRPr lang="en-IN" dirty="0" smtClean="0"/>
          </a:p>
          <a:p>
            <a:pPr marL="0" indent="0">
              <a:buFont typeface="Wingdings" pitchFamily="2" charset="2"/>
              <a:buNone/>
            </a:pP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5251065" y="2635681"/>
            <a:ext cx="7401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  A</a:t>
            </a:r>
            <a:endParaRPr lang="en-IN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409365" y="2635681"/>
            <a:ext cx="663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5563353" y="319455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9298" y="319455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6493" y="3077645"/>
            <a:ext cx="4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5557355" y="41490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6453300" y="41490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6</a:t>
            </a:r>
            <a:endParaRPr lang="en-IN" dirty="0"/>
          </a:p>
        </p:txBody>
      </p:sp>
      <p:sp>
        <p:nvSpPr>
          <p:cNvPr id="36" name="TextBox 35"/>
          <p:cNvSpPr txBox="1"/>
          <p:nvPr/>
        </p:nvSpPr>
        <p:spPr>
          <a:xfrm>
            <a:off x="5920494" y="4072136"/>
            <a:ext cx="4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37" name="Curved Left Arrow 36"/>
          <p:cNvSpPr/>
          <p:nvPr/>
        </p:nvSpPr>
        <p:spPr>
          <a:xfrm>
            <a:off x="6819338" y="3339255"/>
            <a:ext cx="282034" cy="99449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 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8" name="Curved Left Arrow 37"/>
          <p:cNvSpPr/>
          <p:nvPr/>
        </p:nvSpPr>
        <p:spPr>
          <a:xfrm flipH="1">
            <a:off x="5282252" y="3339254"/>
            <a:ext cx="311506" cy="99449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37076" y="3563886"/>
            <a:ext cx="7698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dirty="0" smtClean="0"/>
              <a:t> 1R</a:t>
            </a:r>
            <a:endParaRPr lang="en-IN" dirty="0"/>
          </a:p>
        </p:txBody>
      </p:sp>
      <p:sp>
        <p:nvSpPr>
          <p:cNvPr id="40" name="TextBox 39"/>
          <p:cNvSpPr txBox="1"/>
          <p:nvPr/>
        </p:nvSpPr>
        <p:spPr>
          <a:xfrm>
            <a:off x="7173380" y="3600865"/>
            <a:ext cx="6480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 1R</a:t>
            </a:r>
            <a:endParaRPr lang="en-IN" dirty="0"/>
          </a:p>
        </p:txBody>
      </p:sp>
      <p:sp>
        <p:nvSpPr>
          <p:cNvPr id="3" name="Block Arc 2"/>
          <p:cNvSpPr/>
          <p:nvPr/>
        </p:nvSpPr>
        <p:spPr>
          <a:xfrm>
            <a:off x="1491318" y="2972922"/>
            <a:ext cx="1096812" cy="374207"/>
          </a:xfrm>
          <a:prstGeom prst="blockArc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783557" y="2643547"/>
            <a:ext cx="4523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 3</a:t>
            </a:r>
            <a:endParaRPr lang="en-IN" dirty="0"/>
          </a:p>
        </p:txBody>
      </p:sp>
      <p:sp>
        <p:nvSpPr>
          <p:cNvPr id="42" name="Block Arc 41"/>
          <p:cNvSpPr/>
          <p:nvPr/>
        </p:nvSpPr>
        <p:spPr>
          <a:xfrm rot="10800000">
            <a:off x="1491318" y="4333746"/>
            <a:ext cx="1096812" cy="374207"/>
          </a:xfrm>
          <a:prstGeom prst="blockArc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816051" y="4705098"/>
            <a:ext cx="4523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 1</a:t>
            </a:r>
            <a:endParaRPr lang="en-IN" dirty="0"/>
          </a:p>
        </p:txBody>
      </p:sp>
      <p:cxnSp>
        <p:nvCxnSpPr>
          <p:cNvPr id="5" name="Straight Arrow Connector 4"/>
          <p:cNvCxnSpPr>
            <a:stCxn id="41" idx="2"/>
          </p:cNvCxnSpPr>
          <p:nvPr/>
        </p:nvCxnSpPr>
        <p:spPr>
          <a:xfrm>
            <a:off x="2009729" y="3012879"/>
            <a:ext cx="474039" cy="113620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1619672" y="3012879"/>
            <a:ext cx="376103" cy="113620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1531572" y="3451570"/>
            <a:ext cx="0" cy="769859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2586820" y="3451569"/>
            <a:ext cx="0" cy="769859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206960" y="4889764"/>
            <a:ext cx="3514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1R = 8</a:t>
            </a:r>
          </a:p>
          <a:p>
            <a:r>
              <a:rPr lang="en-IN" sz="2400" b="1" dirty="0" smtClean="0"/>
              <a:t>B’s age = 5(8)</a:t>
            </a:r>
          </a:p>
          <a:p>
            <a:r>
              <a:rPr lang="en-IN" sz="2400" b="1" dirty="0"/>
              <a:t>	 </a:t>
            </a:r>
            <a:r>
              <a:rPr lang="en-IN" sz="2400" b="1" dirty="0" smtClean="0"/>
              <a:t> </a:t>
            </a:r>
            <a:r>
              <a:rPr lang="en-IN" sz="2400" b="1" dirty="0" smtClean="0">
                <a:solidFill>
                  <a:srgbClr val="00B050"/>
                </a:solidFill>
              </a:rPr>
              <a:t>= 40 years</a:t>
            </a:r>
            <a:endParaRPr lang="en-IN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80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/>
      <p:bldP spid="17" grpId="0"/>
      <p:bldP spid="25" grpId="0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19" grpId="0" animBg="1"/>
      <p:bldP spid="20" grpId="0" animBg="1"/>
      <p:bldP spid="21" grpId="0"/>
      <p:bldP spid="22" grpId="0"/>
      <p:bldP spid="33" grpId="0"/>
      <p:bldP spid="34" grpId="0"/>
      <p:bldP spid="35" grpId="0"/>
      <p:bldP spid="36" grpId="0"/>
      <p:bldP spid="37" grpId="0" animBg="1"/>
      <p:bldP spid="38" grpId="0" animBg="1"/>
      <p:bldP spid="39" grpId="0" animBg="1"/>
      <p:bldP spid="40" grpId="0" animBg="1"/>
      <p:bldP spid="3" grpId="0" animBg="1"/>
      <p:bldP spid="41" grpId="0" animBg="1"/>
      <p:bldP spid="42" grpId="0" animBg="1"/>
      <p:bldP spid="43" grpId="0" animBg="1"/>
      <p:bldP spid="1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7977209" cy="4204989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mixture contains milk and water in the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5:4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If  4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liters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water is added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mixture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ratio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becomes 9:8.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initial amount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water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mixture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a)32 liters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b)34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liters</a:t>
            </a: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c)36 liters	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d)38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Q.11)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1634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Q.11) </a:t>
            </a:r>
            <a:r>
              <a:rPr lang="en-IN" b="1" dirty="0">
                <a:solidFill>
                  <a:srgbClr val="00B050"/>
                </a:solidFill>
              </a:rPr>
              <a:t>Explanation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quarter" idx="14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200" b="1" i="1" smtClean="0">
                            <a:latin typeface="Cambria Math"/>
                          </a:rPr>
                          <m:t>𝑨</m:t>
                        </m:r>
                      </m:num>
                      <m:den>
                        <m:r>
                          <a:rPr lang="en-IN" sz="3200" b="1" i="1" smtClean="0">
                            <a:latin typeface="Cambria Math"/>
                          </a:rPr>
                          <m:t>𝑩</m:t>
                        </m:r>
                      </m:den>
                    </m:f>
                  </m:oMath>
                </a14:m>
                <a:r>
                  <a:rPr lang="en-IN" sz="3200" b="1" dirty="0" smtClean="0"/>
                  <a:t> =&gt;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200" b="1" i="1" smtClean="0">
                            <a:latin typeface="Cambria Math"/>
                          </a:rPr>
                          <m:t>𝟓</m:t>
                        </m:r>
                        <m:r>
                          <a:rPr lang="en-IN" sz="3200" b="1" i="1" smtClean="0">
                            <a:latin typeface="Cambria Math"/>
                          </a:rPr>
                          <m:t>𝒙</m:t>
                        </m:r>
                      </m:num>
                      <m:den>
                        <m:r>
                          <a:rPr lang="en-IN" sz="3200" b="1" i="1" smtClean="0">
                            <a:latin typeface="Cambria Math"/>
                          </a:rPr>
                          <m:t>𝟒</m:t>
                        </m:r>
                        <m:r>
                          <a:rPr lang="en-IN" sz="3200" b="1" i="1" smtClean="0">
                            <a:latin typeface="Cambria Math"/>
                          </a:rPr>
                          <m:t>𝒙</m:t>
                        </m:r>
                        <m:r>
                          <a:rPr lang="en-IN" sz="3200" b="1" i="1" smtClean="0">
                            <a:latin typeface="Cambria Math"/>
                          </a:rPr>
                          <m:t>+</m:t>
                        </m:r>
                        <m:r>
                          <a:rPr lang="en-IN" sz="3200" b="1" i="1" smtClean="0">
                            <a:latin typeface="Cambria Math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IN" sz="3200" b="1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200" b="1" i="1" smtClean="0">
                            <a:latin typeface="Cambria Math"/>
                          </a:rPr>
                          <m:t>𝟗</m:t>
                        </m:r>
                      </m:num>
                      <m:den>
                        <m:r>
                          <a:rPr lang="en-IN" sz="3200" b="1" i="1" smtClean="0">
                            <a:latin typeface="Cambria Math"/>
                          </a:rPr>
                          <m:t>𝟖</m:t>
                        </m:r>
                      </m:den>
                    </m:f>
                  </m:oMath>
                </a14:m>
                <a:endParaRPr lang="en-IN" b="1" dirty="0" smtClean="0"/>
              </a:p>
              <a:p>
                <a:pPr marL="0" indent="0">
                  <a:buNone/>
                </a:pPr>
                <a:endParaRPr lang="en-IN" b="1" dirty="0"/>
              </a:p>
              <a:p>
                <a:pPr marL="0" indent="0">
                  <a:buNone/>
                </a:pPr>
                <a:r>
                  <a:rPr lang="en-IN" sz="1800" b="1" dirty="0" smtClean="0"/>
                  <a:t>Cross multiply the values,</a:t>
                </a:r>
              </a:p>
              <a:p>
                <a:pPr marL="0" indent="0">
                  <a:buNone/>
                </a:pPr>
                <a:r>
                  <a:rPr lang="en-IN" b="1" dirty="0" smtClean="0"/>
                  <a:t>         </a:t>
                </a:r>
                <a:r>
                  <a:rPr lang="en-IN" sz="2000" dirty="0" smtClean="0"/>
                  <a:t>40x = 36x + 36</a:t>
                </a:r>
              </a:p>
              <a:p>
                <a:pPr marL="0" indent="0">
                  <a:buNone/>
                </a:pPr>
                <a:r>
                  <a:rPr lang="en-IN" sz="2000" b="1" dirty="0" smtClean="0">
                    <a:solidFill>
                      <a:srgbClr val="00B050"/>
                    </a:solidFill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IN" sz="2000" b="1" i="0" dirty="0" smtClean="0">
                        <a:solidFill>
                          <a:srgbClr val="00B050"/>
                        </a:solidFill>
                        <a:latin typeface="Cambria Math"/>
                      </a:rPr>
                      <m:t>𝟒</m:t>
                    </m:r>
                    <m:r>
                      <a:rPr lang="en-IN" sz="2000" b="1" i="1" dirty="0" smtClean="0">
                        <a:solidFill>
                          <a:srgbClr val="00B05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IN" sz="2000" b="1" dirty="0" smtClean="0">
                    <a:solidFill>
                      <a:srgbClr val="00B050"/>
                    </a:solidFill>
                  </a:rPr>
                  <a:t> = 36</a:t>
                </a:r>
              </a:p>
              <a:p>
                <a:pPr marL="0" indent="0">
                  <a:buNone/>
                </a:pPr>
                <a:r>
                  <a:rPr lang="en-IN" sz="2000" b="1" dirty="0">
                    <a:solidFill>
                      <a:srgbClr val="00B050"/>
                    </a:solidFill>
                  </a:rPr>
                  <a:t>	</a:t>
                </a:r>
                <a:r>
                  <a:rPr lang="en-IN" sz="2000" b="1" dirty="0" smtClean="0">
                    <a:solidFill>
                      <a:srgbClr val="00B050"/>
                    </a:solidFill>
                  </a:rPr>
                  <a:t> x = 9 L</a:t>
                </a:r>
              </a:p>
              <a:p>
                <a:pPr marL="0" indent="0">
                  <a:buNone/>
                </a:pPr>
                <a:r>
                  <a:rPr lang="en-IN" sz="1800" b="1" dirty="0" smtClean="0"/>
                  <a:t>Initial quantity </a:t>
                </a:r>
                <a:r>
                  <a:rPr lang="en-IN" sz="1800" b="1" smtClean="0"/>
                  <a:t>of Water= </a:t>
                </a:r>
                <a:r>
                  <a:rPr lang="en-IN" sz="1800" b="1" dirty="0" smtClean="0"/>
                  <a:t>4x</a:t>
                </a:r>
              </a:p>
              <a:p>
                <a:pPr marL="0" indent="0">
                  <a:buNone/>
                </a:pPr>
                <a:r>
                  <a:rPr lang="en-IN" sz="1800" b="1" dirty="0"/>
                  <a:t> </a:t>
                </a:r>
                <a:r>
                  <a:rPr lang="en-IN" sz="1800" b="1" dirty="0" smtClean="0"/>
                  <a:t>                                           = 4(9)</a:t>
                </a:r>
              </a:p>
              <a:p>
                <a:pPr marL="0" indent="0">
                  <a:buNone/>
                </a:pPr>
                <a:r>
                  <a:rPr lang="en-IN" sz="1800" b="1" dirty="0"/>
                  <a:t>	</a:t>
                </a:r>
                <a:r>
                  <a:rPr lang="en-IN" sz="1800" b="1" dirty="0" smtClean="0"/>
                  <a:t>	            </a:t>
                </a:r>
                <a:r>
                  <a:rPr lang="en-IN" sz="1800" b="1" dirty="0" smtClean="0">
                    <a:solidFill>
                      <a:srgbClr val="00B050"/>
                    </a:solidFill>
                  </a:rPr>
                  <a:t>= 36L</a:t>
                </a:r>
                <a:r>
                  <a:rPr lang="en-IN" sz="1800" b="1" dirty="0" smtClean="0"/>
                  <a:t>  </a:t>
                </a:r>
                <a:endParaRPr lang="en-IN" sz="1800" b="1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blipFill rotWithShape="1">
                <a:blip r:embed="rId2"/>
                <a:stretch>
                  <a:fillRect l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036425" y="2635681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  Milk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186643" y="2635681"/>
            <a:ext cx="97566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  Water</a:t>
            </a:r>
            <a:endParaRPr lang="en-IN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349545" y="3156545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287" y="3154589"/>
            <a:ext cx="443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4457" y="3636545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5x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384253" y="36450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  <a:r>
              <a:rPr lang="en-IN" dirty="0" smtClean="0"/>
              <a:t>x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1449805" y="435581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9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2318219" y="4355812"/>
            <a:ext cx="444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8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1812945" y="3077645"/>
            <a:ext cx="4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812945" y="4278868"/>
            <a:ext cx="4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683568" y="3645060"/>
            <a:ext cx="5760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3104333" y="3646484"/>
            <a:ext cx="5760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4 L</a:t>
            </a:r>
            <a:endParaRPr lang="en-IN" dirty="0"/>
          </a:p>
        </p:txBody>
      </p:sp>
      <p:cxnSp>
        <p:nvCxnSpPr>
          <p:cNvPr id="23" name="Straight Arrow Connector 22"/>
          <p:cNvCxnSpPr>
            <a:stCxn id="10" idx="3"/>
            <a:endCxn id="19" idx="0"/>
          </p:cNvCxnSpPr>
          <p:nvPr/>
        </p:nvCxnSpPr>
        <p:spPr>
          <a:xfrm>
            <a:off x="2894283" y="3339255"/>
            <a:ext cx="498082" cy="30722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1"/>
            <a:endCxn id="18" idx="0"/>
          </p:cNvCxnSpPr>
          <p:nvPr/>
        </p:nvCxnSpPr>
        <p:spPr>
          <a:xfrm flipH="1">
            <a:off x="971600" y="3341211"/>
            <a:ext cx="377945" cy="30384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8" idx="2"/>
            <a:endCxn id="13" idx="1"/>
          </p:cNvCxnSpPr>
          <p:nvPr/>
        </p:nvCxnSpPr>
        <p:spPr>
          <a:xfrm>
            <a:off x="971600" y="4014392"/>
            <a:ext cx="478205" cy="52608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9" idx="2"/>
          </p:cNvCxnSpPr>
          <p:nvPr/>
        </p:nvCxnSpPr>
        <p:spPr>
          <a:xfrm flipH="1">
            <a:off x="2839685" y="4015816"/>
            <a:ext cx="552680" cy="4775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95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 animBg="1"/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276997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 of income of A to that of B is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3:2 and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expenditure of A to that of 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2:1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If at the end of the year, each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saves Rs.5000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then the income of A is: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Rs.15,000 		b) Rs.10,000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c) Rs.20,000		d) Rs.25,000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Q.12)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644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Q.12) </a:t>
            </a:r>
            <a:r>
              <a:rPr lang="en-IN" b="1" dirty="0">
                <a:solidFill>
                  <a:srgbClr val="00B050"/>
                </a:solidFill>
              </a:rPr>
              <a:t>Explanation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quarter" idx="14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sz="200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200" b="1" i="1" smtClean="0">
                            <a:latin typeface="Cambria Math"/>
                          </a:rPr>
                          <m:t>𝑨</m:t>
                        </m:r>
                      </m:num>
                      <m:den>
                        <m:r>
                          <a:rPr lang="en-IN" sz="3200" b="1" i="1" smtClean="0">
                            <a:latin typeface="Cambria Math"/>
                          </a:rPr>
                          <m:t>𝑩</m:t>
                        </m:r>
                      </m:den>
                    </m:f>
                  </m:oMath>
                </a14:m>
                <a:r>
                  <a:rPr lang="en-IN" sz="3200" b="1" dirty="0" smtClean="0"/>
                  <a:t> =&gt;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200" b="1" i="1" smtClean="0">
                            <a:latin typeface="Cambria Math"/>
                          </a:rPr>
                          <m:t>𝟑</m:t>
                        </m:r>
                        <m:r>
                          <a:rPr lang="en-IN" sz="3200" b="1" i="1" smtClean="0">
                            <a:latin typeface="Cambria Math"/>
                          </a:rPr>
                          <m:t>𝒙</m:t>
                        </m:r>
                        <m:r>
                          <a:rPr lang="en-IN" sz="3200" b="1" i="1" smtClean="0">
                            <a:latin typeface="Cambria Math"/>
                          </a:rPr>
                          <m:t> −</m:t>
                        </m:r>
                        <m:r>
                          <a:rPr lang="en-IN" sz="3200" b="1" i="1" smtClean="0">
                            <a:latin typeface="Cambria Math"/>
                          </a:rPr>
                          <m:t>𝟓𝟎𝟎𝟎</m:t>
                        </m:r>
                      </m:num>
                      <m:den>
                        <m:r>
                          <a:rPr lang="en-IN" sz="3200" b="1" i="1" smtClean="0">
                            <a:latin typeface="Cambria Math"/>
                          </a:rPr>
                          <m:t>𝟐</m:t>
                        </m:r>
                        <m:r>
                          <a:rPr lang="en-IN" sz="3200" b="1" i="1" smtClean="0">
                            <a:latin typeface="Cambria Math"/>
                          </a:rPr>
                          <m:t>𝒙</m:t>
                        </m:r>
                        <m:r>
                          <a:rPr lang="en-IN" sz="3200" b="1" i="1" smtClean="0">
                            <a:latin typeface="Cambria Math"/>
                          </a:rPr>
                          <m:t> −</m:t>
                        </m:r>
                        <m:r>
                          <a:rPr lang="en-IN" sz="3200" b="1" i="1" smtClean="0">
                            <a:latin typeface="Cambria Math"/>
                          </a:rPr>
                          <m:t>𝟓𝟎𝟎𝟎</m:t>
                        </m:r>
                      </m:den>
                    </m:f>
                  </m:oMath>
                </a14:m>
                <a:r>
                  <a:rPr lang="en-IN" sz="3200" b="1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200" b="1" i="1" smtClean="0">
                            <a:latin typeface="Cambria Math"/>
                          </a:rPr>
                          <m:t>𝟐</m:t>
                        </m:r>
                      </m:num>
                      <m:den>
                        <m:r>
                          <a:rPr lang="en-IN" sz="3200" b="1" i="1" smtClean="0">
                            <a:latin typeface="Cambria Math"/>
                          </a:rPr>
                          <m:t>𝟏</m:t>
                        </m:r>
                      </m:den>
                    </m:f>
                  </m:oMath>
                </a14:m>
                <a:endParaRPr lang="en-IN" b="1" dirty="0" smtClean="0"/>
              </a:p>
              <a:p>
                <a:pPr marL="0" indent="0">
                  <a:buNone/>
                </a:pPr>
                <a:endParaRPr lang="en-IN" b="1" dirty="0"/>
              </a:p>
              <a:p>
                <a:pPr marL="0" indent="0">
                  <a:buNone/>
                </a:pPr>
                <a:r>
                  <a:rPr lang="en-IN" sz="1800" b="1" dirty="0" smtClean="0"/>
                  <a:t>Cross multiply the values,</a:t>
                </a:r>
              </a:p>
              <a:p>
                <a:pPr marL="0" indent="0">
                  <a:buNone/>
                </a:pPr>
                <a:r>
                  <a:rPr lang="en-IN" b="1" dirty="0" smtClean="0"/>
                  <a:t>  </a:t>
                </a:r>
                <a:r>
                  <a:rPr lang="en-IN" sz="2000" dirty="0"/>
                  <a:t>3</a:t>
                </a:r>
                <a:r>
                  <a:rPr lang="en-IN" sz="2000" dirty="0" smtClean="0"/>
                  <a:t>x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latin typeface="Cambria Math"/>
                      </a:rPr>
                      <m:t>−</m:t>
                    </m:r>
                  </m:oMath>
                </a14:m>
                <a:r>
                  <a:rPr lang="en-IN" sz="2000" dirty="0" smtClean="0"/>
                  <a:t> 5000 = 4x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latin typeface="Cambria Math"/>
                      </a:rPr>
                      <m:t>−</m:t>
                    </m:r>
                  </m:oMath>
                </a14:m>
                <a:r>
                  <a:rPr lang="en-IN" sz="2000" dirty="0" smtClean="0"/>
                  <a:t> 10000</a:t>
                </a:r>
              </a:p>
              <a:p>
                <a:pPr marL="0" indent="0">
                  <a:buNone/>
                </a:pPr>
                <a:r>
                  <a:rPr lang="en-IN" sz="2000" b="1" dirty="0" smtClean="0">
                    <a:solidFill>
                      <a:srgbClr val="00B050"/>
                    </a:solidFill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IN" sz="2000" b="1" i="1" dirty="0" smtClean="0">
                        <a:solidFill>
                          <a:srgbClr val="00B05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IN" sz="2000" b="1" dirty="0" smtClean="0">
                    <a:solidFill>
                      <a:srgbClr val="00B050"/>
                    </a:solidFill>
                  </a:rPr>
                  <a:t> = 5000</a:t>
                </a:r>
              </a:p>
              <a:p>
                <a:pPr marL="0" indent="0">
                  <a:buNone/>
                </a:pPr>
                <a:r>
                  <a:rPr lang="en-IN" b="1" dirty="0" smtClean="0"/>
                  <a:t>A’s income  = 3x</a:t>
                </a:r>
              </a:p>
              <a:p>
                <a:pPr marL="0" indent="0">
                  <a:buNone/>
                </a:pPr>
                <a:r>
                  <a:rPr lang="en-IN" b="1" dirty="0">
                    <a:solidFill>
                      <a:srgbClr val="00B050"/>
                    </a:solidFill>
                  </a:rPr>
                  <a:t>	</a:t>
                </a:r>
                <a:r>
                  <a:rPr lang="en-IN" dirty="0" smtClean="0">
                    <a:solidFill>
                      <a:schemeClr val="tx1"/>
                    </a:solidFill>
                  </a:rPr>
                  <a:t>      </a:t>
                </a:r>
                <a:r>
                  <a:rPr lang="en-IN" b="1" dirty="0" smtClean="0">
                    <a:solidFill>
                      <a:schemeClr val="tx1"/>
                    </a:solidFill>
                  </a:rPr>
                  <a:t>= 3(5000)</a:t>
                </a:r>
              </a:p>
              <a:p>
                <a:pPr marL="0" indent="0">
                  <a:buNone/>
                </a:pPr>
                <a:r>
                  <a:rPr lang="en-IN" b="1" dirty="0">
                    <a:solidFill>
                      <a:srgbClr val="00B050"/>
                    </a:solidFill>
                  </a:rPr>
                  <a:t>	</a:t>
                </a:r>
                <a:r>
                  <a:rPr lang="en-IN" b="1" dirty="0" smtClean="0">
                    <a:solidFill>
                      <a:srgbClr val="00B050"/>
                    </a:solidFill>
                  </a:rPr>
                  <a:t>      = Rs.15,000</a:t>
                </a:r>
              </a:p>
              <a:p>
                <a:pPr marL="0" indent="0">
                  <a:buNone/>
                </a:pPr>
                <a:endParaRPr lang="en-IN" sz="1800" b="1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blipFill rotWithShape="1">
                <a:blip r:embed="rId2"/>
                <a:stretch>
                  <a:fillRect l="-24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324457" y="2635681"/>
            <a:ext cx="5760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  A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186644" y="2635681"/>
            <a:ext cx="5760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smtClean="0"/>
              <a:t>  B</a:t>
            </a:r>
            <a:endParaRPr lang="en-IN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449805" y="319455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4654" y="319455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9805" y="3636545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  <a:r>
              <a:rPr lang="en-IN" dirty="0" smtClean="0"/>
              <a:t>x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186644" y="36450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r>
              <a:rPr lang="en-IN" dirty="0" smtClean="0"/>
              <a:t>x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1528395" y="4304066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2298212" y="4317045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2945" y="3077645"/>
            <a:ext cx="4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882352" y="4201924"/>
            <a:ext cx="42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371256" y="3636545"/>
            <a:ext cx="8640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- 5000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2874276" y="3641880"/>
            <a:ext cx="97764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- 5000</a:t>
            </a:r>
            <a:endParaRPr lang="en-IN" dirty="0"/>
          </a:p>
        </p:txBody>
      </p:sp>
      <p:cxnSp>
        <p:nvCxnSpPr>
          <p:cNvPr id="23" name="Straight Arrow Connector 22"/>
          <p:cNvCxnSpPr>
            <a:endCxn id="19" idx="0"/>
          </p:cNvCxnSpPr>
          <p:nvPr/>
        </p:nvCxnSpPr>
        <p:spPr>
          <a:xfrm>
            <a:off x="2606251" y="3379220"/>
            <a:ext cx="756847" cy="2626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1"/>
            <a:endCxn id="18" idx="0"/>
          </p:cNvCxnSpPr>
          <p:nvPr/>
        </p:nvCxnSpPr>
        <p:spPr>
          <a:xfrm flipH="1">
            <a:off x="803304" y="3379220"/>
            <a:ext cx="646501" cy="25732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8" idx="2"/>
            <a:endCxn id="13" idx="1"/>
          </p:cNvCxnSpPr>
          <p:nvPr/>
        </p:nvCxnSpPr>
        <p:spPr>
          <a:xfrm>
            <a:off x="803304" y="4005877"/>
            <a:ext cx="725091" cy="48285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2609630" y="4024191"/>
            <a:ext cx="753468" cy="4775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54500" y="3141218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Income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26175" y="4355812"/>
            <a:ext cx="1493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Expenditure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511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 animBg="1"/>
      <p:bldP spid="19" grpId="0" animBg="1"/>
      <p:bldP spid="21" grpId="0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132981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sz="3600" b="1" dirty="0" smtClean="0">
                <a:solidFill>
                  <a:srgbClr val="FF0000"/>
                </a:solidFill>
              </a:rPr>
              <a:t>The </a:t>
            </a:r>
            <a:r>
              <a:rPr lang="en-US" sz="3600" b="1" dirty="0">
                <a:solidFill>
                  <a:srgbClr val="FF0000"/>
                </a:solidFill>
              </a:rPr>
              <a:t>sum of the squares of three positive number is 608 and they are in the ratio 2:3:5, </a:t>
            </a:r>
            <a:r>
              <a:rPr lang="en-US" sz="3600" b="1" dirty="0" smtClean="0">
                <a:solidFill>
                  <a:srgbClr val="FF0000"/>
                </a:solidFill>
              </a:rPr>
              <a:t>then find the sum of all three numbers?</a:t>
            </a:r>
            <a:endParaRPr lang="en-I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sz="3600" dirty="0" smtClean="0"/>
              <a:t>a)38</a:t>
            </a:r>
            <a:r>
              <a:rPr lang="en-US" sz="3600" dirty="0"/>
              <a:t>			</a:t>
            </a:r>
            <a:r>
              <a:rPr lang="en-US" sz="3600" dirty="0" smtClean="0"/>
              <a:t>	b)40</a:t>
            </a:r>
            <a:r>
              <a:rPr lang="en-US" sz="3600" dirty="0"/>
              <a:t>		</a:t>
            </a:r>
            <a:endParaRPr lang="en-US" sz="3600" dirty="0" smtClean="0"/>
          </a:p>
          <a:p>
            <a:pPr marL="0" indent="0">
              <a:buNone/>
            </a:pPr>
            <a:r>
              <a:rPr lang="en-US" sz="3600" dirty="0"/>
              <a:t>	</a:t>
            </a:r>
            <a:r>
              <a:rPr lang="en-US" sz="3600" dirty="0" smtClean="0"/>
              <a:t>c)42</a:t>
            </a:r>
            <a:r>
              <a:rPr lang="en-US" sz="3600" dirty="0"/>
              <a:t>		</a:t>
            </a:r>
            <a:r>
              <a:rPr lang="en-US" sz="3600" dirty="0" smtClean="0"/>
              <a:t>		d)44</a:t>
            </a:r>
            <a:endParaRPr lang="en-IN" sz="36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FF0000"/>
                </a:solidFill>
              </a:rPr>
              <a:t>Q.13)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7656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Q.13) </a:t>
            </a:r>
            <a:r>
              <a:rPr lang="en-IN" b="1" dirty="0">
                <a:solidFill>
                  <a:srgbClr val="00B050"/>
                </a:solidFill>
              </a:rPr>
              <a:t>Explanation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dirty="0" smtClean="0"/>
                  <a:t>  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 smtClean="0"/>
              </a:p>
              <a:p>
                <a:pPr marL="0" indent="0">
                  <a:buNone/>
                </a:pPr>
                <a:endParaRPr lang="en-IN" dirty="0" smtClean="0"/>
              </a:p>
              <a:p>
                <a:pPr marL="0" indent="0">
                  <a:buNone/>
                </a:pPr>
                <a:endParaRPr lang="en-IN" i="1" dirty="0">
                  <a:latin typeface="Cambria Math"/>
                </a:endParaRPr>
              </a:p>
              <a:p>
                <a:pPr marL="0" indent="0">
                  <a:buNone/>
                </a:pPr>
                <a:endParaRPr lang="en-IN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sup>
                    </m:sSup>
                    <m:r>
                      <a:rPr lang="en-IN" sz="2800" b="1" i="1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𝟑</m:t>
                        </m:r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sup>
                    </m:sSup>
                    <m:r>
                      <a:rPr lang="en-IN" sz="2800" b="1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𝟓</m:t>
                        </m:r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IN" sz="2800" b="1" dirty="0">
                    <a:solidFill>
                      <a:srgbClr val="FF0000"/>
                    </a:solidFill>
                  </a:rPr>
                  <a:t> = </a:t>
                </a:r>
                <a:r>
                  <a:rPr lang="en-IN" sz="2800" b="1" dirty="0" smtClean="0">
                    <a:solidFill>
                      <a:srgbClr val="FF0000"/>
                    </a:solidFill>
                  </a:rPr>
                  <a:t>?</a:t>
                </a:r>
                <a:endParaRPr lang="en-IN" sz="28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15"/>
              <p:cNvSpPr>
                <a:spLocks noGrp="1"/>
              </p:cNvSpPr>
              <p:nvPr>
                <p:ph sz="quarter" idx="14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/>
                          </a:rPr>
                          <m:t>(2</m:t>
                        </m:r>
                        <m:r>
                          <a:rPr lang="en-IN" i="1">
                            <a:latin typeface="Cambria Math"/>
                          </a:rPr>
                          <m:t>𝑥</m:t>
                        </m:r>
                        <m:r>
                          <a:rPr lang="en-IN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IN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IN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/>
                          </a:rPr>
                          <m:t>(3</m:t>
                        </m:r>
                        <m:r>
                          <a:rPr lang="en-IN" i="1">
                            <a:latin typeface="Cambria Math"/>
                          </a:rPr>
                          <m:t>𝑥</m:t>
                        </m:r>
                        <m:r>
                          <a:rPr lang="en-IN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IN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IN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/>
                          </a:rPr>
                          <m:t>(5</m:t>
                        </m:r>
                        <m:r>
                          <a:rPr lang="en-IN" i="1">
                            <a:latin typeface="Cambria Math"/>
                          </a:rPr>
                          <m:t>𝑥</m:t>
                        </m:r>
                        <m:r>
                          <a:rPr lang="en-IN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IN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 = </a:t>
                </a:r>
                <a:r>
                  <a:rPr lang="en-IN" dirty="0" smtClean="0"/>
                  <a:t>608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4</m:t>
                        </m:r>
                        <m:r>
                          <a:rPr lang="en-IN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IN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9</m:t>
                        </m:r>
                        <m:r>
                          <a:rPr lang="en-IN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IN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25</m:t>
                        </m:r>
                        <m:r>
                          <a:rPr lang="en-IN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IN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 = 608</a:t>
                </a:r>
              </a:p>
              <a:p>
                <a:pPr marL="0" indent="0">
                  <a:buNone/>
                </a:pPr>
                <a:r>
                  <a:rPr lang="en-IN" dirty="0" smtClean="0"/>
                  <a:t>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38</m:t>
                        </m:r>
                        <m:r>
                          <a:rPr lang="en-IN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IN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 = 608</a:t>
                </a:r>
              </a:p>
              <a:p>
                <a:pPr marL="0" indent="0">
                  <a:buNone/>
                </a:pPr>
                <a:r>
                  <a:rPr lang="en-IN" dirty="0" smtClean="0"/>
                  <a:t>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IN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 = 16</a:t>
                </a:r>
              </a:p>
              <a:p>
                <a:pPr marL="0" indent="0">
                  <a:buNone/>
                </a:pPr>
                <a:r>
                  <a:rPr lang="en-IN" dirty="0" smtClean="0"/>
                  <a:t>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IN" dirty="0" smtClean="0"/>
                  <a:t> = 4</a:t>
                </a:r>
                <a:endParaRPr lang="en-IN" dirty="0"/>
              </a:p>
              <a:p>
                <a:pPr marL="0" indent="0">
                  <a:buNone/>
                </a:pPr>
                <a:endParaRPr lang="en-IN" dirty="0" smtClean="0"/>
              </a:p>
              <a:p>
                <a:pPr marL="0" indent="0">
                  <a:buNone/>
                </a:pPr>
                <a:r>
                  <a:rPr lang="en-IN" b="1" dirty="0" smtClean="0">
                    <a:solidFill>
                      <a:schemeClr val="tx1"/>
                    </a:solidFill>
                  </a:rPr>
                  <a:t> 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𝟐</m:t>
                        </m:r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𝟒</m:t>
                        </m:r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IN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</m:sup>
                    </m:sSup>
                    <m:r>
                      <a:rPr lang="en-IN" b="1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𝟑</m:t>
                        </m:r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𝟒</m:t>
                        </m:r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IN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</m:sup>
                    </m:sSup>
                    <m:r>
                      <a:rPr lang="en-IN" b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𝟓</m:t>
                        </m:r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𝟒</m:t>
                        </m:r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IN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IN" b="1" dirty="0">
                    <a:solidFill>
                      <a:srgbClr val="FF0000"/>
                    </a:solidFill>
                  </a:rPr>
                  <a:t> </a:t>
                </a:r>
                <a:endParaRPr lang="en-IN" b="1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IN" b="1" dirty="0" smtClean="0">
                    <a:solidFill>
                      <a:srgbClr val="FF0000"/>
                    </a:solidFill>
                  </a:rPr>
                  <a:t>  </a:t>
                </a:r>
                <a:r>
                  <a:rPr lang="en-IN" b="1" dirty="0" smtClean="0">
                    <a:solidFill>
                      <a:srgbClr val="00B050"/>
                    </a:solidFill>
                  </a:rPr>
                  <a:t> = 40</a:t>
                </a:r>
                <a:endParaRPr lang="en-IN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Content Placeholder 1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blipFill rotWithShape="1">
                <a:blip r:embed="rId3"/>
                <a:stretch>
                  <a:fillRect l="-1282" t="-11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215384" y="2537408"/>
            <a:ext cx="50405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  B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888671" y="2537408"/>
            <a:ext cx="50405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 C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547664" y="2537408"/>
            <a:ext cx="50405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A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606811" y="3012727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215384" y="3012727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8671" y="3012727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5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1957557" y="2935783"/>
            <a:ext cx="306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582052" y="2905780"/>
            <a:ext cx="306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:</a:t>
            </a:r>
            <a:endParaRPr lang="en-IN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547664" y="364817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 smtClean="0"/>
              <a:t>2x</a:t>
            </a:r>
            <a:endParaRPr lang="en-IN" b="1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2231305" y="364817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 smtClean="0"/>
              <a:t>3x</a:t>
            </a:r>
            <a:endParaRPr lang="en-IN" b="1" i="1" dirty="0"/>
          </a:p>
        </p:txBody>
      </p:sp>
      <p:sp>
        <p:nvSpPr>
          <p:cNvPr id="15" name="TextBox 14"/>
          <p:cNvSpPr txBox="1"/>
          <p:nvPr/>
        </p:nvSpPr>
        <p:spPr>
          <a:xfrm>
            <a:off x="2888671" y="363763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 smtClean="0"/>
              <a:t>5x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68284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" grpId="0" animBg="1"/>
      <p:bldP spid="5" grpId="0" animBg="1"/>
      <p:bldP spid="6" grpId="0" animBg="1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en-US" sz="3600" b="1" dirty="0" smtClean="0">
                <a:solidFill>
                  <a:srgbClr val="FF0000"/>
                </a:solidFill>
              </a:rPr>
              <a:t>A </a:t>
            </a:r>
            <a:r>
              <a:rPr lang="en-US" sz="3600" b="1" dirty="0">
                <a:solidFill>
                  <a:srgbClr val="FF0000"/>
                </a:solidFill>
              </a:rPr>
              <a:t>bag contains </a:t>
            </a:r>
            <a:r>
              <a:rPr lang="en-US" sz="3600" b="1" dirty="0" smtClean="0">
                <a:solidFill>
                  <a:srgbClr val="FF0000"/>
                </a:solidFill>
              </a:rPr>
              <a:t>Rs.102 </a:t>
            </a:r>
            <a:r>
              <a:rPr lang="en-US" sz="3600" b="1" dirty="0">
                <a:solidFill>
                  <a:srgbClr val="FF0000"/>
                </a:solidFill>
              </a:rPr>
              <a:t>in the form of  1rupee, 50 </a:t>
            </a:r>
            <a:r>
              <a:rPr lang="en-US" sz="3600" b="1" dirty="0" smtClean="0">
                <a:solidFill>
                  <a:srgbClr val="FF0000"/>
                </a:solidFill>
              </a:rPr>
              <a:t>paisa </a:t>
            </a:r>
            <a:r>
              <a:rPr lang="en-US" sz="3600" b="1" dirty="0">
                <a:solidFill>
                  <a:srgbClr val="FF0000"/>
                </a:solidFill>
              </a:rPr>
              <a:t>and 10 </a:t>
            </a:r>
            <a:r>
              <a:rPr lang="en-US" sz="3600" b="1" dirty="0" smtClean="0">
                <a:solidFill>
                  <a:srgbClr val="FF0000"/>
                </a:solidFill>
              </a:rPr>
              <a:t>paisa </a:t>
            </a:r>
            <a:r>
              <a:rPr lang="en-US" sz="3600" b="1" dirty="0">
                <a:solidFill>
                  <a:srgbClr val="FF0000"/>
                </a:solidFill>
              </a:rPr>
              <a:t>coins in the ratio 3:4:10. The number of 10 </a:t>
            </a:r>
            <a:r>
              <a:rPr lang="en-US" sz="3600" b="1" dirty="0" smtClean="0">
                <a:solidFill>
                  <a:srgbClr val="FF0000"/>
                </a:solidFill>
              </a:rPr>
              <a:t>paisa </a:t>
            </a:r>
            <a:r>
              <a:rPr lang="en-US" sz="3600" b="1" dirty="0">
                <a:solidFill>
                  <a:srgbClr val="FF0000"/>
                </a:solidFill>
              </a:rPr>
              <a:t>coins is</a:t>
            </a:r>
            <a:r>
              <a:rPr lang="en-US" sz="3600" b="1" dirty="0" smtClean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3200" b="1" dirty="0"/>
              <a:t>	</a:t>
            </a:r>
            <a:r>
              <a:rPr lang="en-US" sz="3200" b="1" dirty="0" smtClean="0"/>
              <a:t>a)340</a:t>
            </a:r>
            <a:r>
              <a:rPr lang="en-US" sz="3200" b="1" dirty="0"/>
              <a:t>			</a:t>
            </a:r>
            <a:r>
              <a:rPr lang="en-US" sz="3200" b="1" dirty="0" smtClean="0"/>
              <a:t>b)60</a:t>
            </a:r>
            <a:r>
              <a:rPr lang="en-US" sz="3200" b="1" dirty="0"/>
              <a:t>			c)80			</a:t>
            </a:r>
            <a:r>
              <a:rPr lang="en-US" sz="3200" b="1" dirty="0" smtClean="0"/>
              <a:t>	d)170</a:t>
            </a:r>
            <a:endParaRPr lang="en-IN" sz="3200" b="1" dirty="0"/>
          </a:p>
          <a:p>
            <a:pPr marL="0" indent="0">
              <a:buNone/>
            </a:pP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 </a:t>
            </a:r>
            <a:r>
              <a:rPr lang="en-IN" b="1" dirty="0">
                <a:solidFill>
                  <a:srgbClr val="FF0000"/>
                </a:solidFill>
              </a:rPr>
              <a:t>Q.14)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389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Q.14) </a:t>
            </a:r>
            <a:r>
              <a:rPr lang="en-IN" b="1" dirty="0">
                <a:solidFill>
                  <a:srgbClr val="00B050"/>
                </a:solidFill>
              </a:rPr>
              <a:t>Explanation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768991" y="2056214"/>
            <a:ext cx="3803904" cy="4128496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4645151" y="2056214"/>
                <a:ext cx="3803904" cy="406112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   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 smtClean="0"/>
              </a:p>
              <a:p>
                <a:pPr marL="0" indent="0">
                  <a:buNone/>
                </a:pPr>
                <a:endParaRPr lang="en-IN" dirty="0" smtClean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 smtClean="0">
                    <a:solidFill>
                      <a:schemeClr val="tx1"/>
                    </a:solidFill>
                  </a:rPr>
                  <a:t>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𝟔</m:t>
                        </m:r>
                      </m:den>
                    </m:f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𝟏𝟎𝟐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𝑹𝒔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.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𝟏𝟕</m:t>
                    </m:r>
                  </m:oMath>
                </a14:m>
                <a:endParaRPr lang="en-IN" b="1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IN" b="1" dirty="0"/>
              </a:p>
              <a:p>
                <a:pPr marL="0" indent="0">
                  <a:buNone/>
                </a:pPr>
                <a:r>
                  <a:rPr lang="en-IN" b="1" dirty="0" smtClean="0">
                    <a:solidFill>
                      <a:schemeClr val="tx1"/>
                    </a:solidFill>
                  </a:rPr>
                  <a:t>For Rs.17 full of 10p coins means, totally=(17</a:t>
                </a:r>
                <a14:m>
                  <m:oMath xmlns:m="http://schemas.openxmlformats.org/officeDocument/2006/math"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IN" b="1" dirty="0" smtClean="0">
                    <a:solidFill>
                      <a:schemeClr val="tx1"/>
                    </a:solidFill>
                  </a:rPr>
                  <a:t>10)coins </a:t>
                </a:r>
              </a:p>
              <a:p>
                <a:pPr marL="0" indent="0">
                  <a:buNone/>
                </a:pPr>
                <a:r>
                  <a:rPr lang="en-IN" b="1" dirty="0">
                    <a:solidFill>
                      <a:srgbClr val="00B050"/>
                    </a:solidFill>
                  </a:rPr>
                  <a:t>Total </a:t>
                </a:r>
                <a:r>
                  <a:rPr lang="en-IN" b="1" dirty="0" smtClean="0">
                    <a:solidFill>
                      <a:srgbClr val="00B050"/>
                    </a:solidFill>
                  </a:rPr>
                  <a:t>10p </a:t>
                </a:r>
                <a:r>
                  <a:rPr lang="en-IN" b="1" dirty="0">
                    <a:solidFill>
                      <a:srgbClr val="00B050"/>
                    </a:solidFill>
                  </a:rPr>
                  <a:t>coins = </a:t>
                </a:r>
                <a:r>
                  <a:rPr lang="en-IN" b="1" dirty="0" smtClean="0">
                    <a:solidFill>
                      <a:srgbClr val="00B050"/>
                    </a:solidFill>
                  </a:rPr>
                  <a:t>170 </a:t>
                </a:r>
                <a:r>
                  <a:rPr lang="en-IN" b="1" dirty="0">
                    <a:solidFill>
                      <a:srgbClr val="00B050"/>
                    </a:solidFill>
                  </a:rPr>
                  <a:t>coins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4645151" y="2056214"/>
                <a:ext cx="3803904" cy="4061122"/>
              </a:xfrm>
              <a:blipFill rotWithShape="1">
                <a:blip r:embed="rId2"/>
                <a:stretch>
                  <a:fillRect l="-1923" r="-27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562931" y="2056214"/>
            <a:ext cx="93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Rs.102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790611" y="2811872"/>
            <a:ext cx="72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Re.1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2670943" y="2797084"/>
            <a:ext cx="72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50 p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3593399" y="2782296"/>
            <a:ext cx="72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10 p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11576" y="3552577"/>
            <a:ext cx="19525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/>
              <a:t>No of Coins Ratio</a:t>
            </a:r>
            <a:endParaRPr lang="en-IN" sz="1600" b="1" dirty="0"/>
          </a:p>
        </p:txBody>
      </p:sp>
      <p:cxnSp>
        <p:nvCxnSpPr>
          <p:cNvPr id="11" name="Straight Arrow Connector 10"/>
          <p:cNvCxnSpPr>
            <a:stCxn id="4" idx="2"/>
            <a:endCxn id="6" idx="0"/>
          </p:cNvCxnSpPr>
          <p:nvPr/>
        </p:nvCxnSpPr>
        <p:spPr>
          <a:xfrm flipH="1">
            <a:off x="2150651" y="2425546"/>
            <a:ext cx="880332" cy="38632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4" idx="2"/>
            <a:endCxn id="7" idx="0"/>
          </p:cNvCxnSpPr>
          <p:nvPr/>
        </p:nvCxnSpPr>
        <p:spPr>
          <a:xfrm>
            <a:off x="3030983" y="2425546"/>
            <a:ext cx="0" cy="3715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2"/>
            <a:endCxn id="8" idx="0"/>
          </p:cNvCxnSpPr>
          <p:nvPr/>
        </p:nvCxnSpPr>
        <p:spPr>
          <a:xfrm>
            <a:off x="3030983" y="2425546"/>
            <a:ext cx="922456" cy="3567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90611" y="3491021"/>
            <a:ext cx="242134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  3       </a:t>
            </a:r>
            <a:r>
              <a:rPr lang="en-IN" sz="2400" b="1" dirty="0" smtClean="0"/>
              <a:t>:</a:t>
            </a:r>
            <a:r>
              <a:rPr lang="en-IN" dirty="0" smtClean="0"/>
              <a:t>      4       </a:t>
            </a:r>
            <a:r>
              <a:rPr lang="en-IN" sz="2000" b="1" dirty="0" smtClean="0"/>
              <a:t> </a:t>
            </a:r>
            <a:r>
              <a:rPr lang="en-IN" sz="2400" b="1" dirty="0"/>
              <a:t>:</a:t>
            </a:r>
            <a:r>
              <a:rPr lang="en-IN" sz="2000" b="1" dirty="0" smtClean="0"/>
              <a:t>    </a:t>
            </a:r>
            <a:r>
              <a:rPr lang="en-IN" dirty="0" smtClean="0"/>
              <a:t>10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46679" y="4448145"/>
            <a:ext cx="1608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/>
              <a:t>Rupees Ratio</a:t>
            </a:r>
            <a:endParaRPr lang="en-IN" sz="16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707687" y="4325034"/>
            <a:ext cx="269380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  3(100)  </a:t>
            </a:r>
            <a:r>
              <a:rPr lang="en-IN" sz="2400" b="1" dirty="0" smtClean="0"/>
              <a:t>:</a:t>
            </a:r>
            <a:r>
              <a:rPr lang="en-IN" dirty="0" smtClean="0"/>
              <a:t>  4(50)   </a:t>
            </a:r>
            <a:r>
              <a:rPr lang="en-IN" sz="2400" b="1" dirty="0" smtClean="0"/>
              <a:t>: </a:t>
            </a:r>
            <a:r>
              <a:rPr lang="en-IN" dirty="0" smtClean="0"/>
              <a:t>10(10)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1843917" y="4941168"/>
            <a:ext cx="242134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  300    </a:t>
            </a:r>
            <a:r>
              <a:rPr lang="en-IN" sz="2400" b="1" dirty="0" smtClean="0"/>
              <a:t>:</a:t>
            </a:r>
            <a:r>
              <a:rPr lang="en-IN" dirty="0" smtClean="0"/>
              <a:t>   200   </a:t>
            </a:r>
            <a:r>
              <a:rPr lang="en-IN" sz="2000" b="1" dirty="0" smtClean="0"/>
              <a:t> </a:t>
            </a:r>
            <a:r>
              <a:rPr lang="en-IN" sz="2400" b="1" dirty="0"/>
              <a:t>:</a:t>
            </a:r>
            <a:r>
              <a:rPr lang="en-IN" sz="2000" b="1" dirty="0" smtClean="0"/>
              <a:t>  </a:t>
            </a:r>
            <a:r>
              <a:rPr lang="en-IN" dirty="0" smtClean="0"/>
              <a:t>100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843917" y="5532040"/>
            <a:ext cx="242134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   3       </a:t>
            </a:r>
            <a:r>
              <a:rPr lang="en-IN" sz="2400" b="1" dirty="0" smtClean="0"/>
              <a:t>:</a:t>
            </a:r>
            <a:r>
              <a:rPr lang="en-IN" dirty="0" smtClean="0"/>
              <a:t>      </a:t>
            </a:r>
            <a:r>
              <a:rPr lang="en-IN" dirty="0"/>
              <a:t>2</a:t>
            </a:r>
            <a:r>
              <a:rPr lang="en-IN" dirty="0" smtClean="0"/>
              <a:t>      </a:t>
            </a:r>
            <a:r>
              <a:rPr lang="en-IN" sz="2400" b="1" dirty="0" smtClean="0"/>
              <a:t>:</a:t>
            </a:r>
            <a:r>
              <a:rPr lang="en-IN" sz="2000" b="1" dirty="0" smtClean="0"/>
              <a:t>    </a:t>
            </a:r>
            <a:r>
              <a:rPr lang="en-IN" dirty="0"/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2160" y="2056214"/>
            <a:ext cx="93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Rs.102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5239840" y="2826660"/>
            <a:ext cx="72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Re.1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6120172" y="2811872"/>
            <a:ext cx="72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50 p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7042628" y="2797084"/>
            <a:ext cx="72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10 p</a:t>
            </a:r>
            <a:endParaRPr lang="en-IN" dirty="0"/>
          </a:p>
        </p:txBody>
      </p:sp>
      <p:cxnSp>
        <p:nvCxnSpPr>
          <p:cNvPr id="28" name="Straight Arrow Connector 27"/>
          <p:cNvCxnSpPr>
            <a:endCxn id="25" idx="0"/>
          </p:cNvCxnSpPr>
          <p:nvPr/>
        </p:nvCxnSpPr>
        <p:spPr>
          <a:xfrm flipH="1">
            <a:off x="5599880" y="2440334"/>
            <a:ext cx="880332" cy="38632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26" idx="0"/>
          </p:cNvCxnSpPr>
          <p:nvPr/>
        </p:nvCxnSpPr>
        <p:spPr>
          <a:xfrm>
            <a:off x="6480212" y="2440334"/>
            <a:ext cx="0" cy="3715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27" idx="0"/>
          </p:cNvCxnSpPr>
          <p:nvPr/>
        </p:nvCxnSpPr>
        <p:spPr>
          <a:xfrm>
            <a:off x="6480212" y="2440334"/>
            <a:ext cx="922456" cy="3567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280783" y="3303469"/>
            <a:ext cx="242134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   3       </a:t>
            </a:r>
            <a:r>
              <a:rPr lang="en-IN" sz="2400" b="1" dirty="0" smtClean="0"/>
              <a:t>:</a:t>
            </a:r>
            <a:r>
              <a:rPr lang="en-IN" dirty="0" smtClean="0"/>
              <a:t>      </a:t>
            </a:r>
            <a:r>
              <a:rPr lang="en-IN" dirty="0"/>
              <a:t>2</a:t>
            </a:r>
            <a:r>
              <a:rPr lang="en-IN" dirty="0" smtClean="0"/>
              <a:t>      </a:t>
            </a:r>
            <a:r>
              <a:rPr lang="en-IN" sz="2400" b="1" dirty="0" smtClean="0"/>
              <a:t>:</a:t>
            </a:r>
            <a:r>
              <a:rPr lang="en-IN" sz="2000" b="1" dirty="0" smtClean="0"/>
              <a:t>    </a:t>
            </a:r>
            <a:r>
              <a:rPr lang="en-IN" dirty="0"/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90611" y="3118803"/>
            <a:ext cx="666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100p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730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animBg="1"/>
      <p:bldP spid="6" grpId="0" animBg="1"/>
      <p:bldP spid="7" grpId="0" animBg="1"/>
      <p:bldP spid="8" grpId="0" animBg="1"/>
      <p:bldP spid="9" grpId="0"/>
      <p:bldP spid="17" grpId="0"/>
      <p:bldP spid="18" grpId="0"/>
      <p:bldP spid="19" grpId="0"/>
      <p:bldP spid="20" grpId="0"/>
      <p:bldP spid="21" grpId="0"/>
      <p:bldP spid="24" grpId="0" animBg="1"/>
      <p:bldP spid="25" grpId="0" animBg="1"/>
      <p:bldP spid="26" grpId="0" animBg="1"/>
      <p:bldP spid="27" grpId="0" animBg="1"/>
      <p:bldP spid="31" grpId="0"/>
      <p:bldP spid="3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en-US" sz="3600" b="1" dirty="0" smtClean="0">
                <a:solidFill>
                  <a:srgbClr val="FF0000"/>
                </a:solidFill>
              </a:rPr>
              <a:t>Rs.180 </a:t>
            </a:r>
            <a:r>
              <a:rPr lang="en-US" sz="3600" b="1" dirty="0">
                <a:solidFill>
                  <a:srgbClr val="FF0000"/>
                </a:solidFill>
              </a:rPr>
              <a:t>contained in a box consists of one rupee, 50 </a:t>
            </a:r>
            <a:r>
              <a:rPr lang="en-US" sz="3600" b="1" dirty="0" smtClean="0">
                <a:solidFill>
                  <a:srgbClr val="FF0000"/>
                </a:solidFill>
              </a:rPr>
              <a:t>paisa </a:t>
            </a:r>
            <a:r>
              <a:rPr lang="en-US" sz="3600" b="1" dirty="0">
                <a:solidFill>
                  <a:srgbClr val="FF0000"/>
                </a:solidFill>
              </a:rPr>
              <a:t>and 25 </a:t>
            </a:r>
            <a:r>
              <a:rPr lang="en-US" sz="3600" b="1" dirty="0" smtClean="0">
                <a:solidFill>
                  <a:srgbClr val="FF0000"/>
                </a:solidFill>
              </a:rPr>
              <a:t>paisa </a:t>
            </a:r>
            <a:r>
              <a:rPr lang="en-US" sz="3600" b="1" dirty="0">
                <a:solidFill>
                  <a:srgbClr val="FF0000"/>
                </a:solidFill>
              </a:rPr>
              <a:t>coins in the </a:t>
            </a:r>
            <a:r>
              <a:rPr lang="en-US" sz="3600" b="1" dirty="0" smtClean="0">
                <a:solidFill>
                  <a:srgbClr val="FF0000"/>
                </a:solidFill>
              </a:rPr>
              <a:t>ratio of 2 : 3 : 4</a:t>
            </a:r>
            <a:r>
              <a:rPr lang="en-US" sz="3600" b="1" dirty="0">
                <a:solidFill>
                  <a:srgbClr val="FF0000"/>
                </a:solidFill>
              </a:rPr>
              <a:t>. What is number of 50 </a:t>
            </a:r>
            <a:r>
              <a:rPr lang="en-US" sz="3600" b="1" dirty="0" smtClean="0">
                <a:solidFill>
                  <a:srgbClr val="FF0000"/>
                </a:solidFill>
              </a:rPr>
              <a:t>paisa </a:t>
            </a:r>
            <a:r>
              <a:rPr lang="en-US" sz="3600" b="1" dirty="0">
                <a:solidFill>
                  <a:srgbClr val="FF0000"/>
                </a:solidFill>
              </a:rPr>
              <a:t>coins</a:t>
            </a:r>
            <a:r>
              <a:rPr lang="en-US" sz="3600" b="1" dirty="0" smtClean="0">
                <a:solidFill>
                  <a:srgbClr val="FF0000"/>
                </a:solidFill>
              </a:rPr>
              <a:t>?</a:t>
            </a:r>
          </a:p>
          <a:p>
            <a:pPr marL="0" indent="0">
              <a:buNone/>
            </a:pPr>
            <a:r>
              <a:rPr lang="en-US" sz="3200" b="1" dirty="0"/>
              <a:t>	</a:t>
            </a:r>
            <a:r>
              <a:rPr lang="en-US" sz="3200" b="1" dirty="0" smtClean="0"/>
              <a:t>a) 60</a:t>
            </a:r>
            <a:r>
              <a:rPr lang="en-US" sz="3200" b="1" dirty="0"/>
              <a:t>			</a:t>
            </a:r>
            <a:r>
              <a:rPr lang="en-US" sz="3200" b="1" dirty="0" smtClean="0"/>
              <a:t>	b)180</a:t>
            </a:r>
            <a:r>
              <a:rPr lang="en-US" sz="3200" b="1" dirty="0"/>
              <a:t>			</a:t>
            </a:r>
            <a:r>
              <a:rPr lang="en-US" sz="3200" b="1" dirty="0" smtClean="0"/>
              <a:t>c) 120</a:t>
            </a:r>
            <a:r>
              <a:rPr lang="en-US" sz="3200" b="1" dirty="0"/>
              <a:t>			</a:t>
            </a:r>
            <a:r>
              <a:rPr lang="en-US" sz="3200" b="1" dirty="0" smtClean="0"/>
              <a:t>d)140</a:t>
            </a:r>
            <a:endParaRPr lang="en-IN" sz="3200" b="1" dirty="0"/>
          </a:p>
          <a:p>
            <a:pPr marL="0" indent="0">
              <a:buNone/>
            </a:pP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</a:rPr>
              <a:t>Q.15)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8359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Q.15) </a:t>
            </a:r>
            <a:r>
              <a:rPr lang="en-IN" b="1" dirty="0">
                <a:solidFill>
                  <a:srgbClr val="00B050"/>
                </a:solidFill>
              </a:rPr>
              <a:t>Explanation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768991" y="2056214"/>
            <a:ext cx="3803904" cy="4128496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4645151" y="2056214"/>
                <a:ext cx="3803904" cy="406112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IN" dirty="0" smtClean="0"/>
                  <a:t>   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 smtClean="0"/>
              </a:p>
              <a:p>
                <a:pPr marL="0" indent="0">
                  <a:buNone/>
                </a:pPr>
                <a:endParaRPr lang="en-IN" dirty="0" smtClean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 smtClean="0">
                    <a:solidFill>
                      <a:schemeClr val="tx1"/>
                    </a:solidFill>
                  </a:rPr>
                  <a:t>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𝟑</m:t>
                        </m:r>
                      </m:num>
                      <m:den>
                        <m:r>
                          <a:rPr lang="en-IN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𝟗</m:t>
                        </m:r>
                      </m:den>
                    </m:f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𝟏𝟖𝟎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𝑹𝒔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.</m:t>
                    </m:r>
                    <m:r>
                      <a:rPr lang="en-IN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𝟔𝟎</m:t>
                    </m:r>
                  </m:oMath>
                </a14:m>
                <a:endParaRPr lang="en-IN" b="1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IN" b="1" dirty="0"/>
              </a:p>
              <a:p>
                <a:pPr marL="0" indent="0">
                  <a:buNone/>
                </a:pPr>
                <a:r>
                  <a:rPr lang="en-IN" b="1" dirty="0" smtClean="0">
                    <a:solidFill>
                      <a:schemeClr val="tx1"/>
                    </a:solidFill>
                  </a:rPr>
                  <a:t>For Rs.60 full of 50p coins means, totally =(60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IN" b="1" i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𝟐</m:t>
                    </m:r>
                  </m:oMath>
                </a14:m>
                <a:r>
                  <a:rPr lang="en-IN" b="1" dirty="0">
                    <a:solidFill>
                      <a:schemeClr val="tx1"/>
                    </a:solidFill>
                  </a:rPr>
                  <a:t>)coins </a:t>
                </a:r>
                <a:endParaRPr lang="en-IN" b="1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IN" b="1" dirty="0" smtClean="0">
                    <a:solidFill>
                      <a:srgbClr val="00B050"/>
                    </a:solidFill>
                  </a:rPr>
                  <a:t>Total 50p coins = 120 coins</a:t>
                </a:r>
                <a:endParaRPr lang="en-IN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4645151" y="2056214"/>
                <a:ext cx="3803904" cy="4061122"/>
              </a:xfrm>
              <a:blipFill rotWithShape="1">
                <a:blip r:embed="rId2"/>
                <a:stretch>
                  <a:fillRect l="-1923" r="-30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562931" y="2056214"/>
            <a:ext cx="93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Rs.180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790611" y="2811872"/>
            <a:ext cx="72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Re.1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2670943" y="2797084"/>
            <a:ext cx="72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50 p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3593399" y="2782296"/>
            <a:ext cx="72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25 p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11576" y="3552577"/>
            <a:ext cx="19525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/>
              <a:t>No of Coins Ratio</a:t>
            </a:r>
            <a:endParaRPr lang="en-IN" sz="1600" b="1" dirty="0"/>
          </a:p>
        </p:txBody>
      </p:sp>
      <p:cxnSp>
        <p:nvCxnSpPr>
          <p:cNvPr id="11" name="Straight Arrow Connector 10"/>
          <p:cNvCxnSpPr>
            <a:stCxn id="4" idx="2"/>
            <a:endCxn id="6" idx="0"/>
          </p:cNvCxnSpPr>
          <p:nvPr/>
        </p:nvCxnSpPr>
        <p:spPr>
          <a:xfrm flipH="1">
            <a:off x="2150651" y="2425546"/>
            <a:ext cx="880332" cy="38632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4" idx="2"/>
            <a:endCxn id="7" idx="0"/>
          </p:cNvCxnSpPr>
          <p:nvPr/>
        </p:nvCxnSpPr>
        <p:spPr>
          <a:xfrm>
            <a:off x="3030983" y="2425546"/>
            <a:ext cx="0" cy="3715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2"/>
            <a:endCxn id="8" idx="0"/>
          </p:cNvCxnSpPr>
          <p:nvPr/>
        </p:nvCxnSpPr>
        <p:spPr>
          <a:xfrm>
            <a:off x="3030983" y="2425546"/>
            <a:ext cx="922456" cy="3567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90611" y="3491021"/>
            <a:ext cx="242134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  2       </a:t>
            </a:r>
            <a:r>
              <a:rPr lang="en-IN" sz="2400" b="1" dirty="0" smtClean="0"/>
              <a:t>:</a:t>
            </a:r>
            <a:r>
              <a:rPr lang="en-IN" dirty="0" smtClean="0"/>
              <a:t>      3       </a:t>
            </a:r>
            <a:r>
              <a:rPr lang="en-IN" sz="2000" b="1" dirty="0" smtClean="0"/>
              <a:t> </a:t>
            </a:r>
            <a:r>
              <a:rPr lang="en-IN" sz="2400" b="1" dirty="0"/>
              <a:t>:</a:t>
            </a:r>
            <a:r>
              <a:rPr lang="en-IN" sz="2000" b="1" dirty="0" smtClean="0"/>
              <a:t>    </a:t>
            </a:r>
            <a:r>
              <a:rPr lang="en-IN" dirty="0"/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79" y="4448145"/>
            <a:ext cx="1608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/>
              <a:t>Rupees Ratio</a:t>
            </a:r>
            <a:endParaRPr lang="en-IN" sz="16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707687" y="4325034"/>
            <a:ext cx="269380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  2(100)  </a:t>
            </a:r>
            <a:r>
              <a:rPr lang="en-IN" sz="2400" b="1" dirty="0" smtClean="0"/>
              <a:t>:</a:t>
            </a:r>
            <a:r>
              <a:rPr lang="en-IN" dirty="0" smtClean="0"/>
              <a:t>  3(50)   </a:t>
            </a:r>
            <a:r>
              <a:rPr lang="en-IN" sz="2400" b="1" dirty="0" smtClean="0"/>
              <a:t>: </a:t>
            </a:r>
            <a:r>
              <a:rPr lang="en-IN" dirty="0" smtClean="0"/>
              <a:t>4(25)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1843917" y="4941168"/>
            <a:ext cx="242134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  200    </a:t>
            </a:r>
            <a:r>
              <a:rPr lang="en-IN" sz="2400" b="1" dirty="0" smtClean="0"/>
              <a:t>:</a:t>
            </a:r>
            <a:r>
              <a:rPr lang="en-IN" dirty="0" smtClean="0"/>
              <a:t>   150   </a:t>
            </a:r>
            <a:r>
              <a:rPr lang="en-IN" sz="2000" b="1" dirty="0" smtClean="0"/>
              <a:t> </a:t>
            </a:r>
            <a:r>
              <a:rPr lang="en-IN" sz="2400" b="1" dirty="0"/>
              <a:t>:</a:t>
            </a:r>
            <a:r>
              <a:rPr lang="en-IN" sz="2000" b="1" dirty="0" smtClean="0"/>
              <a:t>  </a:t>
            </a:r>
            <a:r>
              <a:rPr lang="en-IN" dirty="0" smtClean="0"/>
              <a:t>100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843917" y="5532040"/>
            <a:ext cx="242134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   4       </a:t>
            </a:r>
            <a:r>
              <a:rPr lang="en-IN" sz="2400" b="1" dirty="0" smtClean="0"/>
              <a:t>:</a:t>
            </a:r>
            <a:r>
              <a:rPr lang="en-IN" dirty="0" smtClean="0"/>
              <a:t>      3      </a:t>
            </a:r>
            <a:r>
              <a:rPr lang="en-IN" sz="2400" b="1" dirty="0" smtClean="0"/>
              <a:t>:</a:t>
            </a:r>
            <a:r>
              <a:rPr lang="en-IN" sz="2000" b="1" dirty="0" smtClean="0"/>
              <a:t>    2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6012160" y="2056214"/>
            <a:ext cx="93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Rs.180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5239840" y="2826660"/>
            <a:ext cx="72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Re.1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6120172" y="2811872"/>
            <a:ext cx="72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50 p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7042628" y="2797084"/>
            <a:ext cx="72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25 p</a:t>
            </a:r>
            <a:endParaRPr lang="en-IN" dirty="0"/>
          </a:p>
        </p:txBody>
      </p:sp>
      <p:cxnSp>
        <p:nvCxnSpPr>
          <p:cNvPr id="28" name="Straight Arrow Connector 27"/>
          <p:cNvCxnSpPr>
            <a:endCxn id="25" idx="0"/>
          </p:cNvCxnSpPr>
          <p:nvPr/>
        </p:nvCxnSpPr>
        <p:spPr>
          <a:xfrm flipH="1">
            <a:off x="5599880" y="2440334"/>
            <a:ext cx="880332" cy="38632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26" idx="0"/>
          </p:cNvCxnSpPr>
          <p:nvPr/>
        </p:nvCxnSpPr>
        <p:spPr>
          <a:xfrm>
            <a:off x="6480212" y="2440334"/>
            <a:ext cx="0" cy="3715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27" idx="0"/>
          </p:cNvCxnSpPr>
          <p:nvPr/>
        </p:nvCxnSpPr>
        <p:spPr>
          <a:xfrm>
            <a:off x="6480212" y="2440334"/>
            <a:ext cx="922456" cy="3567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280783" y="3303469"/>
            <a:ext cx="242134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  4       </a:t>
            </a:r>
            <a:r>
              <a:rPr lang="en-IN" sz="2400" b="1" dirty="0" smtClean="0"/>
              <a:t>:</a:t>
            </a:r>
            <a:r>
              <a:rPr lang="en-IN" dirty="0" smtClean="0"/>
              <a:t>      3      </a:t>
            </a:r>
            <a:r>
              <a:rPr lang="en-IN" sz="2400" b="1" dirty="0" smtClean="0"/>
              <a:t>:</a:t>
            </a:r>
            <a:r>
              <a:rPr lang="en-IN" sz="2000" b="1" dirty="0" smtClean="0"/>
              <a:t>    </a:t>
            </a:r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>
            <a:off x="1790611" y="3118803"/>
            <a:ext cx="666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100p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002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animBg="1"/>
      <p:bldP spid="6" grpId="0" animBg="1"/>
      <p:bldP spid="7" grpId="0" animBg="1"/>
      <p:bldP spid="8" grpId="0" animBg="1"/>
      <p:bldP spid="9" grpId="0"/>
      <p:bldP spid="17" grpId="0"/>
      <p:bldP spid="18" grpId="0"/>
      <p:bldP spid="19" grpId="0"/>
      <p:bldP spid="20" grpId="0"/>
      <p:bldP spid="21" grpId="0"/>
      <p:bldP spid="24" grpId="0" animBg="1"/>
      <p:bldP spid="25" grpId="0" animBg="1"/>
      <p:bldP spid="26" grpId="0" animBg="1"/>
      <p:bldP spid="27" grpId="0" animBg="1"/>
      <p:bldP spid="31" grpId="0"/>
      <p:bldP spid="3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132981"/>
          </a:xfrm>
        </p:spPr>
        <p:txBody>
          <a:bodyPr>
            <a:normAutofit lnSpcReduction="10000"/>
          </a:bodyPr>
          <a:lstStyle/>
          <a:p>
            <a:pPr marL="0" lvl="0" indent="0" algn="just">
              <a:buNone/>
            </a:pPr>
            <a:r>
              <a:rPr lang="en-US" sz="3600" b="1" dirty="0" smtClean="0">
                <a:solidFill>
                  <a:srgbClr val="FF0000"/>
                </a:solidFill>
              </a:rPr>
              <a:t>In </a:t>
            </a:r>
            <a:r>
              <a:rPr lang="en-US" sz="3600" b="1" dirty="0">
                <a:solidFill>
                  <a:srgbClr val="FF0000"/>
                </a:solidFill>
              </a:rPr>
              <a:t>a farm there are few hens and sheep. If heads are counted, there are 120 and if the legs are counted, there are 390. Find </a:t>
            </a:r>
            <a:r>
              <a:rPr lang="en-US" sz="3600" b="1" dirty="0" smtClean="0">
                <a:solidFill>
                  <a:srgbClr val="FF0000"/>
                </a:solidFill>
              </a:rPr>
              <a:t>the total no of hens in that farm?</a:t>
            </a:r>
            <a:endParaRPr lang="en-I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600" b="1" dirty="0" smtClean="0"/>
              <a:t>	a)60</a:t>
            </a:r>
            <a:r>
              <a:rPr lang="en-US" sz="3600" b="1" dirty="0"/>
              <a:t>		</a:t>
            </a:r>
            <a:r>
              <a:rPr lang="en-US" sz="3600" b="1" dirty="0" smtClean="0"/>
              <a:t>		b)45</a:t>
            </a:r>
            <a:r>
              <a:rPr lang="en-US" sz="3600" b="1" dirty="0"/>
              <a:t>		</a:t>
            </a:r>
            <a:endParaRPr lang="en-US" sz="3600" b="1" dirty="0" smtClean="0"/>
          </a:p>
          <a:p>
            <a:pPr marL="0" indent="0">
              <a:buNone/>
            </a:pPr>
            <a:r>
              <a:rPr lang="en-US" sz="3600" b="1" dirty="0"/>
              <a:t>	</a:t>
            </a:r>
            <a:r>
              <a:rPr lang="en-US" sz="3600" b="1" dirty="0" smtClean="0"/>
              <a:t>c)90</a:t>
            </a:r>
            <a:r>
              <a:rPr lang="en-US" sz="3600" b="1" dirty="0"/>
              <a:t>			</a:t>
            </a:r>
            <a:r>
              <a:rPr lang="en-US" sz="3600" b="1" dirty="0" smtClean="0"/>
              <a:t>	d)75</a:t>
            </a:r>
            <a:endParaRPr lang="en-IN" sz="3600" b="1" dirty="0"/>
          </a:p>
          <a:p>
            <a:pPr marL="0" indent="0">
              <a:buNone/>
            </a:pP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FF0000"/>
                </a:solidFill>
              </a:rPr>
              <a:t>Q.16)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7747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Q.16) </a:t>
            </a:r>
            <a:r>
              <a:rPr lang="en-IN" b="1" dirty="0">
                <a:solidFill>
                  <a:srgbClr val="00B050"/>
                </a:solidFill>
              </a:rPr>
              <a:t>Explanation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685800" y="1988840"/>
            <a:ext cx="3803904" cy="4128496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	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   2x </a:t>
            </a:r>
            <a:r>
              <a:rPr lang="en-IN" dirty="0">
                <a:solidFill>
                  <a:schemeClr val="tx1"/>
                </a:solidFill>
              </a:rPr>
              <a:t>+ 480 – 4x = </a:t>
            </a:r>
            <a:r>
              <a:rPr lang="en-IN" dirty="0" smtClean="0">
                <a:solidFill>
                  <a:schemeClr val="tx1"/>
                </a:solidFill>
              </a:rPr>
              <a:t>390</a:t>
            </a:r>
          </a:p>
          <a:p>
            <a:pPr marL="0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           2x = 90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	</a:t>
            </a:r>
            <a:r>
              <a:rPr lang="en-IN" dirty="0" smtClean="0">
                <a:solidFill>
                  <a:schemeClr val="tx1"/>
                </a:solidFill>
              </a:rPr>
              <a:t>x = 45</a:t>
            </a: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B050"/>
                </a:solidFill>
              </a:rPr>
              <a:t>Hens = </a:t>
            </a:r>
            <a:r>
              <a:rPr lang="en-IN" b="1" dirty="0" smtClean="0">
                <a:solidFill>
                  <a:srgbClr val="FF0000"/>
                </a:solidFill>
              </a:rPr>
              <a:t>x </a:t>
            </a:r>
            <a:r>
              <a:rPr lang="en-IN" b="1" dirty="0" smtClean="0">
                <a:solidFill>
                  <a:srgbClr val="00B050"/>
                </a:solidFill>
              </a:rPr>
              <a:t>=&gt; 45</a:t>
            </a:r>
          </a:p>
          <a:p>
            <a:pPr marL="0" indent="0">
              <a:buNone/>
            </a:pPr>
            <a:endParaRPr lang="en-IN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B050"/>
                </a:solidFill>
              </a:rPr>
              <a:t>Sheep =  </a:t>
            </a:r>
            <a:r>
              <a:rPr lang="en-IN" b="1" dirty="0" smtClean="0">
                <a:solidFill>
                  <a:srgbClr val="FF0000"/>
                </a:solidFill>
              </a:rPr>
              <a:t>120 – x </a:t>
            </a:r>
            <a:r>
              <a:rPr lang="en-IN" b="1" dirty="0" smtClean="0">
                <a:solidFill>
                  <a:srgbClr val="00B050"/>
                </a:solidFill>
              </a:rPr>
              <a:t>=&gt; 75</a:t>
            </a:r>
            <a:endParaRPr lang="en-IN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2016512" y="2282693"/>
            <a:ext cx="72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120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296432" y="3110074"/>
                <a:ext cx="720080" cy="400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1" i="1" dirty="0" smtClean="0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432" y="3110074"/>
                <a:ext cx="720080" cy="40011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29784" y="3094811"/>
                <a:ext cx="1106112" cy="400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000" b="1" dirty="0" smtClean="0"/>
                  <a:t>120 </a:t>
                </a:r>
                <a14:m>
                  <m:oMath xmlns:m="http://schemas.openxmlformats.org/officeDocument/2006/math">
                    <m:r>
                      <a:rPr lang="en-IN" sz="2000" b="1" i="1" dirty="0" smtClean="0">
                        <a:latin typeface="Cambria Math"/>
                      </a:rPr>
                      <m:t>− </m:t>
                    </m:r>
                    <m:r>
                      <a:rPr lang="en-IN" sz="2000" b="1" i="1" dirty="0" smtClean="0">
                        <a:latin typeface="Cambria Math"/>
                      </a:rPr>
                      <m:t>𝒙</m:t>
                    </m:r>
                  </m:oMath>
                </a14:m>
                <a:endParaRPr lang="en-IN" sz="20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9784" y="3094811"/>
                <a:ext cx="1106112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1093" t="-5970" b="-2537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165412" y="3464143"/>
            <a:ext cx="982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/>
              <a:t>Hens</a:t>
            </a:r>
            <a:endParaRPr lang="en-IN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518083" y="3479406"/>
            <a:ext cx="982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/>
              <a:t>Sheep</a:t>
            </a:r>
            <a:endParaRPr lang="en-IN" b="1" dirty="0"/>
          </a:p>
        </p:txBody>
      </p:sp>
      <p:cxnSp>
        <p:nvCxnSpPr>
          <p:cNvPr id="13" name="Straight Arrow Connector 12"/>
          <p:cNvCxnSpPr>
            <a:stCxn id="6" idx="2"/>
            <a:endCxn id="7" idx="0"/>
          </p:cNvCxnSpPr>
          <p:nvPr/>
        </p:nvCxnSpPr>
        <p:spPr>
          <a:xfrm flipH="1">
            <a:off x="1656472" y="2652025"/>
            <a:ext cx="720080" cy="45804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2"/>
            <a:endCxn id="8" idx="0"/>
          </p:cNvCxnSpPr>
          <p:nvPr/>
        </p:nvCxnSpPr>
        <p:spPr>
          <a:xfrm>
            <a:off x="2376552" y="2652025"/>
            <a:ext cx="706288" cy="44278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607918" y="1913361"/>
            <a:ext cx="1843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Total Animals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098482" y="4287147"/>
                <a:ext cx="3262428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 smtClean="0"/>
                  <a:t>    2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/>
                      </a:rPr>
                      <m:t>𝒙</m:t>
                    </m:r>
                  </m:oMath>
                </a14:m>
                <a:r>
                  <a:rPr lang="en-IN" b="1" dirty="0" smtClean="0"/>
                  <a:t>        +     4(120 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/>
                      </a:rPr>
                      <m:t>– </m:t>
                    </m:r>
                    <m:r>
                      <a:rPr lang="en-IN" b="1" i="1" dirty="0" smtClean="0">
                        <a:latin typeface="Cambria Math"/>
                      </a:rPr>
                      <m:t>𝒙</m:t>
                    </m:r>
                  </m:oMath>
                </a14:m>
                <a:r>
                  <a:rPr lang="en-IN" b="1" dirty="0" smtClean="0"/>
                  <a:t>)  = 390</a:t>
                </a:r>
                <a:endParaRPr lang="en-IN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482" y="4287147"/>
                <a:ext cx="3262428" cy="403124"/>
              </a:xfrm>
              <a:prstGeom prst="rect">
                <a:avLst/>
              </a:prstGeom>
              <a:blipFill rotWithShape="1">
                <a:blip r:embed="rId4"/>
                <a:stretch>
                  <a:fillRect t="-1515" b="-242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753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7" grpId="0" animBg="1"/>
      <p:bldP spid="8" grpId="0" animBg="1"/>
      <p:bldP spid="9" grpId="0"/>
      <p:bldP spid="11" grpId="0"/>
      <p:bldP spid="18" grpId="0"/>
      <p:bldP spid="1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395537" y="1988840"/>
                <a:ext cx="8424936" cy="486915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N" sz="3200" b="1" dirty="0" smtClean="0">
                    <a:solidFill>
                      <a:srgbClr val="FF0000"/>
                    </a:solidFill>
                  </a:rPr>
                  <a:t>Finding number of Hens:</a:t>
                </a:r>
              </a:p>
              <a:p>
                <a:pPr marL="0" indent="0">
                  <a:buNone/>
                </a:pPr>
                <a:r>
                  <a:rPr lang="en-IN" b="1" dirty="0" smtClean="0">
                    <a:solidFill>
                      <a:srgbClr val="FF0000"/>
                    </a:solidFill>
                  </a:rPr>
                  <a:t>Step 1 :   </a:t>
                </a:r>
                <a:r>
                  <a:rPr lang="en-IN" sz="2800" b="1" dirty="0" smtClean="0">
                    <a:solidFill>
                      <a:srgbClr val="00B050"/>
                    </a:solidFill>
                  </a:rPr>
                  <a:t>Total Legs Count – (Total heads Count 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IN" sz="2800" b="1" dirty="0" smtClean="0">
                    <a:solidFill>
                      <a:srgbClr val="00B050"/>
                    </a:solidFill>
                  </a:rPr>
                  <a:t> 2)</a:t>
                </a:r>
              </a:p>
              <a:p>
                <a:pPr marL="0" indent="0">
                  <a:buNone/>
                </a:pPr>
                <a:endParaRPr lang="en-IN" sz="2800" b="1" dirty="0" smtClean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IN" b="1" dirty="0" smtClean="0">
                    <a:solidFill>
                      <a:srgbClr val="FF0000"/>
                    </a:solidFill>
                  </a:rPr>
                  <a:t>Step 2 :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1" dirty="0">
                            <a:solidFill>
                              <a:srgbClr val="00B050"/>
                            </a:solidFill>
                          </a:rPr>
                          <m:t>Result</m:t>
                        </m:r>
                        <m:r>
                          <m:rPr>
                            <m:nor/>
                          </m:rPr>
                          <a:rPr lang="en-IN" sz="2800" b="1" dirty="0">
                            <a:solidFill>
                              <a:srgbClr val="00B05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800" b="1" dirty="0">
                            <a:solidFill>
                              <a:srgbClr val="00B050"/>
                            </a:solidFill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IN" sz="2800" b="1" dirty="0">
                            <a:solidFill>
                              <a:srgbClr val="00B05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800" b="1" dirty="0">
                            <a:solidFill>
                              <a:srgbClr val="00B050"/>
                            </a:solidFill>
                          </a:rPr>
                          <m:t>step</m:t>
                        </m:r>
                        <m:r>
                          <m:rPr>
                            <m:nor/>
                          </m:rPr>
                          <a:rPr lang="en-IN" sz="2800" b="1" dirty="0">
                            <a:solidFill>
                              <a:srgbClr val="00B050"/>
                            </a:solidFill>
                          </a:rPr>
                          <m:t> 1</m:t>
                        </m:r>
                      </m:num>
                      <m:den>
                        <m:r>
                          <a:rPr lang="en-IN" sz="2800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endParaRPr lang="en-IN" b="1" dirty="0" smtClean="0"/>
              </a:p>
              <a:p>
                <a:pPr marL="0" indent="0">
                  <a:buNone/>
                </a:pPr>
                <a:endParaRPr lang="en-IN" dirty="0" smtClean="0"/>
              </a:p>
              <a:p>
                <a:pPr marL="0" indent="0">
                  <a:buNone/>
                </a:pPr>
                <a:r>
                  <a:rPr lang="en-IN" sz="2800" b="1" dirty="0" smtClean="0"/>
                  <a:t>Step 1 : 390 – (120 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IN" sz="2800" b="1" dirty="0" smtClean="0"/>
                  <a:t> 2)  </a:t>
                </a:r>
              </a:p>
              <a:p>
                <a:pPr marL="0" indent="0">
                  <a:buNone/>
                </a:pPr>
                <a:r>
                  <a:rPr lang="en-IN" sz="2800" b="1" dirty="0"/>
                  <a:t>	</a:t>
                </a:r>
                <a:r>
                  <a:rPr lang="en-IN" sz="2800" b="1" dirty="0" smtClean="0"/>
                  <a:t> = 390 – 240 </a:t>
                </a:r>
              </a:p>
              <a:p>
                <a:pPr marL="0" indent="0">
                  <a:buNone/>
                </a:pPr>
                <a:r>
                  <a:rPr lang="en-IN" sz="2800" b="1" dirty="0"/>
                  <a:t> </a:t>
                </a:r>
                <a:r>
                  <a:rPr lang="en-IN" sz="2800" b="1" dirty="0" smtClean="0"/>
                  <a:t>  	 = 150</a:t>
                </a:r>
              </a:p>
              <a:p>
                <a:pPr marL="0" indent="0">
                  <a:buNone/>
                </a:pPr>
                <a:r>
                  <a:rPr lang="en-IN" sz="2800" b="1" dirty="0" smtClean="0"/>
                  <a:t>Step 2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latin typeface="Cambria Math"/>
                          </a:rPr>
                          <m:t>𝟏𝟓𝟎</m:t>
                        </m:r>
                      </m:num>
                      <m:den>
                        <m:r>
                          <a:rPr lang="en-IN" sz="2800" b="1" i="1" smtClean="0"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IN" sz="2800" b="1" dirty="0" smtClean="0"/>
                  <a:t> = </a:t>
                </a:r>
                <a:r>
                  <a:rPr lang="en-IN" sz="2800" b="1" dirty="0" smtClean="0">
                    <a:solidFill>
                      <a:srgbClr val="00B050"/>
                    </a:solidFill>
                  </a:rPr>
                  <a:t>75 Hens</a:t>
                </a:r>
                <a:endParaRPr lang="en-IN" sz="28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7" y="1988840"/>
                <a:ext cx="8424936" cy="4869159"/>
              </a:xfrm>
              <a:blipFill rotWithShape="1">
                <a:blip r:embed="rId2"/>
                <a:stretch>
                  <a:fillRect l="-1881" t="-2628" r="-10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Shortcut</a:t>
            </a:r>
            <a:endParaRPr lang="en-IN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70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IN" b="1" dirty="0" smtClean="0">
                <a:solidFill>
                  <a:srgbClr val="FF0000"/>
                </a:solidFill>
              </a:rPr>
              <a:t>Q.17)</a:t>
            </a:r>
            <a:r>
              <a:rPr lang="en-US" dirty="0"/>
              <a:t> In a </a:t>
            </a:r>
            <a:r>
              <a:rPr lang="en-US" dirty="0" smtClean="0"/>
              <a:t>farm there </a:t>
            </a:r>
            <a:r>
              <a:rPr lang="en-US" dirty="0"/>
              <a:t>are </a:t>
            </a:r>
            <a:r>
              <a:rPr lang="en-US" dirty="0" smtClean="0"/>
              <a:t>few hens </a:t>
            </a:r>
            <a:r>
              <a:rPr lang="en-US" dirty="0"/>
              <a:t>and </a:t>
            </a:r>
            <a:r>
              <a:rPr lang="en-US" dirty="0" smtClean="0"/>
              <a:t>sheep. </a:t>
            </a:r>
            <a:r>
              <a:rPr lang="en-US" dirty="0"/>
              <a:t>If heads are counted, there are 200 and if the legs are counted, there are 580. How many pigeons are there?</a:t>
            </a:r>
            <a:endParaRPr lang="en-IN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a)100</a:t>
            </a:r>
            <a:r>
              <a:rPr lang="en-US" dirty="0"/>
              <a:t>			</a:t>
            </a:r>
            <a:r>
              <a:rPr lang="en-US" dirty="0" smtClean="0"/>
              <a:t>	b)90</a:t>
            </a:r>
            <a:r>
              <a:rPr lang="en-US" dirty="0"/>
              <a:t>			c)110			</a:t>
            </a:r>
            <a:r>
              <a:rPr lang="en-US" dirty="0" smtClean="0"/>
              <a:t>	d)120</a:t>
            </a:r>
            <a:r>
              <a:rPr lang="en-US" dirty="0"/>
              <a:t>	</a:t>
            </a:r>
            <a:endParaRPr lang="en-IN" dirty="0"/>
          </a:p>
          <a:p>
            <a:pPr marL="0" indent="0">
              <a:buNone/>
            </a:pP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7982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Q.17) </a:t>
            </a:r>
            <a:r>
              <a:rPr lang="en-IN" b="1" dirty="0">
                <a:solidFill>
                  <a:srgbClr val="00B050"/>
                </a:solidFill>
              </a:rPr>
              <a:t>Explanation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685800" y="1988840"/>
            <a:ext cx="3803904" cy="4128496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	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   2x </a:t>
            </a:r>
            <a:r>
              <a:rPr lang="en-IN" dirty="0">
                <a:solidFill>
                  <a:schemeClr val="tx1"/>
                </a:solidFill>
              </a:rPr>
              <a:t>+ </a:t>
            </a:r>
            <a:r>
              <a:rPr lang="en-IN" dirty="0" smtClean="0">
                <a:solidFill>
                  <a:schemeClr val="tx1"/>
                </a:solidFill>
              </a:rPr>
              <a:t>800 </a:t>
            </a:r>
            <a:r>
              <a:rPr lang="en-IN" dirty="0">
                <a:solidFill>
                  <a:schemeClr val="tx1"/>
                </a:solidFill>
              </a:rPr>
              <a:t>– 4x = </a:t>
            </a:r>
            <a:r>
              <a:rPr lang="en-IN" dirty="0" smtClean="0">
                <a:solidFill>
                  <a:schemeClr val="tx1"/>
                </a:solidFill>
              </a:rPr>
              <a:t>580</a:t>
            </a:r>
          </a:p>
          <a:p>
            <a:pPr marL="0" indent="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           2x = 220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	</a:t>
            </a:r>
            <a:r>
              <a:rPr lang="en-IN" dirty="0" smtClean="0">
                <a:solidFill>
                  <a:schemeClr val="tx1"/>
                </a:solidFill>
              </a:rPr>
              <a:t>x = 110</a:t>
            </a: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B050"/>
                </a:solidFill>
              </a:rPr>
              <a:t>Pigeons = </a:t>
            </a:r>
            <a:r>
              <a:rPr lang="en-IN" b="1" dirty="0" smtClean="0">
                <a:solidFill>
                  <a:srgbClr val="FF0000"/>
                </a:solidFill>
              </a:rPr>
              <a:t>x </a:t>
            </a:r>
            <a:r>
              <a:rPr lang="en-IN" b="1" dirty="0" smtClean="0">
                <a:solidFill>
                  <a:srgbClr val="00B050"/>
                </a:solidFill>
              </a:rPr>
              <a:t>=&gt; 110</a:t>
            </a:r>
          </a:p>
          <a:p>
            <a:pPr marL="0" indent="0">
              <a:buNone/>
            </a:pPr>
            <a:endParaRPr lang="en-IN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00B050"/>
                </a:solidFill>
              </a:rPr>
              <a:t>Rabbits = </a:t>
            </a:r>
            <a:r>
              <a:rPr lang="en-IN" b="1" dirty="0" smtClean="0">
                <a:solidFill>
                  <a:srgbClr val="FF0000"/>
                </a:solidFill>
              </a:rPr>
              <a:t>200 – x </a:t>
            </a:r>
            <a:r>
              <a:rPr lang="en-IN" b="1" dirty="0" smtClean="0">
                <a:solidFill>
                  <a:srgbClr val="00B050"/>
                </a:solidFill>
              </a:rPr>
              <a:t>=&gt; 90</a:t>
            </a:r>
            <a:endParaRPr lang="en-IN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2016512" y="2282693"/>
            <a:ext cx="720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200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296432" y="3110074"/>
                <a:ext cx="720080" cy="400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1" i="1" dirty="0" smtClean="0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432" y="3110074"/>
                <a:ext cx="720080" cy="40011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29784" y="3094811"/>
                <a:ext cx="1106112" cy="400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000" b="1" dirty="0" smtClean="0"/>
                  <a:t>200 </a:t>
                </a:r>
                <a14:m>
                  <m:oMath xmlns:m="http://schemas.openxmlformats.org/officeDocument/2006/math">
                    <m:r>
                      <a:rPr lang="en-IN" sz="2000" b="1" i="1" dirty="0" smtClean="0">
                        <a:latin typeface="Cambria Math"/>
                      </a:rPr>
                      <m:t>− </m:t>
                    </m:r>
                    <m:r>
                      <a:rPr lang="en-IN" sz="2000" b="1" i="1" dirty="0" smtClean="0">
                        <a:latin typeface="Cambria Math"/>
                      </a:rPr>
                      <m:t>𝒙</m:t>
                    </m:r>
                  </m:oMath>
                </a14:m>
                <a:endParaRPr lang="en-IN" sz="20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9784" y="3094811"/>
                <a:ext cx="1106112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1093" t="-5970" b="-2537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050902" y="3521443"/>
            <a:ext cx="1211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/>
              <a:t>Pigeons</a:t>
            </a:r>
            <a:endParaRPr lang="en-IN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518082" y="3479406"/>
            <a:ext cx="126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/>
              <a:t>Rabbits</a:t>
            </a:r>
            <a:endParaRPr lang="en-IN" b="1" dirty="0"/>
          </a:p>
        </p:txBody>
      </p:sp>
      <p:cxnSp>
        <p:nvCxnSpPr>
          <p:cNvPr id="13" name="Straight Arrow Connector 12"/>
          <p:cNvCxnSpPr>
            <a:stCxn id="6" idx="2"/>
            <a:endCxn id="7" idx="0"/>
          </p:cNvCxnSpPr>
          <p:nvPr/>
        </p:nvCxnSpPr>
        <p:spPr>
          <a:xfrm flipH="1">
            <a:off x="1656472" y="2652025"/>
            <a:ext cx="720080" cy="45804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2"/>
            <a:endCxn id="8" idx="0"/>
          </p:cNvCxnSpPr>
          <p:nvPr/>
        </p:nvCxnSpPr>
        <p:spPr>
          <a:xfrm>
            <a:off x="2376552" y="2652025"/>
            <a:ext cx="706288" cy="44278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607918" y="1913361"/>
            <a:ext cx="1843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Total Animals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098482" y="4287147"/>
                <a:ext cx="3262428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 smtClean="0"/>
                  <a:t>    2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/>
                      </a:rPr>
                      <m:t>𝒙</m:t>
                    </m:r>
                  </m:oMath>
                </a14:m>
                <a:r>
                  <a:rPr lang="en-IN" b="1" dirty="0" smtClean="0"/>
                  <a:t>        +     4(200 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/>
                      </a:rPr>
                      <m:t>– </m:t>
                    </m:r>
                    <m:r>
                      <a:rPr lang="en-IN" b="1" i="1" dirty="0" smtClean="0">
                        <a:latin typeface="Cambria Math"/>
                      </a:rPr>
                      <m:t>𝒙</m:t>
                    </m:r>
                  </m:oMath>
                </a14:m>
                <a:r>
                  <a:rPr lang="en-IN" b="1" dirty="0" smtClean="0"/>
                  <a:t>)  = 580</a:t>
                </a:r>
                <a:endParaRPr lang="en-IN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482" y="4287147"/>
                <a:ext cx="3262428" cy="403124"/>
              </a:xfrm>
              <a:prstGeom prst="rect">
                <a:avLst/>
              </a:prstGeom>
              <a:blipFill rotWithShape="1">
                <a:blip r:embed="rId4"/>
                <a:stretch>
                  <a:fillRect t="-1515" b="-242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1089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7" grpId="0" animBg="1"/>
      <p:bldP spid="8" grpId="0" animBg="1"/>
      <p:bldP spid="9" grpId="0"/>
      <p:bldP spid="11" grpId="0"/>
      <p:bldP spid="18" grpId="0"/>
      <p:bldP spid="1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395537" y="1988840"/>
                <a:ext cx="8424936" cy="486915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N" sz="3200" b="1" dirty="0" smtClean="0">
                    <a:solidFill>
                      <a:srgbClr val="FF0000"/>
                    </a:solidFill>
                  </a:rPr>
                  <a:t>Finding number of Sheep:</a:t>
                </a:r>
              </a:p>
              <a:p>
                <a:pPr marL="0" indent="0">
                  <a:buNone/>
                </a:pPr>
                <a:r>
                  <a:rPr lang="en-IN" b="1" dirty="0" smtClean="0">
                    <a:solidFill>
                      <a:srgbClr val="FF0000"/>
                    </a:solidFill>
                  </a:rPr>
                  <a:t>Step 1 :</a:t>
                </a:r>
                <a:r>
                  <a:rPr lang="en-IN" sz="2800" b="1" dirty="0" smtClean="0">
                    <a:solidFill>
                      <a:srgbClr val="00B050"/>
                    </a:solidFill>
                  </a:rPr>
                  <a:t> (Total heads Count 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IN" sz="2800" b="1" dirty="0" smtClean="0">
                    <a:solidFill>
                      <a:srgbClr val="00B050"/>
                    </a:solidFill>
                  </a:rPr>
                  <a:t> 4) - </a:t>
                </a:r>
                <a:r>
                  <a:rPr lang="en-IN" sz="2800" b="1" dirty="0">
                    <a:solidFill>
                      <a:srgbClr val="00B050"/>
                    </a:solidFill>
                  </a:rPr>
                  <a:t>Total Legs Count </a:t>
                </a:r>
                <a:endParaRPr lang="en-IN" sz="2800" b="1" dirty="0" smtClean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IN" sz="2800" b="1" dirty="0" smtClean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IN" b="1" dirty="0" smtClean="0">
                    <a:solidFill>
                      <a:srgbClr val="FF0000"/>
                    </a:solidFill>
                  </a:rPr>
                  <a:t>Step 2 :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1" dirty="0">
                            <a:solidFill>
                              <a:srgbClr val="00B050"/>
                            </a:solidFill>
                          </a:rPr>
                          <m:t>Result</m:t>
                        </m:r>
                        <m:r>
                          <m:rPr>
                            <m:nor/>
                          </m:rPr>
                          <a:rPr lang="en-IN" sz="2800" b="1" dirty="0">
                            <a:solidFill>
                              <a:srgbClr val="00B05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800" b="1" dirty="0">
                            <a:solidFill>
                              <a:srgbClr val="00B050"/>
                            </a:solidFill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IN" sz="2800" b="1" dirty="0">
                            <a:solidFill>
                              <a:srgbClr val="00B05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800" b="1" dirty="0">
                            <a:solidFill>
                              <a:srgbClr val="00B050"/>
                            </a:solidFill>
                          </a:rPr>
                          <m:t>step</m:t>
                        </m:r>
                        <m:r>
                          <m:rPr>
                            <m:nor/>
                          </m:rPr>
                          <a:rPr lang="en-IN" sz="2800" b="1" dirty="0">
                            <a:solidFill>
                              <a:srgbClr val="00B050"/>
                            </a:solidFill>
                          </a:rPr>
                          <m:t> 1</m:t>
                        </m:r>
                      </m:num>
                      <m:den>
                        <m:r>
                          <a:rPr lang="en-IN" sz="2800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endParaRPr lang="en-IN" b="1" dirty="0" smtClean="0"/>
              </a:p>
              <a:p>
                <a:pPr marL="0" indent="0">
                  <a:buNone/>
                </a:pPr>
                <a:endParaRPr lang="en-IN" dirty="0" smtClean="0"/>
              </a:p>
              <a:p>
                <a:pPr marL="0" indent="0">
                  <a:buNone/>
                </a:pPr>
                <a:r>
                  <a:rPr lang="en-IN" sz="2800" b="1" dirty="0" smtClean="0"/>
                  <a:t>Step 1 : (200 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IN" sz="2800" b="1" dirty="0" smtClean="0"/>
                  <a:t> 4) - 580</a:t>
                </a:r>
              </a:p>
              <a:p>
                <a:pPr marL="0" indent="0">
                  <a:buNone/>
                </a:pPr>
                <a:r>
                  <a:rPr lang="en-IN" sz="2800" b="1" dirty="0"/>
                  <a:t>	</a:t>
                </a:r>
                <a:r>
                  <a:rPr lang="en-IN" sz="2800" b="1" dirty="0" smtClean="0"/>
                  <a:t> = 800 – 580 </a:t>
                </a:r>
              </a:p>
              <a:p>
                <a:pPr marL="0" indent="0">
                  <a:buNone/>
                </a:pPr>
                <a:r>
                  <a:rPr lang="en-IN" sz="2800" b="1" dirty="0"/>
                  <a:t> </a:t>
                </a:r>
                <a:r>
                  <a:rPr lang="en-IN" sz="2800" b="1" dirty="0" smtClean="0"/>
                  <a:t>  	 = 220</a:t>
                </a:r>
              </a:p>
              <a:p>
                <a:pPr marL="0" indent="0">
                  <a:buNone/>
                </a:pPr>
                <a:r>
                  <a:rPr lang="en-IN" sz="2800" b="1" dirty="0" smtClean="0"/>
                  <a:t>Step 2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latin typeface="Cambria Math"/>
                          </a:rPr>
                          <m:t>𝟐𝟐𝟎</m:t>
                        </m:r>
                      </m:num>
                      <m:den>
                        <m:r>
                          <a:rPr lang="en-IN" sz="2800" b="1" i="1" smtClean="0"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IN" sz="2800" b="1" dirty="0" smtClean="0"/>
                  <a:t> = </a:t>
                </a:r>
                <a:r>
                  <a:rPr lang="en-IN" sz="2800" b="1" dirty="0" smtClean="0">
                    <a:solidFill>
                      <a:srgbClr val="00B050"/>
                    </a:solidFill>
                  </a:rPr>
                  <a:t>110 Sheep.</a:t>
                </a:r>
                <a:endParaRPr lang="en-IN" sz="28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7" y="1988840"/>
                <a:ext cx="8424936" cy="4869159"/>
              </a:xfrm>
              <a:blipFill rotWithShape="1">
                <a:blip r:embed="rId3"/>
                <a:stretch>
                  <a:fillRect l="-1881" t="-26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 smtClean="0">
                <a:solidFill>
                  <a:srgbClr val="00B050"/>
                </a:solidFill>
              </a:rPr>
              <a:t>Shortcut</a:t>
            </a:r>
            <a:endParaRPr lang="en-IN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50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1583</TotalTime>
  <Words>1762</Words>
  <Application>Microsoft Office PowerPoint</Application>
  <PresentationFormat>On-screen Show (4:3)</PresentationFormat>
  <Paragraphs>758</Paragraphs>
  <Slides>63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Book Antiqua</vt:lpstr>
      <vt:lpstr>Calibri</vt:lpstr>
      <vt:lpstr>Cambria Math</vt:lpstr>
      <vt:lpstr>Times New Roman</vt:lpstr>
      <vt:lpstr>Wingdings</vt:lpstr>
      <vt:lpstr>Hardcover</vt:lpstr>
      <vt:lpstr>Ratio and Proportion</vt:lpstr>
      <vt:lpstr>Ratio</vt:lpstr>
      <vt:lpstr>Types of Ratios</vt:lpstr>
      <vt:lpstr>1) Duplicate Ratio</vt:lpstr>
      <vt:lpstr>2) Sub-Duplicate Ratio </vt:lpstr>
      <vt:lpstr>3) Triplicate Ratio </vt:lpstr>
      <vt:lpstr>4) Sub-Triplicate Ratio </vt:lpstr>
      <vt:lpstr>5) Inverse Ratio </vt:lpstr>
      <vt:lpstr>5) Inverse Ratio… </vt:lpstr>
      <vt:lpstr>6) Compound Ratio </vt:lpstr>
      <vt:lpstr>Proportion</vt:lpstr>
      <vt:lpstr>Proportion</vt:lpstr>
      <vt:lpstr>Basic Problems </vt:lpstr>
      <vt:lpstr>Q.1)</vt:lpstr>
      <vt:lpstr>Q.1)Explanation</vt:lpstr>
      <vt:lpstr>Q.2)</vt:lpstr>
      <vt:lpstr>Q.2)Explanation</vt:lpstr>
      <vt:lpstr>Q.3)</vt:lpstr>
      <vt:lpstr>Q.3)Explanation</vt:lpstr>
      <vt:lpstr>Q.4)</vt:lpstr>
      <vt:lpstr>Q.4)Explanation</vt:lpstr>
      <vt:lpstr>Q.5)</vt:lpstr>
      <vt:lpstr>Q.5) Explanation</vt:lpstr>
      <vt:lpstr>Q.6)</vt:lpstr>
      <vt:lpstr>Q.6)Explanation</vt:lpstr>
      <vt:lpstr>Type 1: Problems</vt:lpstr>
      <vt:lpstr>Q.5) </vt:lpstr>
      <vt:lpstr>Q.5) Explanation</vt:lpstr>
      <vt:lpstr>Q.6) </vt:lpstr>
      <vt:lpstr>Q.6) Explanation</vt:lpstr>
      <vt:lpstr>Type 2: Problems</vt:lpstr>
      <vt:lpstr> Q.7)</vt:lpstr>
      <vt:lpstr>Q.7) Explanation</vt:lpstr>
      <vt:lpstr>Q.8) </vt:lpstr>
      <vt:lpstr>Q.8) Explanation</vt:lpstr>
      <vt:lpstr>Two Ratios Based Problems </vt:lpstr>
      <vt:lpstr>Q.9)Explanation</vt:lpstr>
      <vt:lpstr>Q.9)Shortcut</vt:lpstr>
      <vt:lpstr>Two Ratios Based Problems </vt:lpstr>
      <vt:lpstr>)Explanation</vt:lpstr>
      <vt:lpstr>)Shortcut</vt:lpstr>
      <vt:lpstr>Q.10) </vt:lpstr>
      <vt:lpstr>Q.10) Explanation</vt:lpstr>
      <vt:lpstr>Q.10) Shortcut</vt:lpstr>
      <vt:lpstr>Q.11)</vt:lpstr>
      <vt:lpstr>Q.11) Explanation</vt:lpstr>
      <vt:lpstr>Q.11) Shortcut</vt:lpstr>
      <vt:lpstr>Q.11) </vt:lpstr>
      <vt:lpstr>Q.11) Explanation</vt:lpstr>
      <vt:lpstr>Q.12) </vt:lpstr>
      <vt:lpstr>Q.12) Explanation</vt:lpstr>
      <vt:lpstr>Q.13) </vt:lpstr>
      <vt:lpstr>Q.13) Explanation</vt:lpstr>
      <vt:lpstr> Q.14)</vt:lpstr>
      <vt:lpstr>Q.14) Explanation</vt:lpstr>
      <vt:lpstr>Q.15) </vt:lpstr>
      <vt:lpstr>Q.15) Explanation</vt:lpstr>
      <vt:lpstr>Q.16) </vt:lpstr>
      <vt:lpstr>Q.16) Explanation</vt:lpstr>
      <vt:lpstr>Shortcut</vt:lpstr>
      <vt:lpstr> </vt:lpstr>
      <vt:lpstr>Q.17) Explanation</vt:lpstr>
      <vt:lpstr>Shortcut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and Proportion</dc:title>
  <dc:creator>Mr.V.Senthil Nathan</dc:creator>
  <cp:lastModifiedBy>V. Senthil Nathan</cp:lastModifiedBy>
  <cp:revision>213</cp:revision>
  <dcterms:created xsi:type="dcterms:W3CDTF">2016-07-12T07:22:39Z</dcterms:created>
  <dcterms:modified xsi:type="dcterms:W3CDTF">2024-02-20T04:08:22Z</dcterms:modified>
</cp:coreProperties>
</file>