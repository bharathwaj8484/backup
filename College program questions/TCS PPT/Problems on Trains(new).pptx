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sldIdLst>
    <p:sldId id="299" r:id="rId2"/>
    <p:sldId id="298" r:id="rId3"/>
    <p:sldId id="303" r:id="rId4"/>
    <p:sldId id="263" r:id="rId5"/>
    <p:sldId id="264" r:id="rId6"/>
    <p:sldId id="284" r:id="rId7"/>
    <p:sldId id="265" r:id="rId8"/>
    <p:sldId id="285" r:id="rId9"/>
    <p:sldId id="300" r:id="rId10"/>
    <p:sldId id="304" r:id="rId11"/>
    <p:sldId id="266" r:id="rId12"/>
    <p:sldId id="267" r:id="rId13"/>
    <p:sldId id="286" r:id="rId14"/>
    <p:sldId id="268" r:id="rId15"/>
    <p:sldId id="287" r:id="rId16"/>
    <p:sldId id="301" r:id="rId17"/>
    <p:sldId id="305" r:id="rId18"/>
    <p:sldId id="269" r:id="rId19"/>
    <p:sldId id="270" r:id="rId20"/>
    <p:sldId id="288" r:id="rId21"/>
    <p:sldId id="271" r:id="rId22"/>
    <p:sldId id="289" r:id="rId23"/>
    <p:sldId id="302" r:id="rId24"/>
    <p:sldId id="306" r:id="rId25"/>
    <p:sldId id="272" r:id="rId26"/>
    <p:sldId id="273" r:id="rId27"/>
    <p:sldId id="290" r:id="rId28"/>
    <p:sldId id="274" r:id="rId29"/>
    <p:sldId id="291" r:id="rId30"/>
    <p:sldId id="275" r:id="rId31"/>
    <p:sldId id="257" r:id="rId32"/>
    <p:sldId id="292" r:id="rId33"/>
    <p:sldId id="262" r:id="rId34"/>
    <p:sldId id="294" r:id="rId35"/>
    <p:sldId id="256" r:id="rId36"/>
    <p:sldId id="295" r:id="rId37"/>
    <p:sldId id="276" r:id="rId38"/>
    <p:sldId id="259" r:id="rId39"/>
    <p:sldId id="296" r:id="rId40"/>
    <p:sldId id="260" r:id="rId41"/>
    <p:sldId id="297" r:id="rId42"/>
    <p:sldId id="281" r:id="rId43"/>
    <p:sldId id="282" r:id="rId44"/>
    <p:sldId id="308" r:id="rId45"/>
    <p:sldId id="309" r:id="rId46"/>
    <p:sldId id="313" r:id="rId47"/>
    <p:sldId id="283" r:id="rId48"/>
    <p:sldId id="310" r:id="rId49"/>
    <p:sldId id="311" r:id="rId50"/>
    <p:sldId id="312" r:id="rId51"/>
    <p:sldId id="261" r:id="rId52"/>
    <p:sldId id="279" r:id="rId53"/>
    <p:sldId id="277" r:id="rId54"/>
    <p:sldId id="278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50" autoAdjust="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F1EF2-D57A-4ACF-ADEA-3F327E936494}" type="datetimeFigureOut">
              <a:rPr lang="en-IN" smtClean="0"/>
              <a:t>02-05-2018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67861-730B-4DBA-9CC9-668512022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793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D67861-730B-4DBA-9CC9-668512022517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263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D67861-730B-4DBA-9CC9-668512022517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263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D67861-730B-4DBA-9CC9-668512022517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961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5869B3-0FE0-4D06-959B-2F6D18801AEE}" type="datetimeFigureOut">
              <a:rPr lang="en-IN" smtClean="0"/>
              <a:t>02-05-2018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133217-C730-4EF9-809B-4C255EA53FC4}" type="slidenum">
              <a:rPr lang="en-IN" smtClean="0"/>
              <a:t>‹#›</a:t>
            </a:fld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69B3-0FE0-4D06-959B-2F6D18801AEE}" type="datetimeFigureOut">
              <a:rPr lang="en-IN" smtClean="0"/>
              <a:t>02-05-2018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33217-C730-4EF9-809B-4C255EA53FC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69B3-0FE0-4D06-959B-2F6D18801AEE}" type="datetimeFigureOut">
              <a:rPr lang="en-IN" smtClean="0"/>
              <a:t>02-05-2018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33217-C730-4EF9-809B-4C255EA53FC4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69B3-0FE0-4D06-959B-2F6D18801AEE}" type="datetimeFigureOut">
              <a:rPr lang="en-IN" smtClean="0"/>
              <a:t>02-05-2018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33217-C730-4EF9-809B-4C255EA53FC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69B3-0FE0-4D06-959B-2F6D18801AEE}" type="datetimeFigureOut">
              <a:rPr lang="en-IN" smtClean="0"/>
              <a:t>02-05-2018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33217-C730-4EF9-809B-4C255EA53FC4}" type="slidenum">
              <a:rPr lang="en-IN" smtClean="0"/>
              <a:t>‹#›</a:t>
            </a:fld>
            <a:endParaRPr lang="en-IN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69B3-0FE0-4D06-959B-2F6D18801AEE}" type="datetimeFigureOut">
              <a:rPr lang="en-IN" smtClean="0"/>
              <a:t>02-05-2018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33217-C730-4EF9-809B-4C255EA53FC4}" type="slidenum">
              <a:rPr lang="en-IN" smtClean="0"/>
              <a:t>‹#›</a:t>
            </a:fld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69B3-0FE0-4D06-959B-2F6D18801AEE}" type="datetimeFigureOut">
              <a:rPr lang="en-IN" smtClean="0"/>
              <a:t>02-05-2018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33217-C730-4EF9-809B-4C255EA53FC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69B3-0FE0-4D06-959B-2F6D18801AEE}" type="datetimeFigureOut">
              <a:rPr lang="en-IN" smtClean="0"/>
              <a:t>02-05-2018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33217-C730-4EF9-809B-4C255EA53FC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69B3-0FE0-4D06-959B-2F6D18801AEE}" type="datetimeFigureOut">
              <a:rPr lang="en-IN" smtClean="0"/>
              <a:t>02-05-2018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33217-C730-4EF9-809B-4C255EA53FC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69B3-0FE0-4D06-959B-2F6D18801AEE}" type="datetimeFigureOut">
              <a:rPr lang="en-IN" smtClean="0"/>
              <a:t>02-05-2018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33217-C730-4EF9-809B-4C255EA53FC4}" type="slidenum">
              <a:rPr lang="en-IN" smtClean="0"/>
              <a:t>‹#›</a:t>
            </a:fld>
            <a:endParaRPr lang="en-IN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69B3-0FE0-4D06-959B-2F6D18801AEE}" type="datetimeFigureOut">
              <a:rPr lang="en-IN" smtClean="0"/>
              <a:t>02-05-2018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33217-C730-4EF9-809B-4C255EA53FC4}" type="slidenum">
              <a:rPr lang="en-IN" smtClean="0"/>
              <a:t>‹#›</a:t>
            </a:fld>
            <a:endParaRPr lang="en-IN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865869B3-0FE0-4D06-959B-2F6D18801AEE}" type="datetimeFigureOut">
              <a:rPr lang="en-IN" smtClean="0"/>
              <a:t>02-05-2018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8E133217-C730-4EF9-809B-4C255EA53FC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2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24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2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2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20.png"/><Relationship Id="rId10" Type="http://schemas.openxmlformats.org/officeDocument/2006/relationships/image" Target="../media/image29.png"/><Relationship Id="rId4" Type="http://schemas.openxmlformats.org/officeDocument/2006/relationships/image" Target="../media/image210.png"/><Relationship Id="rId9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0.png"/><Relationship Id="rId7" Type="http://schemas.openxmlformats.org/officeDocument/2006/relationships/image" Target="../media/image35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0.png"/><Relationship Id="rId5" Type="http://schemas.openxmlformats.org/officeDocument/2006/relationships/image" Target="../media/image15.png"/><Relationship Id="rId4" Type="http://schemas.openxmlformats.org/officeDocument/2006/relationships/image" Target="../media/image33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11" Type="http://schemas.openxmlformats.org/officeDocument/2006/relationships/image" Target="../media/image56.png"/><Relationship Id="rId5" Type="http://schemas.openxmlformats.org/officeDocument/2006/relationships/image" Target="../media/image48.png"/><Relationship Id="rId10" Type="http://schemas.openxmlformats.org/officeDocument/2006/relationships/image" Target="../media/image55.png"/><Relationship Id="rId4" Type="http://schemas.openxmlformats.org/officeDocument/2006/relationships/image" Target="../media/image47.png"/><Relationship Id="rId9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47.png"/><Relationship Id="rId7" Type="http://schemas.openxmlformats.org/officeDocument/2006/relationships/image" Target="../media/image6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47.png"/><Relationship Id="rId7" Type="http://schemas.openxmlformats.org/officeDocument/2006/relationships/image" Target="../media/image6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47.png"/><Relationship Id="rId7" Type="http://schemas.openxmlformats.org/officeDocument/2006/relationships/image" Target="../media/image7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5.png"/><Relationship Id="rId4" Type="http://schemas.openxmlformats.org/officeDocument/2006/relationships/image" Target="../media/image64.png"/><Relationship Id="rId9" Type="http://schemas.openxmlformats.org/officeDocument/2006/relationships/image" Target="../media/image7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9.png"/><Relationship Id="rId11" Type="http://schemas.openxmlformats.org/officeDocument/2006/relationships/image" Target="../media/image95.png"/><Relationship Id="rId5" Type="http://schemas.openxmlformats.org/officeDocument/2006/relationships/image" Target="../media/image78.png"/><Relationship Id="rId10" Type="http://schemas.openxmlformats.org/officeDocument/2006/relationships/image" Target="../media/image94.png"/><Relationship Id="rId4" Type="http://schemas.openxmlformats.org/officeDocument/2006/relationships/image" Target="../media/image77.png"/><Relationship Id="rId9" Type="http://schemas.openxmlformats.org/officeDocument/2006/relationships/image" Target="../media/image9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600" b="1" dirty="0" smtClean="0"/>
              <a:t>Problems on Trains</a:t>
            </a:r>
            <a:endParaRPr lang="en-IN" sz="6600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276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Crossing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Stationary Object</a:t>
            </a:r>
            <a:r>
              <a:rPr lang="en-IN"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</a:p>
          <a:p>
            <a:pPr marL="0" indent="0">
              <a:buNone/>
            </a:pPr>
            <a:r>
              <a:rPr lang="en-IN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lang="en-IN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have any </a:t>
            </a:r>
            <a:r>
              <a:rPr lang="en-IN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IN"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b="1" dirty="0" smtClean="0"/>
              <a:t>Examples: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	</a:t>
            </a:r>
            <a:r>
              <a:rPr lang="en-IN" dirty="0" smtClean="0"/>
              <a:t>A Tree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	</a:t>
            </a:r>
            <a:r>
              <a:rPr lang="en-IN" dirty="0" smtClean="0"/>
              <a:t>An Electric pole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	</a:t>
            </a:r>
            <a:r>
              <a:rPr lang="en-IN" dirty="0" smtClean="0"/>
              <a:t>A Milestone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	A Lamp post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	</a:t>
            </a:r>
            <a:r>
              <a:rPr lang="en-IN" dirty="0" smtClean="0"/>
              <a:t>A Standing man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Type 1: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6648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 smtClean="0"/>
              <a:t> </a:t>
            </a:r>
            <a:endParaRPr lang="en-IN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6000" b="1" dirty="0" smtClean="0"/>
              <a:t>Variables in Type -1 Problems</a:t>
            </a:r>
            <a:endParaRPr lang="en-IN" sz="6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835696" y="2852936"/>
                <a:ext cx="5400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2852936"/>
                <a:ext cx="540060" cy="4001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35696" y="3419688"/>
                <a:ext cx="5400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sz="2000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3419688"/>
                <a:ext cx="540060" cy="4001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842325" y="3964414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T</a:t>
            </a:r>
            <a:endParaRPr lang="en-IN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2403390" y="285419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2411760" y="396787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403390" y="342770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2971186" y="2852936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2980105" y="3964414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2965167" y="3419997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3546016" y="395527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sec</a:t>
            </a:r>
            <a:endParaRPr lang="en-IN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3546016" y="2854346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m</a:t>
            </a:r>
            <a:endParaRPr lang="en-IN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3546016" y="3427701"/>
            <a:ext cx="95397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k</a:t>
            </a:r>
            <a:r>
              <a:rPr lang="en-IN" sz="2000" dirty="0" smtClean="0"/>
              <a:t>m/h</a:t>
            </a:r>
            <a:endParaRPr lang="en-I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82403" y="4869160"/>
                <a:ext cx="1629181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3600" b="1" dirty="0" smtClean="0">
                    <a:solidFill>
                      <a:srgbClr val="FF0000"/>
                    </a:solidFill>
                  </a:rPr>
                  <a:t>D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sz="3600" b="1" dirty="0" smtClean="0">
                    <a:solidFill>
                      <a:srgbClr val="FF0000"/>
                    </a:solidFill>
                  </a:rPr>
                  <a:t> </a:t>
                </a:r>
                <a:endParaRPr lang="en-IN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403" y="4869160"/>
                <a:ext cx="1629181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4089" t="-12963" b="-33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63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600" b="1" dirty="0" smtClean="0"/>
              <a:t>Type 1 - Questions</a:t>
            </a:r>
            <a:endParaRPr lang="en-IN" sz="66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17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A train 280 m long, running with speed of 63 km/h will pass an electric pole in 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a)20 sec			b)16 sec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c)15 sec			d)18 sec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36302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Q.1)Explanation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	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59632" y="2812286"/>
                <a:ext cx="72008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2812286"/>
                <a:ext cx="720080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033642" y="2812286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339752" y="2812099"/>
            <a:ext cx="12961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280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285942" y="3334205"/>
                <a:ext cx="72008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942" y="3334205"/>
                <a:ext cx="72008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059952" y="3334205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366062" y="3334018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63 km/h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1285942" y="3852130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2059952" y="3852130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366062" y="3851943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? sec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037662" y="4581128"/>
                <a:ext cx="3318314" cy="15566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44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IN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𝑻</m:t>
                          </m:r>
                          <m:r>
                            <a:rPr lang="en-IN" sz="44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en-IN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𝒔𝒆𝒄</m:t>
                          </m:r>
                          <m:r>
                            <a:rPr lang="en-IN" sz="44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= </m:t>
                          </m:r>
                          <m:f>
                            <m:fPr>
                              <m:ctrlPr>
                                <a:rPr lang="en-IN" sz="4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44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44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IN" sz="44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𝑫</m:t>
                                  </m:r>
                                  <m:r>
                                    <a:rPr lang="en-IN" sz="44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IN" sz="44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4400" b="1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44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IN" sz="4400" b="1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𝑺</m:t>
                                  </m:r>
                                  <m:r>
                                    <a:rPr lang="en-IN" sz="44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b>
                                  <m:f>
                                    <m:fPr>
                                      <m:ctrlPr>
                                        <a:rPr lang="en-IN" sz="4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4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</a:rPr>
                                        <m:t>𝒎</m:t>
                                      </m:r>
                                    </m:num>
                                    <m:den>
                                      <m:r>
                                        <a:rPr lang="en-IN" sz="4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</a:rPr>
                                        <m:t>𝒔𝒆𝒄</m:t>
                                      </m:r>
                                    </m:den>
                                  </m:f>
                                </m:sub>
                              </m:sSub>
                            </m:den>
                          </m:f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62" y="4581128"/>
                <a:ext cx="3318314" cy="155664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220072" y="2636912"/>
                <a:ext cx="3168352" cy="1287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 smtClean="0">
                    <a:solidFill>
                      <a:schemeClr val="tx1"/>
                    </a:solidFill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280</m:t>
                            </m:r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36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63 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× </m:t>
                            </m:r>
                            <m:f>
                              <m:fPr>
                                <m:ctrlPr>
                                  <a:rPr lang="en-IN" sz="360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n-IN" sz="36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36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18</m:t>
                                </m:r>
                              </m:den>
                            </m:f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f>
                              <m:fPr>
                                <m:ctrlPr>
                                  <a:rPr lang="en-IN" sz="36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IN" sz="3600" b="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3600" b="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𝑠𝑒𝑐</m:t>
                                </m:r>
                              </m:den>
                            </m:f>
                          </m:sub>
                        </m:sSub>
                      </m:den>
                    </m:f>
                  </m:oMath>
                </a14:m>
                <a:r>
                  <a:rPr lang="en-IN" sz="3600" dirty="0" smtClean="0">
                    <a:solidFill>
                      <a:schemeClr val="tx1"/>
                    </a:solidFill>
                  </a:rPr>
                  <a:t> </a:t>
                </a:r>
                <a:endParaRPr lang="en-IN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636912"/>
                <a:ext cx="3168352" cy="1287404"/>
              </a:xfrm>
              <a:prstGeom prst="rect">
                <a:avLst/>
              </a:prstGeom>
              <a:blipFill rotWithShape="1">
                <a:blip r:embed="rId5"/>
                <a:stretch>
                  <a:fillRect l="-2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220072" y="4092949"/>
                <a:ext cx="3168352" cy="889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 smtClean="0">
                    <a:solidFill>
                      <a:schemeClr val="tx1"/>
                    </a:solidFill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280 </m:t>
                        </m:r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×18</m:t>
                        </m:r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63 </m:t>
                        </m:r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× 5</m:t>
                        </m:r>
                      </m:den>
                    </m:f>
                  </m:oMath>
                </a14:m>
                <a:r>
                  <a:rPr lang="en-IN" sz="3600" dirty="0" smtClean="0">
                    <a:solidFill>
                      <a:schemeClr val="tx1"/>
                    </a:solidFill>
                  </a:rPr>
                  <a:t> </a:t>
                </a:r>
                <a:endParaRPr lang="en-IN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4092949"/>
                <a:ext cx="3168352" cy="889924"/>
              </a:xfrm>
              <a:prstGeom prst="rect">
                <a:avLst/>
              </a:prstGeom>
              <a:blipFill rotWithShape="1">
                <a:blip r:embed="rId6"/>
                <a:stretch>
                  <a:fillRect l="-2115" b="-116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220072" y="5247849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>
                <a:solidFill>
                  <a:srgbClr val="00B050"/>
                </a:solidFill>
              </a:rPr>
              <a:t> = </a:t>
            </a:r>
            <a:r>
              <a:rPr lang="en-IN" sz="3600" b="1" dirty="0" smtClean="0">
                <a:solidFill>
                  <a:srgbClr val="00B050"/>
                </a:solidFill>
                <a:latin typeface="Cambria Math" pitchFamily="18" charset="0"/>
                <a:ea typeface="Cambria Math" pitchFamily="18" charset="0"/>
              </a:rPr>
              <a:t>16 sec</a:t>
            </a:r>
            <a:endParaRPr lang="en-IN" sz="3600" b="1" dirty="0">
              <a:solidFill>
                <a:srgbClr val="00B050"/>
              </a:solidFill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598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6" grpId="0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	A train travelling at a speed of 90 km/h, crosses a tree in 10 sec, then the length of the train is: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a)250 m			b)150 m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c)350 m			d)100 m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Q.2)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4439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Q.2)Explanation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	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59632" y="2812286"/>
                <a:ext cx="72008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2812286"/>
                <a:ext cx="720080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033642" y="2812286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339752" y="2812099"/>
            <a:ext cx="12961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(?)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285942" y="3334205"/>
                <a:ext cx="72008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942" y="3334205"/>
                <a:ext cx="72008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059952" y="3334205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366062" y="3334018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90 km/h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1285942" y="3852130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2059952" y="3852130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366062" y="3851943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10 sec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293840" y="3560517"/>
                <a:ext cx="4860032" cy="952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IN" sz="2800" i="1">
                              <a:latin typeface="Cambria Math"/>
                            </a:rPr>
                            <m:t> </m:t>
                          </m:r>
                        </m:sub>
                      </m:sSub>
                      <m:r>
                        <a:rPr lang="en-IN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800" i="1" smtClean="0">
                              <a:latin typeface="Cambria Math"/>
                            </a:rPr>
                            <m:t>(</m:t>
                          </m:r>
                          <m:r>
                            <a:rPr lang="en-IN" sz="2800" b="0" i="1" smtClean="0">
                              <a:latin typeface="Cambria Math"/>
                            </a:rPr>
                            <m:t>10</m:t>
                          </m:r>
                          <m:r>
                            <a:rPr lang="en-IN" sz="2800" i="1">
                              <a:latin typeface="Cambria Math"/>
                            </a:rPr>
                            <m:t> )</m:t>
                          </m:r>
                        </m:e>
                        <m:sub>
                          <m:r>
                            <a:rPr lang="en-IN" sz="2800" i="1">
                              <a:latin typeface="Cambria Math"/>
                            </a:rPr>
                            <m:t>𝑠𝑒𝑐</m:t>
                          </m:r>
                        </m:sub>
                      </m:sSub>
                      <m:r>
                        <a:rPr lang="en-IN" sz="2800" i="1">
                          <a:latin typeface="Cambria Math"/>
                        </a:rPr>
                        <m:t> </m:t>
                      </m:r>
                      <m:r>
                        <a:rPr lang="en-IN" sz="2800" i="1"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IN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/>
                            </a:rPr>
                            <m:t>(</m:t>
                          </m:r>
                          <m:r>
                            <a:rPr lang="en-IN" sz="2800" b="0" i="1" smtClean="0">
                              <a:latin typeface="Cambria Math"/>
                            </a:rPr>
                            <m:t>90</m:t>
                          </m:r>
                          <m:r>
                            <a:rPr lang="en-IN" sz="2800" i="1">
                              <a:latin typeface="Cambria Math"/>
                            </a:rPr>
                            <m:t> </m:t>
                          </m:r>
                          <m:r>
                            <a:rPr lang="en-IN" sz="2800" i="1">
                              <a:latin typeface="Cambria Math"/>
                              <a:ea typeface="Cambria Math"/>
                            </a:rPr>
                            <m:t>×</m:t>
                          </m:r>
                          <m:f>
                            <m:fPr>
                              <m:ctrlPr>
                                <a:rPr lang="en-IN" sz="2800" i="1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latin typeface="Cambria Math"/>
                                  <a:ea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IN" sz="2800" i="1">
                                  <a:latin typeface="Cambria Math"/>
                                  <a:ea typeface="Cambria Math"/>
                                </a:rPr>
                                <m:t>18</m:t>
                              </m:r>
                            </m:den>
                          </m:f>
                          <m:r>
                            <a:rPr lang="en-IN" sz="2800" i="1">
                              <a:latin typeface="Cambria Math"/>
                            </a:rPr>
                            <m:t>)</m:t>
                          </m:r>
                        </m:e>
                        <m:sub>
                          <m:f>
                            <m:fPr>
                              <m:ctrlPr>
                                <a:rPr lang="en-IN" sz="28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latin typeface="Cambria Math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IN" sz="2800" i="1">
                                  <a:latin typeface="Cambria Math"/>
                                </a:rPr>
                                <m:t>𝑠𝑒𝑐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840" y="3560517"/>
                <a:ext cx="4860032" cy="95218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220072" y="5247849"/>
                <a:ext cx="31683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>
                            <a:solidFill>
                              <a:srgbClr val="00B05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IN" sz="3600">
                            <a:solidFill>
                              <a:srgbClr val="00B050"/>
                            </a:solidFill>
                            <a:latin typeface="Cambria Math"/>
                          </a:rPr>
                          <m:t>𝑡</m:t>
                        </m:r>
                        <m:r>
                          <a:rPr lang="en-IN" sz="3600">
                            <a:solidFill>
                              <a:srgbClr val="00B050"/>
                            </a:solidFill>
                            <a:latin typeface="Cambria Math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sz="3600" dirty="0" smtClean="0">
                    <a:solidFill>
                      <a:srgbClr val="00B050"/>
                    </a:solidFill>
                  </a:rPr>
                  <a:t>= </a:t>
                </a:r>
                <a:r>
                  <a:rPr lang="en-IN" sz="3600" b="1" dirty="0" smtClean="0">
                    <a:solidFill>
                      <a:srgbClr val="00B050"/>
                    </a:solidFill>
                    <a:latin typeface="Cambria Math" pitchFamily="18" charset="0"/>
                    <a:ea typeface="Cambria Math" pitchFamily="18" charset="0"/>
                  </a:rPr>
                  <a:t>250 m</a:t>
                </a:r>
                <a:endParaRPr lang="en-IN" sz="3600" b="1" dirty="0">
                  <a:solidFill>
                    <a:srgbClr val="00B050"/>
                  </a:solidFill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5247849"/>
                <a:ext cx="3168352" cy="646331"/>
              </a:xfrm>
              <a:prstGeom prst="rect">
                <a:avLst/>
              </a:prstGeom>
              <a:blipFill rotWithShape="1">
                <a:blip r:embed="rId5"/>
                <a:stretch>
                  <a:fillRect t="-16981" b="-349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99592" y="4896844"/>
                <a:ext cx="3613618" cy="7162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8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IN" sz="28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𝒎</m:t>
                          </m:r>
                          <m:r>
                            <a:rPr lang="en-IN" sz="28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 </m:t>
                          </m:r>
                        </m:sub>
                      </m:sSub>
                      <m:r>
                        <a:rPr lang="en-IN" sz="2800" b="1" i="1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IN" sz="28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8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IN" sz="28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𝑻</m:t>
                          </m:r>
                          <m:r>
                            <a:rPr lang="en-IN" sz="28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en-IN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𝒔𝒆𝒄</m:t>
                          </m:r>
                        </m:sub>
                      </m:sSub>
                      <m:r>
                        <a:rPr lang="en-IN" sz="2800" b="1" i="1">
                          <a:solidFill>
                            <a:srgbClr val="00B050"/>
                          </a:solidFill>
                          <a:latin typeface="Cambria Math"/>
                        </a:rPr>
                        <m:t> </m:t>
                      </m:r>
                      <m:r>
                        <a:rPr lang="en-IN" sz="2800" b="1" i="1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IN" sz="28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8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IN" sz="28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𝑺</m:t>
                          </m:r>
                          <m:r>
                            <a:rPr lang="en-IN" sz="28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b>
                          <m:f>
                            <m:fPr>
                              <m:ctrlPr>
                                <a:rPr lang="en-IN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IN" sz="28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IN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𝒔𝒆𝒄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4896844"/>
                <a:ext cx="3613618" cy="71622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15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7" grpId="0"/>
      <p:bldP spid="19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Crossing a </a:t>
            </a:r>
            <a:r>
              <a:rPr lang="en-IN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Stationary Object</a:t>
            </a:r>
            <a:r>
              <a:rPr lang="en-IN"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having some</a:t>
            </a:r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IN"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32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Platform</a:t>
            </a:r>
            <a:endParaRPr lang="en-IN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A Bridge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A Tunnel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A Standing Train</a:t>
            </a:r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Type 2: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1388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 smtClean="0"/>
              <a:t> </a:t>
            </a:r>
            <a:endParaRPr lang="en-IN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6000" b="1" dirty="0" smtClean="0"/>
              <a:t>Variables in Type </a:t>
            </a:r>
            <a:r>
              <a:rPr lang="en-IN" sz="6000" b="1" dirty="0" smtClean="0"/>
              <a:t>-2 </a:t>
            </a:r>
            <a:r>
              <a:rPr lang="en-IN" sz="6000" b="1" dirty="0" smtClean="0"/>
              <a:t>Problems</a:t>
            </a:r>
            <a:endParaRPr lang="en-IN" sz="6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835696" y="2852936"/>
                <a:ext cx="5400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2852936"/>
                <a:ext cx="540060" cy="4001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35696" y="3419688"/>
                <a:ext cx="5400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sz="2000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3419688"/>
                <a:ext cx="540060" cy="4001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842325" y="3964414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T</a:t>
            </a:r>
            <a:endParaRPr lang="en-IN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2403390" y="285419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2411760" y="396787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403390" y="342770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2971186" y="2852936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2980105" y="3964414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2965167" y="3419997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3546016" y="395527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sec</a:t>
            </a:r>
            <a:endParaRPr lang="en-IN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3546016" y="2854346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m</a:t>
            </a:r>
            <a:endParaRPr lang="en-IN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3546016" y="3427701"/>
            <a:ext cx="95397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k</a:t>
            </a:r>
            <a:r>
              <a:rPr lang="en-IN" sz="2000" dirty="0" smtClean="0"/>
              <a:t>m/h</a:t>
            </a:r>
            <a:endParaRPr lang="en-IN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482402" y="4869160"/>
                <a:ext cx="3313733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3600" b="1" dirty="0" smtClean="0">
                    <a:solidFill>
                      <a:srgbClr val="FF0000"/>
                    </a:solidFill>
                  </a:rPr>
                  <a:t>D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sz="3600" b="1" dirty="0" smtClean="0">
                    <a:solidFill>
                      <a:srgbClr val="FF0000"/>
                    </a:solidFill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3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IN" sz="3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IN" sz="3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𝒐𝒃</m:t>
                        </m:r>
                      </m:sub>
                    </m:sSub>
                  </m:oMath>
                </a14:m>
                <a:endParaRPr lang="en-IN" sz="36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402" y="4869160"/>
                <a:ext cx="3313733" cy="646331"/>
              </a:xfrm>
              <a:prstGeom prst="rect">
                <a:avLst/>
              </a:prstGeom>
              <a:blipFill rotWithShape="1">
                <a:blip r:embed="rId4"/>
                <a:stretch>
                  <a:fillRect t="-12963" b="-33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249115" y="2852936"/>
                <a:ext cx="5400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IN" sz="2000" b="0" i="1" smtClean="0">
                              <a:latin typeface="Cambria Math"/>
                            </a:rPr>
                            <m:t>.</m:t>
                          </m:r>
                          <m:r>
                            <a:rPr lang="en-IN" sz="2000" b="0" i="1" smtClean="0">
                              <a:latin typeface="Cambria Math"/>
                            </a:rPr>
                            <m:t>𝑜𝑏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115" y="2852936"/>
                <a:ext cx="540060" cy="400110"/>
              </a:xfrm>
              <a:prstGeom prst="rect">
                <a:avLst/>
              </a:prstGeom>
              <a:blipFill rotWithShape="1">
                <a:blip r:embed="rId5"/>
                <a:stretch>
                  <a:fillRect r="-112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4816809" y="285419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5384605" y="2852936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5959435" y="2854346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m</a:t>
            </a:r>
            <a:endParaRPr lang="en-IN" sz="2000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4086076" y="2811456"/>
            <a:ext cx="0" cy="54553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04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600" b="1" dirty="0" smtClean="0"/>
              <a:t>Type 2 - Questions</a:t>
            </a:r>
            <a:endParaRPr lang="en-IN" sz="66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826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 smtClean="0"/>
              <a:t>	A train is moving at a speed 132 km/h. If the length of the train is 110 m, then how long will it take to cross a railway platform 165 m long?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a)5 sec				b)7.5 sec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c)10 sec			d)15 sec</a:t>
            </a:r>
            <a:endParaRPr lang="en-IN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Q.3)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6828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Q.3)Explanation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4357072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169546" y="2403937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475656" y="2403750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110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411760" y="2390082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2390082"/>
                <a:ext cx="50405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757144" y="2390082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3117184" y="2389895"/>
            <a:ext cx="93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165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12153" y="3149539"/>
                <a:ext cx="4837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53" y="3149539"/>
                <a:ext cx="483777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221275" y="314953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1527385" y="3149352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132 km/h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812152" y="3667277"/>
            <a:ext cx="4837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221275" y="3667464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1527385" y="3667277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(?)sec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1169546" y="4293096"/>
                <a:ext cx="2466381" cy="1157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𝑻</m:t>
                          </m:r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𝒔𝒆𝒄</m:t>
                          </m:r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= </m:t>
                          </m:r>
                          <m:f>
                            <m:fPr>
                              <m:ctrlPr>
                                <a:rPr lang="en-IN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𝑫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𝑺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b>
                                  <m:f>
                                    <m:fPr>
                                      <m:ctrlPr>
                                        <a:rPr lang="en-IN" sz="3200" b="1" i="1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3200" b="1" i="1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</a:rPr>
                                        <m:t>𝒎</m:t>
                                      </m:r>
                                    </m:num>
                                    <m:den>
                                      <m:r>
                                        <a:rPr lang="en-IN" sz="3200" b="1" i="1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</a:rPr>
                                        <m:t>𝒔𝒆𝒄</m:t>
                                      </m:r>
                                    </m:den>
                                  </m:f>
                                </m:sub>
                              </m:sSub>
                            </m:den>
                          </m:f>
                        </m:sub>
                      </m:sSub>
                    </m:oMath>
                  </m:oMathPara>
                </a14:m>
                <a:endParaRPr lang="en-IN" sz="36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546" y="4293096"/>
                <a:ext cx="2466381" cy="115717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1516801" y="5589240"/>
            <a:ext cx="2016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D = 110 + 165</a:t>
            </a:r>
          </a:p>
          <a:p>
            <a:r>
              <a:rPr lang="en-IN" sz="2000" dirty="0"/>
              <a:t> </a:t>
            </a:r>
            <a:r>
              <a:rPr lang="en-IN" sz="2000" dirty="0" smtClean="0"/>
              <a:t>   = 275 m</a:t>
            </a:r>
            <a:endParaRPr lang="en-I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004048" y="2387698"/>
                <a:ext cx="3168352" cy="1287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 smtClean="0">
                    <a:solidFill>
                      <a:schemeClr val="tx1"/>
                    </a:solidFill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275</m:t>
                            </m:r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36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132 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× </m:t>
                            </m:r>
                            <m:f>
                              <m:fPr>
                                <m:ctrlPr>
                                  <a:rPr lang="en-IN" sz="360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n-IN" sz="36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36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18</m:t>
                                </m:r>
                              </m:den>
                            </m:f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f>
                              <m:fPr>
                                <m:ctrlPr>
                                  <a:rPr lang="en-IN" sz="36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IN" sz="3600" b="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3600" b="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𝑠𝑒𝑐</m:t>
                                </m:r>
                              </m:den>
                            </m:f>
                          </m:sub>
                        </m:sSub>
                      </m:den>
                    </m:f>
                  </m:oMath>
                </a14:m>
                <a:r>
                  <a:rPr lang="en-IN" sz="3600" dirty="0" smtClean="0">
                    <a:solidFill>
                      <a:schemeClr val="tx1"/>
                    </a:solidFill>
                  </a:rPr>
                  <a:t> </a:t>
                </a:r>
                <a:endParaRPr lang="en-IN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2387698"/>
                <a:ext cx="3168352" cy="1287404"/>
              </a:xfrm>
              <a:prstGeom prst="rect">
                <a:avLst/>
              </a:prstGeom>
              <a:blipFill rotWithShape="1">
                <a:blip r:embed="rId6"/>
                <a:stretch>
                  <a:fillRect l="-23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004048" y="3843735"/>
                <a:ext cx="3168352" cy="889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 smtClean="0">
                    <a:solidFill>
                      <a:schemeClr val="tx1"/>
                    </a:solidFill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275 </m:t>
                        </m:r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×18</m:t>
                        </m:r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132 </m:t>
                        </m:r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× 5</m:t>
                        </m:r>
                      </m:den>
                    </m:f>
                  </m:oMath>
                </a14:m>
                <a:r>
                  <a:rPr lang="en-IN" sz="3600" dirty="0" smtClean="0">
                    <a:solidFill>
                      <a:schemeClr val="tx1"/>
                    </a:solidFill>
                  </a:rPr>
                  <a:t> </a:t>
                </a:r>
                <a:endParaRPr lang="en-IN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843735"/>
                <a:ext cx="3168352" cy="889924"/>
              </a:xfrm>
              <a:prstGeom prst="rect">
                <a:avLst/>
              </a:prstGeom>
              <a:blipFill rotWithShape="1">
                <a:blip r:embed="rId7"/>
                <a:stretch>
                  <a:fillRect l="-2308" b="-123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5004048" y="4998635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>
                <a:solidFill>
                  <a:srgbClr val="00B050"/>
                </a:solidFill>
              </a:rPr>
              <a:t> = </a:t>
            </a:r>
            <a:r>
              <a:rPr lang="en-IN" sz="3600" b="1" dirty="0" smtClean="0">
                <a:solidFill>
                  <a:srgbClr val="00B050"/>
                </a:solidFill>
                <a:latin typeface="Cambria Math" pitchFamily="18" charset="0"/>
                <a:ea typeface="Cambria Math" pitchFamily="18" charset="0"/>
              </a:rPr>
              <a:t>7.5 sec</a:t>
            </a:r>
            <a:endParaRPr lang="en-IN" sz="3600" b="1" dirty="0">
              <a:solidFill>
                <a:srgbClr val="00B050"/>
              </a:solidFill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10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/>
      <p:bldP spid="10" grpId="0"/>
      <p:bldP spid="11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/>
      <p:bldP spid="27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	If a 200m long train crosses a platform of same length as that of the train in 20 sec. Then the speed of the train is: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a)50 km/h			b)60 km/h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c)72 km/h			d)80 km/h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Q.4)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0370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Q.4)Explanation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4357072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169546" y="2403937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475656" y="2403750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200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411760" y="2390082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2390082"/>
                <a:ext cx="50405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757144" y="2390082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3117184" y="2389895"/>
            <a:ext cx="93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200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12153" y="3149539"/>
                <a:ext cx="4837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53" y="3149539"/>
                <a:ext cx="483777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221275" y="314953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1527385" y="3149352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(?) km/h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812152" y="3667277"/>
            <a:ext cx="4837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221275" y="3667464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1527385" y="3667277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20 sec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1516801" y="5589240"/>
            <a:ext cx="2016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D = 200 + 200</a:t>
            </a:r>
          </a:p>
          <a:p>
            <a:r>
              <a:rPr lang="en-IN" sz="2000" dirty="0"/>
              <a:t> </a:t>
            </a:r>
            <a:r>
              <a:rPr lang="en-IN" sz="2000" dirty="0" smtClean="0"/>
              <a:t>   = 400 m</a:t>
            </a:r>
            <a:endParaRPr lang="en-I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004048" y="2387698"/>
                <a:ext cx="3168352" cy="990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 smtClean="0">
                    <a:solidFill>
                      <a:schemeClr val="tx1"/>
                    </a:solidFill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400</m:t>
                            </m:r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36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20</m:t>
                            </m:r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𝑠𝑒𝑐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3600" dirty="0" smtClean="0">
                    <a:solidFill>
                      <a:schemeClr val="tx1"/>
                    </a:solidFill>
                  </a:rPr>
                  <a:t> </a:t>
                </a:r>
                <a:endParaRPr lang="en-IN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2387698"/>
                <a:ext cx="3168352" cy="990977"/>
              </a:xfrm>
              <a:prstGeom prst="rect">
                <a:avLst/>
              </a:prstGeom>
              <a:blipFill rotWithShape="1">
                <a:blip r:embed="rId5"/>
                <a:stretch>
                  <a:fillRect l="-2308" b="-30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076056" y="3852130"/>
                <a:ext cx="3528392" cy="921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 smtClean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36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36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IN" sz="3600" b="0" i="1">
                                <a:latin typeface="Cambria Math"/>
                              </a:rPr>
                              <m:t>400 </m:t>
                            </m:r>
                          </m:num>
                          <m:den>
                            <m:r>
                              <a:rPr lang="en-IN" sz="3600" b="0" i="1">
                                <a:latin typeface="Cambria Math"/>
                              </a:rPr>
                              <m:t>20</m:t>
                            </m:r>
                          </m:den>
                        </m:f>
                      </m:e>
                    </m:d>
                    <m:r>
                      <a:rPr lang="en-IN" sz="36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IN" sz="36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18</m:t>
                        </m:r>
                      </m:num>
                      <m:den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IN" sz="36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>
                            <a:latin typeface="Cambria Math"/>
                          </a:rPr>
                        </m:ctrlPr>
                      </m:fPr>
                      <m:num>
                        <m:r>
                          <a:rPr lang="en-IN" sz="3600" b="0" i="1">
                            <a:latin typeface="Cambria Math"/>
                          </a:rPr>
                          <m:t> </m:t>
                        </m:r>
                        <m:r>
                          <a:rPr lang="en-IN" sz="3600" b="0" i="1">
                            <a:latin typeface="Cambria Math"/>
                          </a:rPr>
                          <m:t>𝑘𝑚</m:t>
                        </m:r>
                      </m:num>
                      <m:den>
                        <m:r>
                          <a:rPr lang="en-IN" sz="3600" b="0" i="1">
                            <a:latin typeface="Cambria Math"/>
                          </a:rPr>
                          <m:t>h𝑟</m:t>
                        </m:r>
                      </m:den>
                    </m:f>
                  </m:oMath>
                </a14:m>
                <a:r>
                  <a:rPr lang="en-IN" sz="3600" dirty="0">
                    <a:solidFill>
                      <a:srgbClr val="00B050"/>
                    </a:solidFill>
                    <a:latin typeface="Cambria Math" pitchFamily="18" charset="0"/>
                    <a:ea typeface="Cambria Math" pitchFamily="18" charset="0"/>
                  </a:rPr>
                  <a:t> </a:t>
                </a:r>
                <a:endParaRPr lang="en-IN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3852130"/>
                <a:ext cx="3528392" cy="921471"/>
              </a:xfrm>
              <a:prstGeom prst="rect">
                <a:avLst/>
              </a:prstGeom>
              <a:blipFill rotWithShape="1">
                <a:blip r:embed="rId6"/>
                <a:stretch>
                  <a:fillRect l="-5363" b="-105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5004048" y="4998635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>
                <a:solidFill>
                  <a:srgbClr val="00B050"/>
                </a:solidFill>
              </a:rPr>
              <a:t> = </a:t>
            </a:r>
            <a:r>
              <a:rPr lang="en-IN" sz="3600" b="1" dirty="0" smtClean="0">
                <a:solidFill>
                  <a:srgbClr val="00B050"/>
                </a:solidFill>
                <a:latin typeface="Cambria Math" pitchFamily="18" charset="0"/>
                <a:ea typeface="Cambria Math" pitchFamily="18" charset="0"/>
              </a:rPr>
              <a:t>72 km/h</a:t>
            </a:r>
            <a:endParaRPr lang="en-IN" sz="3600" b="1" dirty="0">
              <a:solidFill>
                <a:srgbClr val="00B050"/>
              </a:solidFill>
              <a:latin typeface="Cambria Math" pitchFamily="18" charset="0"/>
              <a:ea typeface="Cambria Math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383928" y="4353243"/>
                <a:ext cx="2485617" cy="9432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𝑺</m:t>
                          </m:r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b>
                          <m:f>
                            <m:fPr>
                              <m:ctrlPr>
                                <a:rPr lang="en-IN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IN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𝒌𝒎</m:t>
                              </m:r>
                            </m:num>
                            <m:den>
                              <m:r>
                                <a:rPr lang="en-IN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𝒉𝒓</m:t>
                              </m:r>
                            </m:den>
                          </m:f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= </m:t>
                          </m:r>
                          <m:f>
                            <m:fPr>
                              <m:ctrlPr>
                                <a:rPr lang="en-IN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𝑫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𝒌𝒎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𝑻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𝒉𝒓</m:t>
                                  </m:r>
                                </m:sub>
                              </m:sSub>
                            </m:den>
                          </m:f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928" y="4353243"/>
                <a:ext cx="2485617" cy="94327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484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/>
      <p:bldP spid="10" grpId="0"/>
      <p:bldP spid="11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5" grpId="0"/>
      <p:bldP spid="26" grpId="0"/>
      <p:bldP spid="27" grpId="0"/>
      <p:bldP spid="28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Crossing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Moving </a:t>
            </a:r>
            <a:r>
              <a:rPr lang="en-IN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IN"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</a:p>
          <a:p>
            <a:pPr marL="0" indent="0">
              <a:buNone/>
            </a:pPr>
            <a:r>
              <a:rPr lang="en-IN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have any </a:t>
            </a:r>
            <a:r>
              <a:rPr lang="en-IN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IN" sz="4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4000" dirty="0"/>
              <a:t>	</a:t>
            </a:r>
            <a:r>
              <a:rPr lang="en-IN" sz="4000" dirty="0" smtClean="0"/>
              <a:t>Running Man</a:t>
            </a:r>
            <a:endParaRPr lang="en-IN" sz="4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Type 3: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1446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21013"/>
          </a:xfrm>
        </p:spPr>
        <p:txBody>
          <a:bodyPr/>
          <a:lstStyle/>
          <a:p>
            <a:pPr marL="0" indent="0">
              <a:buNone/>
            </a:pPr>
            <a:r>
              <a:rPr lang="en-IN" sz="2800" dirty="0" smtClean="0"/>
              <a:t> </a:t>
            </a:r>
            <a:endParaRPr lang="en-IN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6000" b="1" dirty="0" smtClean="0"/>
              <a:t>Variables in Type </a:t>
            </a:r>
            <a:r>
              <a:rPr lang="en-IN" sz="6000" b="1" dirty="0" smtClean="0"/>
              <a:t>-3 </a:t>
            </a:r>
            <a:r>
              <a:rPr lang="en-IN" sz="6000" b="1" dirty="0" smtClean="0"/>
              <a:t>Problems</a:t>
            </a:r>
            <a:endParaRPr lang="en-IN" sz="6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835696" y="2852936"/>
                <a:ext cx="5400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2852936"/>
                <a:ext cx="540060" cy="4001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35696" y="3419688"/>
                <a:ext cx="5400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sz="2000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3419688"/>
                <a:ext cx="540060" cy="4001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842325" y="3964414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T</a:t>
            </a:r>
            <a:endParaRPr lang="en-IN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2403390" y="285419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2411760" y="396787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403390" y="342770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2971186" y="2852936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2980105" y="3964414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2965167" y="3419997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3546016" y="395527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sec</a:t>
            </a:r>
            <a:endParaRPr lang="en-IN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3546016" y="2854346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m</a:t>
            </a:r>
            <a:endParaRPr lang="en-IN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3546016" y="3427701"/>
            <a:ext cx="95397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k</a:t>
            </a:r>
            <a:r>
              <a:rPr lang="en-IN" sz="2000" dirty="0" smtClean="0"/>
              <a:t>m/h</a:t>
            </a:r>
            <a:endParaRPr lang="en-IN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338388" y="4925952"/>
                <a:ext cx="1656866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sz="3600" b="1" dirty="0" smtClean="0">
                    <a:solidFill>
                      <a:srgbClr val="FF0000"/>
                    </a:solidFill>
                  </a:rPr>
                  <a:t>D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sz="3600" b="1" dirty="0" smtClean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8388" y="4925952"/>
                <a:ext cx="1656866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0989" t="-12963" b="-33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697884" y="3429000"/>
                <a:ext cx="5400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sz="2000" i="1"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sz="2000" i="1" dirty="0">
                  <a:latin typeface="Cambria Math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884" y="3429000"/>
                <a:ext cx="540060" cy="40011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265578" y="3430255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5833374" y="3429000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4641451" y="3357697"/>
            <a:ext cx="0" cy="54553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06673" y="3452507"/>
            <a:ext cx="95397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k</a:t>
            </a:r>
            <a:r>
              <a:rPr lang="en-IN" sz="2000" dirty="0" smtClean="0"/>
              <a:t>m/h</a:t>
            </a:r>
            <a:endParaRPr lang="en-IN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2334803" y="5575228"/>
            <a:ext cx="423365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S = </a:t>
            </a:r>
            <a:r>
              <a:rPr lang="en-IN" sz="3600" b="1" dirty="0">
                <a:solidFill>
                  <a:srgbClr val="FF0000"/>
                </a:solidFill>
              </a:rPr>
              <a:t>Relative </a:t>
            </a:r>
            <a:r>
              <a:rPr lang="en-IN" sz="3600" b="1" dirty="0" smtClean="0">
                <a:solidFill>
                  <a:srgbClr val="FF0000"/>
                </a:solidFill>
              </a:rPr>
              <a:t>Speed</a:t>
            </a:r>
            <a:endParaRPr lang="en-IN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01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 animBg="1"/>
      <p:bldP spid="23" grpId="0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600" b="1" dirty="0" smtClean="0"/>
              <a:t>Type 3 - Questions</a:t>
            </a:r>
            <a:endParaRPr lang="en-IN" sz="66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560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 smtClean="0"/>
              <a:t>	A train 110 m long is running with a speed of 60 km/h. In what time will it pass a man who is running at 6 km/h in the direction opposite to that in which the train is going?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a)5 sec				b)6 sec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c)7 sec				d)10 sec</a:t>
            </a:r>
            <a:endParaRPr lang="en-IN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Q.5)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74628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Q.5)Explanation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69546" y="2403937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475656" y="2403750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110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771800" y="3131676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3131676"/>
                <a:ext cx="50405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117184" y="3131676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3452607" y="3131489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6 km/h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55576" y="3149539"/>
                <a:ext cx="4837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149539"/>
                <a:ext cx="483777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164698" y="314953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470808" y="3149352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60 km/h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737498" y="3667277"/>
            <a:ext cx="4837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187624" y="3667464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1527385" y="3667277"/>
            <a:ext cx="12132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(?)sec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169546" y="4293096"/>
                <a:ext cx="2466381" cy="1157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𝑻</m:t>
                          </m:r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𝒔𝒆𝒄</m:t>
                          </m:r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= </m:t>
                          </m:r>
                          <m:f>
                            <m:fPr>
                              <m:ctrlPr>
                                <a:rPr lang="en-IN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𝑫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𝑺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b>
                                  <m:f>
                                    <m:fPr>
                                      <m:ctrlPr>
                                        <a:rPr lang="en-IN" sz="3200" b="1" i="1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3200" b="1" i="1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</a:rPr>
                                        <m:t>𝒎</m:t>
                                      </m:r>
                                    </m:num>
                                    <m:den>
                                      <m:r>
                                        <a:rPr lang="en-IN" sz="3200" b="1" i="1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</a:rPr>
                                        <m:t>𝒔𝒆𝒄</m:t>
                                      </m:r>
                                    </m:den>
                                  </m:f>
                                </m:sub>
                              </m:sSub>
                            </m:den>
                          </m:f>
                        </m:sub>
                      </m:sSub>
                    </m:oMath>
                  </m:oMathPara>
                </a14:m>
                <a:endParaRPr lang="en-IN" sz="36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546" y="4293096"/>
                <a:ext cx="2466381" cy="115717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539551" y="5589240"/>
            <a:ext cx="4065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D = 110 m</a:t>
            </a:r>
          </a:p>
          <a:p>
            <a:r>
              <a:rPr lang="en-IN" sz="2000" dirty="0"/>
              <a:t> </a:t>
            </a:r>
            <a:r>
              <a:rPr lang="en-IN" sz="2000" dirty="0" smtClean="0"/>
              <a:t>S = Rel. </a:t>
            </a:r>
            <a:r>
              <a:rPr lang="en-IN" sz="2000" dirty="0" err="1" smtClean="0"/>
              <a:t>Sp</a:t>
            </a:r>
            <a:r>
              <a:rPr lang="en-IN" sz="2000" dirty="0" smtClean="0"/>
              <a:t> =&gt;( 60 + 6) = 66 km/h</a:t>
            </a:r>
            <a:endParaRPr lang="en-I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004048" y="2387698"/>
                <a:ext cx="3168352" cy="1287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 smtClean="0">
                    <a:solidFill>
                      <a:schemeClr val="tx1"/>
                    </a:solidFill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110</m:t>
                            </m:r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36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66 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× </m:t>
                            </m:r>
                            <m:f>
                              <m:fPr>
                                <m:ctrlPr>
                                  <a:rPr lang="en-IN" sz="360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n-IN" sz="36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36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18</m:t>
                                </m:r>
                              </m:den>
                            </m:f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f>
                              <m:fPr>
                                <m:ctrlPr>
                                  <a:rPr lang="en-IN" sz="36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IN" sz="3600" b="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3600" b="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𝑠𝑒𝑐</m:t>
                                </m:r>
                              </m:den>
                            </m:f>
                          </m:sub>
                        </m:sSub>
                      </m:den>
                    </m:f>
                  </m:oMath>
                </a14:m>
                <a:r>
                  <a:rPr lang="en-IN" sz="3600" dirty="0" smtClean="0">
                    <a:solidFill>
                      <a:schemeClr val="tx1"/>
                    </a:solidFill>
                  </a:rPr>
                  <a:t> </a:t>
                </a:r>
                <a:endParaRPr lang="en-IN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2387698"/>
                <a:ext cx="3168352" cy="1287404"/>
              </a:xfrm>
              <a:prstGeom prst="rect">
                <a:avLst/>
              </a:prstGeom>
              <a:blipFill rotWithShape="1">
                <a:blip r:embed="rId6"/>
                <a:stretch>
                  <a:fillRect l="-23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843735"/>
                <a:ext cx="3168352" cy="889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 smtClean="0">
                    <a:solidFill>
                      <a:schemeClr val="tx1"/>
                    </a:solidFill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110 </m:t>
                        </m:r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×18</m:t>
                        </m:r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66 </m:t>
                        </m:r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× 5</m:t>
                        </m:r>
                      </m:den>
                    </m:f>
                  </m:oMath>
                </a14:m>
                <a:r>
                  <a:rPr lang="en-IN" sz="3600" dirty="0" smtClean="0">
                    <a:solidFill>
                      <a:schemeClr val="tx1"/>
                    </a:solidFill>
                  </a:rPr>
                  <a:t> </a:t>
                </a:r>
                <a:endParaRPr lang="en-IN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843735"/>
                <a:ext cx="3168352" cy="889924"/>
              </a:xfrm>
              <a:prstGeom prst="rect">
                <a:avLst/>
              </a:prstGeom>
              <a:blipFill rotWithShape="1">
                <a:blip r:embed="rId7"/>
                <a:stretch>
                  <a:fillRect l="-2308" b="-116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004048" y="4998635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>
                <a:solidFill>
                  <a:srgbClr val="00B050"/>
                </a:solidFill>
              </a:rPr>
              <a:t> = </a:t>
            </a:r>
            <a:r>
              <a:rPr lang="en-IN" sz="3600" b="1" dirty="0">
                <a:solidFill>
                  <a:srgbClr val="00B050"/>
                </a:solidFill>
                <a:latin typeface="Cambria Math" pitchFamily="18" charset="0"/>
                <a:ea typeface="Cambria Math" pitchFamily="18" charset="0"/>
              </a:rPr>
              <a:t>6</a:t>
            </a:r>
            <a:r>
              <a:rPr lang="en-IN" sz="3600" b="1" dirty="0" smtClean="0">
                <a:solidFill>
                  <a:srgbClr val="00B050"/>
                </a:solidFill>
                <a:latin typeface="Cambria Math" pitchFamily="18" charset="0"/>
                <a:ea typeface="Cambria Math" pitchFamily="18" charset="0"/>
              </a:rPr>
              <a:t> sec</a:t>
            </a:r>
            <a:endParaRPr lang="en-IN" sz="3600" b="1" dirty="0">
              <a:solidFill>
                <a:srgbClr val="00B050"/>
              </a:solidFill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06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  <p:bldP spid="22" grpId="0"/>
      <p:bldP spid="23" grpId="0"/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 smtClean="0"/>
              <a:t>	A train of length 500 m takes 30 sec to cross a man who is walking with a speed of 3 km/h, in the same direction in which the train is moving. Find the speed of the train.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 smtClean="0"/>
              <a:t>	a)60 km/h			b)63 km/h</a:t>
            </a:r>
          </a:p>
          <a:p>
            <a:pPr marL="0" indent="0" algn="just">
              <a:buNone/>
            </a:pPr>
            <a:r>
              <a:rPr lang="en-IN" dirty="0"/>
              <a:t>	</a:t>
            </a:r>
            <a:r>
              <a:rPr lang="en-IN" dirty="0" smtClean="0"/>
              <a:t>c)58 km/h			d)53 km/h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Q.6)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2154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Q.6)Explanation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686272" y="2140232"/>
            <a:ext cx="4206208" cy="3877056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69546" y="2403937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475656" y="2403750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500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771800" y="3131676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3131676"/>
                <a:ext cx="50405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117184" y="3131676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3452607" y="3131489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3 km/h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55576" y="3149539"/>
                <a:ext cx="4837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149539"/>
                <a:ext cx="483777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164698" y="314953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470808" y="3149352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(?) km/h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737498" y="3667277"/>
            <a:ext cx="4837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187624" y="3667464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1527385" y="3667277"/>
            <a:ext cx="12132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30 sec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39551" y="5589240"/>
                <a:ext cx="406518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 smtClean="0"/>
                  <a:t>D = 500 m</a:t>
                </a:r>
              </a:p>
              <a:p>
                <a:r>
                  <a:rPr lang="en-IN" sz="2000" dirty="0"/>
                  <a:t> </a:t>
                </a:r>
                <a:r>
                  <a:rPr lang="en-IN" sz="2000" dirty="0" smtClean="0"/>
                  <a:t>S = Rel. </a:t>
                </a:r>
                <a:r>
                  <a:rPr lang="en-IN" sz="2000" dirty="0" err="1" smtClean="0"/>
                  <a:t>Sp</a:t>
                </a:r>
                <a:r>
                  <a:rPr lang="en-IN" sz="2000" dirty="0" smtClean="0"/>
                  <a:t> =&gt;(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0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2400" i="1" dirty="0" smtClean="0">
                        <a:latin typeface="Cambria Math"/>
                      </a:rPr>
                      <m:t>−</m:t>
                    </m:r>
                  </m:oMath>
                </a14:m>
                <a:r>
                  <a:rPr lang="en-IN" sz="2000" dirty="0" smtClean="0"/>
                  <a:t> 3)km/h</a:t>
                </a:r>
                <a:endParaRPr lang="en-IN" sz="20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1" y="5589240"/>
                <a:ext cx="4065183" cy="707886"/>
              </a:xfrm>
              <a:prstGeom prst="rect">
                <a:avLst/>
              </a:prstGeom>
              <a:blipFill rotWithShape="1">
                <a:blip r:embed="rId6"/>
                <a:stretch>
                  <a:fillRect l="-1652" t="-3448" b="-15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175729" y="4378528"/>
                <a:ext cx="2485617" cy="9432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𝑺</m:t>
                          </m:r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b>
                          <m:f>
                            <m:fPr>
                              <m:ctrlPr>
                                <a:rPr lang="en-IN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IN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𝒌𝒎</m:t>
                              </m:r>
                            </m:num>
                            <m:den>
                              <m:r>
                                <a:rPr lang="en-IN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𝒉𝒓</m:t>
                              </m:r>
                            </m:den>
                          </m:f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= </m:t>
                          </m:r>
                          <m:f>
                            <m:fPr>
                              <m:ctrlPr>
                                <a:rPr lang="en-IN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𝑫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𝒌𝒎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𝑻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𝒉𝒓</m:t>
                                  </m:r>
                                </m:sub>
                              </m:sSub>
                            </m:den>
                          </m:f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729" y="4378528"/>
                <a:ext cx="2485617" cy="94327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860032" y="2387698"/>
                <a:ext cx="3168352" cy="97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3600" i="1" dirty="0">
                        <a:latin typeface="Cambria Math"/>
                      </a:rPr>
                      <m:t>−</m:t>
                    </m:r>
                  </m:oMath>
                </a14:m>
                <a:r>
                  <a:rPr lang="en-IN" sz="2800" dirty="0"/>
                  <a:t> </a:t>
                </a:r>
                <a:r>
                  <a:rPr lang="en-IN" sz="2800" dirty="0" smtClean="0"/>
                  <a:t>3) </a:t>
                </a:r>
                <a:r>
                  <a:rPr lang="en-IN" sz="3600" dirty="0" smtClean="0">
                    <a:solidFill>
                      <a:schemeClr val="tx1"/>
                    </a:solidFill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500</m:t>
                            </m:r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36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30</m:t>
                            </m:r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𝑠𝑒𝑐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3600" dirty="0" smtClean="0">
                    <a:solidFill>
                      <a:schemeClr val="tx1"/>
                    </a:solidFill>
                  </a:rPr>
                  <a:t> </a:t>
                </a:r>
                <a:endParaRPr lang="en-IN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2387698"/>
                <a:ext cx="3168352" cy="974819"/>
              </a:xfrm>
              <a:prstGeom prst="rect">
                <a:avLst/>
              </a:prstGeom>
              <a:blipFill rotWithShape="1">
                <a:blip r:embed="rId8"/>
                <a:stretch>
                  <a:fillRect l="-3846" b="-43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580112" y="5805264"/>
                <a:ext cx="31683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36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3600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IN" sz="3600" dirty="0" smtClean="0">
                    <a:solidFill>
                      <a:srgbClr val="00B050"/>
                    </a:solidFill>
                  </a:rPr>
                  <a:t>= </a:t>
                </a:r>
                <a:r>
                  <a:rPr lang="en-IN" sz="3600" b="1" dirty="0" smtClean="0">
                    <a:solidFill>
                      <a:srgbClr val="00B050"/>
                    </a:solidFill>
                    <a:latin typeface="Cambria Math" pitchFamily="18" charset="0"/>
                    <a:ea typeface="Cambria Math" pitchFamily="18" charset="0"/>
                  </a:rPr>
                  <a:t>63 km/h</a:t>
                </a:r>
                <a:endParaRPr lang="en-IN" sz="3600" b="1" dirty="0">
                  <a:solidFill>
                    <a:srgbClr val="00B050"/>
                  </a:solidFill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5805264"/>
                <a:ext cx="3168352" cy="646331"/>
              </a:xfrm>
              <a:prstGeom prst="rect">
                <a:avLst/>
              </a:prstGeom>
              <a:blipFill rotWithShape="1">
                <a:blip r:embed="rId9"/>
                <a:stretch>
                  <a:fillRect t="-16981" b="-349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008984" y="3549199"/>
                <a:ext cx="4027512" cy="87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2800" i="1" dirty="0">
                        <a:latin typeface="Cambria Math"/>
                      </a:rPr>
                      <m:t>−</m:t>
                    </m:r>
                  </m:oMath>
                </a14:m>
                <a:r>
                  <a:rPr lang="en-IN" sz="2400" dirty="0"/>
                  <a:t> </a:t>
                </a:r>
                <a:r>
                  <a:rPr lang="en-IN" sz="2400" dirty="0" smtClean="0"/>
                  <a:t>3) 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2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500</m:t>
                            </m:r>
                            <m:r>
                              <a:rPr lang="en-IN" sz="32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r>
                              <a:rPr lang="en-IN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32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2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30</m:t>
                            </m:r>
                            <m:r>
                              <a:rPr lang="en-IN" sz="32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r>
                              <a:rPr lang="en-IN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</m:t>
                            </m:r>
                          </m:sub>
                        </m:sSub>
                      </m:den>
                    </m:f>
                    <m:r>
                      <a:rPr lang="en-IN" sz="3200" i="1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IN" sz="3200" i="1">
                            <a:latin typeface="Cambria Math"/>
                          </a:rPr>
                        </m:ctrlPr>
                      </m:fPr>
                      <m:num>
                        <m:r>
                          <a:rPr lang="en-IN" sz="3200" i="1">
                            <a:latin typeface="Cambria Math"/>
                          </a:rPr>
                          <m:t>18</m:t>
                        </m:r>
                      </m:num>
                      <m:den>
                        <m:r>
                          <a:rPr lang="en-IN" sz="3200" i="1">
                            <a:latin typeface="Cambria Math"/>
                          </a:rPr>
                          <m:t>5</m:t>
                        </m:r>
                      </m:den>
                    </m:f>
                    <m:f>
                      <m:fPr>
                        <m:ctrlPr>
                          <a:rPr lang="en-IN" sz="3200" i="1">
                            <a:latin typeface="Cambria Math"/>
                          </a:rPr>
                        </m:ctrlPr>
                      </m:fPr>
                      <m:num>
                        <m:r>
                          <a:rPr lang="en-IN" sz="3200" i="1">
                            <a:latin typeface="Cambria Math"/>
                          </a:rPr>
                          <m:t> </m:t>
                        </m:r>
                        <m:r>
                          <a:rPr lang="en-IN" sz="3200" i="1">
                            <a:latin typeface="Cambria Math"/>
                          </a:rPr>
                          <m:t>𝑘𝑚</m:t>
                        </m:r>
                      </m:num>
                      <m:den>
                        <m:r>
                          <a:rPr lang="en-IN" sz="3200" i="1">
                            <a:latin typeface="Cambria Math"/>
                          </a:rPr>
                          <m:t>h𝑟</m:t>
                        </m:r>
                      </m:den>
                    </m:f>
                  </m:oMath>
                </a14:m>
                <a:endParaRPr lang="en-IN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984" y="3549199"/>
                <a:ext cx="4027512" cy="876843"/>
              </a:xfrm>
              <a:prstGeom prst="rect">
                <a:avLst/>
              </a:prstGeom>
              <a:blipFill rotWithShape="1">
                <a:blip r:embed="rId10"/>
                <a:stretch>
                  <a:fillRect l="-2424" b="-34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860032" y="4850164"/>
                <a:ext cx="349663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3600" i="1" dirty="0">
                        <a:latin typeface="Cambria Math"/>
                      </a:rPr>
                      <m:t>−</m:t>
                    </m:r>
                  </m:oMath>
                </a14:m>
                <a:r>
                  <a:rPr lang="en-IN" sz="2800" dirty="0"/>
                  <a:t> </a:t>
                </a:r>
                <a:r>
                  <a:rPr lang="en-IN" sz="2800" dirty="0" smtClean="0"/>
                  <a:t>3) </a:t>
                </a:r>
                <a:r>
                  <a:rPr lang="en-IN" sz="3600" dirty="0" smtClean="0">
                    <a:solidFill>
                      <a:schemeClr val="tx1"/>
                    </a:solidFill>
                  </a:rPr>
                  <a:t>= </a:t>
                </a:r>
                <a:r>
                  <a:rPr lang="en-IN" sz="2800" dirty="0" smtClean="0">
                    <a:solidFill>
                      <a:schemeClr val="tx1"/>
                    </a:solidFill>
                  </a:rPr>
                  <a:t>60 km/h</a:t>
                </a:r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4850164"/>
                <a:ext cx="3496638" cy="646331"/>
              </a:xfrm>
              <a:prstGeom prst="rect">
                <a:avLst/>
              </a:prstGeom>
              <a:blipFill rotWithShape="1">
                <a:blip r:embed="rId11"/>
                <a:stretch>
                  <a:fillRect l="-3484" t="-14151" b="-349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1924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20" grpId="0"/>
      <p:bldP spid="25" grpId="0"/>
      <p:bldP spid="26" grpId="0"/>
      <p:bldP spid="28" grpId="0"/>
      <p:bldP spid="29" grpId="0"/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Crossing a </a:t>
            </a:r>
            <a:r>
              <a:rPr lang="en-IN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Moving </a:t>
            </a:r>
            <a:r>
              <a:rPr lang="en-IN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IN"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having some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IN" sz="4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3600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4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Train</a:t>
            </a:r>
            <a:endParaRPr lang="en-IN"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4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Type 4: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9165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21013"/>
          </a:xfrm>
        </p:spPr>
        <p:txBody>
          <a:bodyPr/>
          <a:lstStyle/>
          <a:p>
            <a:pPr marL="0" indent="0">
              <a:buNone/>
            </a:pPr>
            <a:r>
              <a:rPr lang="en-IN" sz="2800" dirty="0" smtClean="0"/>
              <a:t> </a:t>
            </a:r>
            <a:endParaRPr lang="en-IN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6000" b="1" dirty="0" smtClean="0"/>
              <a:t>Variables in Type </a:t>
            </a:r>
            <a:r>
              <a:rPr lang="en-IN" sz="6000" b="1" dirty="0" smtClean="0"/>
              <a:t>-4 </a:t>
            </a:r>
            <a:r>
              <a:rPr lang="en-IN" sz="6000" b="1" dirty="0" smtClean="0"/>
              <a:t>Problems</a:t>
            </a:r>
            <a:endParaRPr lang="en-IN" sz="6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835696" y="2852936"/>
                <a:ext cx="5400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2852936"/>
                <a:ext cx="540060" cy="4001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835696" y="3419688"/>
                <a:ext cx="5400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sz="2000" i="1">
                              <a:latin typeface="Cambria Math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3419688"/>
                <a:ext cx="540060" cy="4001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842325" y="3964414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T</a:t>
            </a:r>
            <a:endParaRPr lang="en-IN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2403390" y="285419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2411760" y="396787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403390" y="342770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2971186" y="2852936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2980105" y="3964414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2965167" y="3419997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3546016" y="395527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sec</a:t>
            </a:r>
            <a:endParaRPr lang="en-IN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3546016" y="2854346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m</a:t>
            </a:r>
            <a:endParaRPr lang="en-IN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3546016" y="3427701"/>
            <a:ext cx="95397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k</a:t>
            </a:r>
            <a:r>
              <a:rPr lang="en-IN" sz="2000" dirty="0" smtClean="0"/>
              <a:t>m/h</a:t>
            </a:r>
            <a:endParaRPr lang="en-IN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338388" y="4925952"/>
                <a:ext cx="2945322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sz="3600" b="1" dirty="0" smtClean="0">
                    <a:solidFill>
                      <a:srgbClr val="FF0000"/>
                    </a:solidFill>
                  </a:rPr>
                  <a:t>D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𝒕</m:t>
                        </m:r>
                        <m:r>
                          <a:rPr lang="en-IN" sz="3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IN" sz="3600" b="1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𝒕</m:t>
                        </m:r>
                        <m:r>
                          <a:rPr lang="en-IN" sz="3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endParaRPr lang="en-IN" sz="3600" b="1" dirty="0" smtClean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8388" y="4925952"/>
                <a:ext cx="2945322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6186" t="-12963" b="-33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697884" y="3429000"/>
                <a:ext cx="5400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i="1" dirty="0">
                  <a:latin typeface="Cambria Math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884" y="3429000"/>
                <a:ext cx="540060" cy="400110"/>
              </a:xfrm>
              <a:prstGeom prst="rect">
                <a:avLst/>
              </a:prstGeom>
              <a:blipFill rotWithShape="1">
                <a:blip r:embed="rId5"/>
                <a:stretch>
                  <a:fillRect b="-30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265578" y="3430255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5833374" y="3429000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4641451" y="3422335"/>
            <a:ext cx="0" cy="54553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06673" y="3452507"/>
            <a:ext cx="95397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k</a:t>
            </a:r>
            <a:r>
              <a:rPr lang="en-IN" sz="2000" dirty="0" smtClean="0"/>
              <a:t>m/h</a:t>
            </a:r>
            <a:endParaRPr lang="en-IN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2334803" y="5575228"/>
            <a:ext cx="423365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S = </a:t>
            </a:r>
            <a:r>
              <a:rPr lang="en-IN" sz="3600" b="1" dirty="0">
                <a:solidFill>
                  <a:srgbClr val="FF0000"/>
                </a:solidFill>
              </a:rPr>
              <a:t>Relative </a:t>
            </a:r>
            <a:r>
              <a:rPr lang="en-IN" sz="3600" b="1" dirty="0" smtClean="0">
                <a:solidFill>
                  <a:srgbClr val="FF0000"/>
                </a:solidFill>
              </a:rPr>
              <a:t>Speed</a:t>
            </a:r>
            <a:endParaRPr lang="en-IN" sz="36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4716016" y="2852936"/>
                <a:ext cx="5400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i="1" dirty="0">
                  <a:latin typeface="Cambria Math"/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2852936"/>
                <a:ext cx="540060" cy="400110"/>
              </a:xfrm>
              <a:prstGeom prst="rect">
                <a:avLst/>
              </a:prstGeom>
              <a:blipFill rotWithShape="1">
                <a:blip r:embed="rId6"/>
                <a:stretch>
                  <a:fillRect b="-30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5283710" y="285419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=</a:t>
            </a:r>
            <a:endParaRPr lang="en-IN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5851506" y="2852936"/>
            <a:ext cx="5400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IN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6444208" y="2839391"/>
            <a:ext cx="5400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/>
              <a:t>m</a:t>
            </a:r>
            <a:endParaRPr lang="en-IN" sz="2000" dirty="0"/>
          </a:p>
        </p:txBody>
      </p:sp>
      <p:cxnSp>
        <p:nvCxnSpPr>
          <p:cNvPr id="28" name="Straight Connector 27"/>
          <p:cNvCxnSpPr/>
          <p:nvPr/>
        </p:nvCxnSpPr>
        <p:spPr>
          <a:xfrm>
            <a:off x="4627775" y="2790685"/>
            <a:ext cx="0" cy="54553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7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 animBg="1"/>
      <p:bldP spid="23" grpId="0"/>
      <p:bldP spid="21" grpId="0" animBg="1"/>
      <p:bldP spid="24" grpId="0"/>
      <p:bldP spid="25" grpId="0"/>
      <p:bldP spid="26" grpId="0" animBg="1"/>
      <p:bldP spid="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600" b="1" dirty="0" smtClean="0"/>
              <a:t>Type 4 - Questions</a:t>
            </a:r>
            <a:endParaRPr lang="en-IN" sz="66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440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/>
              <a:t>	T</a:t>
            </a:r>
            <a:r>
              <a:rPr lang="en-IN" dirty="0" smtClean="0"/>
              <a:t>wo trains 140 m and 160 m long running at a speed of 60 km/h and 40 km/h respectively in opposite direction on parallel tracks. Find the time taken to cross each other.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a)9 sec				b)9.6 sec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c)10 sec			d)10.8 sec</a:t>
            </a:r>
            <a:endParaRPr lang="en-IN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Q.7)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0759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Q.7)Explanation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IN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69546" y="2403937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475656" y="2403750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140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771800" y="3131676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IN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3131676"/>
                <a:ext cx="50405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117184" y="3131676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3452607" y="3131489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40 km/h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55576" y="3149539"/>
                <a:ext cx="4837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IN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149539"/>
                <a:ext cx="483777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164698" y="314953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470808" y="3149352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60 km/h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737498" y="3667277"/>
            <a:ext cx="4837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187624" y="3667464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1527385" y="3667277"/>
            <a:ext cx="12132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(?)sec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169546" y="4293096"/>
                <a:ext cx="2466381" cy="1157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𝑻</m:t>
                          </m:r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𝒔𝒆𝒄</m:t>
                          </m:r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= </m:t>
                          </m:r>
                          <m:f>
                            <m:fPr>
                              <m:ctrlPr>
                                <a:rPr lang="en-IN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𝑫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𝑺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b>
                                  <m:f>
                                    <m:fPr>
                                      <m:ctrlPr>
                                        <a:rPr lang="en-IN" sz="3200" b="1" i="1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3200" b="1" i="1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</a:rPr>
                                        <m:t>𝒎</m:t>
                                      </m:r>
                                    </m:num>
                                    <m:den>
                                      <m:r>
                                        <a:rPr lang="en-IN" sz="3200" b="1" i="1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</a:rPr>
                                        <m:t>𝒔𝒆𝒄</m:t>
                                      </m:r>
                                    </m:den>
                                  </m:f>
                                </m:sub>
                              </m:sSub>
                            </m:den>
                          </m:f>
                        </m:sub>
                      </m:sSub>
                    </m:oMath>
                  </m:oMathPara>
                </a14:m>
                <a:endParaRPr lang="en-IN" sz="36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546" y="4293096"/>
                <a:ext cx="2466381" cy="115717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539551" y="5589240"/>
            <a:ext cx="4248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D = 140 + 160 = 300 m</a:t>
            </a:r>
          </a:p>
          <a:p>
            <a:r>
              <a:rPr lang="en-IN" sz="2000" dirty="0"/>
              <a:t> </a:t>
            </a:r>
            <a:r>
              <a:rPr lang="en-IN" sz="2000" dirty="0" smtClean="0"/>
              <a:t>S = Rel. </a:t>
            </a:r>
            <a:r>
              <a:rPr lang="en-IN" sz="2000" dirty="0" err="1" smtClean="0"/>
              <a:t>Sp</a:t>
            </a:r>
            <a:r>
              <a:rPr lang="en-IN" sz="2000" dirty="0" smtClean="0"/>
              <a:t> =&gt;( 60 + 40) = 100 km/h</a:t>
            </a:r>
            <a:endParaRPr lang="en-I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004048" y="2387698"/>
                <a:ext cx="3168352" cy="1287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 smtClean="0">
                    <a:solidFill>
                      <a:schemeClr val="tx1"/>
                    </a:solidFill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300</m:t>
                            </m:r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36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100 </m:t>
                            </m:r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× </m:t>
                            </m:r>
                            <m:f>
                              <m:fPr>
                                <m:ctrlPr>
                                  <a:rPr lang="en-IN" sz="360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n-IN" sz="36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36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18</m:t>
                                </m:r>
                              </m:den>
                            </m:f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f>
                              <m:fPr>
                                <m:ctrlPr>
                                  <a:rPr lang="en-IN" sz="36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IN" sz="3600" b="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3600" b="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𝑠𝑒𝑐</m:t>
                                </m:r>
                              </m:den>
                            </m:f>
                          </m:sub>
                        </m:sSub>
                      </m:den>
                    </m:f>
                  </m:oMath>
                </a14:m>
                <a:r>
                  <a:rPr lang="en-IN" sz="3600" dirty="0" smtClean="0">
                    <a:solidFill>
                      <a:schemeClr val="tx1"/>
                    </a:solidFill>
                  </a:rPr>
                  <a:t> </a:t>
                </a:r>
                <a:endParaRPr lang="en-IN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2387698"/>
                <a:ext cx="3168352" cy="1287404"/>
              </a:xfrm>
              <a:prstGeom prst="rect">
                <a:avLst/>
              </a:prstGeom>
              <a:blipFill rotWithShape="1">
                <a:blip r:embed="rId6"/>
                <a:stretch>
                  <a:fillRect l="-23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843735"/>
                <a:ext cx="3168352" cy="889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 smtClean="0">
                    <a:solidFill>
                      <a:schemeClr val="tx1"/>
                    </a:solidFill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300 </m:t>
                        </m:r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×18</m:t>
                        </m:r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100 </m:t>
                        </m:r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× 5</m:t>
                        </m:r>
                      </m:den>
                    </m:f>
                  </m:oMath>
                </a14:m>
                <a:r>
                  <a:rPr lang="en-IN" sz="3600" dirty="0" smtClean="0">
                    <a:solidFill>
                      <a:schemeClr val="tx1"/>
                    </a:solidFill>
                  </a:rPr>
                  <a:t> </a:t>
                </a:r>
                <a:endParaRPr lang="en-IN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843735"/>
                <a:ext cx="3168352" cy="889924"/>
              </a:xfrm>
              <a:prstGeom prst="rect">
                <a:avLst/>
              </a:prstGeom>
              <a:blipFill rotWithShape="1">
                <a:blip r:embed="rId7"/>
                <a:stretch>
                  <a:fillRect l="-2308" b="-116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004048" y="4998635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>
                <a:solidFill>
                  <a:srgbClr val="00B050"/>
                </a:solidFill>
              </a:rPr>
              <a:t> = </a:t>
            </a:r>
            <a:r>
              <a:rPr lang="en-IN" sz="3600" b="1" dirty="0" smtClean="0">
                <a:solidFill>
                  <a:srgbClr val="00B050"/>
                </a:solidFill>
              </a:rPr>
              <a:t>10.8</a:t>
            </a:r>
            <a:r>
              <a:rPr lang="en-IN" sz="3600" b="1" dirty="0" smtClean="0">
                <a:solidFill>
                  <a:srgbClr val="00B050"/>
                </a:solidFill>
                <a:latin typeface="Cambria Math" pitchFamily="18" charset="0"/>
                <a:ea typeface="Cambria Math" pitchFamily="18" charset="0"/>
              </a:rPr>
              <a:t> sec</a:t>
            </a:r>
            <a:endParaRPr lang="en-IN" sz="3600" b="1" dirty="0">
              <a:solidFill>
                <a:srgbClr val="00B050"/>
              </a:solidFill>
              <a:latin typeface="Cambria Math" pitchFamily="18" charset="0"/>
              <a:ea typeface="Cambria Math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771800" y="2387885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IN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2387885"/>
                <a:ext cx="504056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3117184" y="2387885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3452607" y="2387698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160 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541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  <p:bldP spid="22" grpId="0"/>
      <p:bldP spid="23" grpId="0"/>
      <p:bldP spid="24" grpId="0"/>
      <p:bldP spid="25" grpId="0"/>
      <p:bldP spid="26" grpId="0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/>
              <a:t>	</a:t>
            </a:r>
            <a:r>
              <a:rPr lang="en-IN" dirty="0" smtClean="0"/>
              <a:t>Train A is running at a speed of 120 km/h crosses another train B,  which is running in the same direction, on parallel track, in 2 min. If the lengths of the two trains be 100 m and 200 m respectively, then what was the speed of the train B? 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 smtClean="0"/>
              <a:t>	a)111 km/h			b)127 km/h</a:t>
            </a:r>
          </a:p>
          <a:p>
            <a:pPr marL="0" indent="0" algn="just">
              <a:buNone/>
            </a:pPr>
            <a:r>
              <a:rPr lang="en-IN" dirty="0"/>
              <a:t>	</a:t>
            </a:r>
            <a:r>
              <a:rPr lang="en-IN" dirty="0" smtClean="0"/>
              <a:t>c)123 km/h			d) 9 km/h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Q.8)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7429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Q.8)Explanation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686272" y="2140232"/>
            <a:ext cx="4206208" cy="3877056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175729" y="4378528"/>
                <a:ext cx="2485617" cy="9432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𝑺</m:t>
                          </m:r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b>
                          <m:f>
                            <m:fPr>
                              <m:ctrlPr>
                                <a:rPr lang="en-IN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IN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𝒌𝒎</m:t>
                              </m:r>
                            </m:num>
                            <m:den>
                              <m:r>
                                <a:rPr lang="en-IN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𝒉𝒓</m:t>
                              </m:r>
                            </m:den>
                          </m:f>
                          <m:r>
                            <a:rPr lang="en-IN" sz="32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= </m:t>
                          </m:r>
                          <m:f>
                            <m:fPr>
                              <m:ctrlPr>
                                <a:rPr lang="en-IN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𝑫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𝒌𝒎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𝑻</m:t>
                                  </m:r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IN" sz="32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𝒉𝒓</m:t>
                                  </m:r>
                                </m:sub>
                              </m:sSub>
                            </m:den>
                          </m:f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729" y="4378528"/>
                <a:ext cx="2485617" cy="94327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860032" y="2387698"/>
                <a:ext cx="3168352" cy="778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/>
                          </a:rPr>
                          <m:t>120 −</m:t>
                        </m:r>
                        <m:r>
                          <a:rPr lang="en-IN" sz="20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000" b="0" i="1" smtClean="0">
                            <a:latin typeface="Cambria Math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N" sz="2000" dirty="0" smtClean="0"/>
                  <a:t>) </a:t>
                </a:r>
                <a:r>
                  <a:rPr lang="en-IN" sz="2800" dirty="0" smtClean="0">
                    <a:solidFill>
                      <a:schemeClr val="tx1"/>
                    </a:solidFill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28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300</m:t>
                            </m:r>
                            <m:r>
                              <a:rPr lang="en-IN" sz="28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r>
                              <a:rPr lang="en-IN" sz="28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a:rPr lang="en-IN" sz="28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120</m:t>
                            </m:r>
                            <m:r>
                              <a:rPr lang="en-IN" sz="28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𝑠𝑒𝑐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800" dirty="0" smtClean="0">
                    <a:solidFill>
                      <a:schemeClr val="tx1"/>
                    </a:solidFill>
                  </a:rPr>
                  <a:t> </a:t>
                </a:r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2387698"/>
                <a:ext cx="3168352" cy="778675"/>
              </a:xfrm>
              <a:prstGeom prst="rect">
                <a:avLst/>
              </a:prstGeom>
              <a:blipFill rotWithShape="1">
                <a:blip r:embed="rId4"/>
                <a:stretch>
                  <a:fillRect l="-1923" b="-39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580112" y="5805264"/>
                <a:ext cx="33222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3600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IN" sz="3600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IN" sz="3600" dirty="0" smtClean="0">
                    <a:solidFill>
                      <a:srgbClr val="00B050"/>
                    </a:solidFill>
                  </a:rPr>
                  <a:t>= </a:t>
                </a:r>
                <a:r>
                  <a:rPr lang="en-IN" sz="3600" b="1" dirty="0" smtClean="0">
                    <a:solidFill>
                      <a:srgbClr val="00B050"/>
                    </a:solidFill>
                    <a:latin typeface="Cambria Math" pitchFamily="18" charset="0"/>
                    <a:ea typeface="Cambria Math" pitchFamily="18" charset="0"/>
                  </a:rPr>
                  <a:t>111 km/h</a:t>
                </a:r>
                <a:endParaRPr lang="en-IN" sz="3600" b="1" dirty="0">
                  <a:solidFill>
                    <a:srgbClr val="00B050"/>
                  </a:solidFill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5805264"/>
                <a:ext cx="3322240" cy="646331"/>
              </a:xfrm>
              <a:prstGeom prst="rect">
                <a:avLst/>
              </a:prstGeom>
              <a:blipFill rotWithShape="1">
                <a:blip r:embed="rId5"/>
                <a:stretch>
                  <a:fillRect t="-16981" r="-2202" b="-349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869904" y="3496629"/>
                <a:ext cx="4032448" cy="778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/>
                          </a:rPr>
                          <m:t>120 −</m:t>
                        </m:r>
                        <m:r>
                          <a:rPr lang="en-IN" sz="20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000" i="1">
                            <a:latin typeface="Cambria Math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N" sz="2000" dirty="0"/>
                  <a:t>) </a:t>
                </a:r>
                <a:r>
                  <a:rPr lang="en-IN" sz="2800" dirty="0" smtClean="0">
                    <a:solidFill>
                      <a:schemeClr val="tx1"/>
                    </a:solidFill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28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300</m:t>
                            </m:r>
                            <m:r>
                              <a:rPr lang="en-IN" sz="28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28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120</m:t>
                            </m:r>
                            <m:r>
                              <a:rPr lang="en-IN" sz="28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</m:t>
                            </m:r>
                          </m:sub>
                        </m:sSub>
                      </m:den>
                    </m:f>
                    <m:r>
                      <a:rPr lang="en-IN" sz="2800" i="1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IN" sz="2800" i="1">
                            <a:latin typeface="Cambria Math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/>
                          </a:rPr>
                          <m:t>18</m:t>
                        </m:r>
                      </m:num>
                      <m:den>
                        <m:r>
                          <a:rPr lang="en-IN" sz="2800" i="1">
                            <a:latin typeface="Cambria Math"/>
                          </a:rPr>
                          <m:t>5</m:t>
                        </m:r>
                      </m:den>
                    </m:f>
                    <m:f>
                      <m:fPr>
                        <m:ctrlPr>
                          <a:rPr lang="en-IN" sz="2800" i="1">
                            <a:latin typeface="Cambria Math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/>
                          </a:rPr>
                          <m:t> </m:t>
                        </m:r>
                        <m:r>
                          <a:rPr lang="en-IN" sz="2800" i="1">
                            <a:latin typeface="Cambria Math"/>
                          </a:rPr>
                          <m:t>𝑘𝑚</m:t>
                        </m:r>
                      </m:num>
                      <m:den>
                        <m:r>
                          <a:rPr lang="en-IN" sz="2800" i="1">
                            <a:latin typeface="Cambria Math"/>
                          </a:rPr>
                          <m:t>h𝑟</m:t>
                        </m:r>
                      </m:den>
                    </m:f>
                  </m:oMath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904" y="3496629"/>
                <a:ext cx="4032448" cy="778675"/>
              </a:xfrm>
              <a:prstGeom prst="rect">
                <a:avLst/>
              </a:prstGeom>
              <a:blipFill rotWithShape="1">
                <a:blip r:embed="rId6"/>
                <a:stretch>
                  <a:fillRect l="-1664" b="-39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869904" y="4850164"/>
                <a:ext cx="349663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/>
                          </a:rPr>
                          <m:t>120 −</m:t>
                        </m:r>
                        <m:r>
                          <a:rPr lang="en-IN" sz="24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latin typeface="Cambria Math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N" sz="2400" dirty="0"/>
                  <a:t>) 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= </a:t>
                </a:r>
                <a:r>
                  <a:rPr lang="en-IN" sz="2400" dirty="0"/>
                  <a:t>9</a:t>
                </a:r>
                <a:r>
                  <a:rPr lang="en-IN" sz="2400" dirty="0" smtClean="0">
                    <a:solidFill>
                      <a:schemeClr val="tx1"/>
                    </a:solidFill>
                  </a:rPr>
                  <a:t> km/h</a:t>
                </a:r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904" y="4850164"/>
                <a:ext cx="3496638" cy="584775"/>
              </a:xfrm>
              <a:prstGeom prst="rect">
                <a:avLst/>
              </a:prstGeom>
              <a:blipFill rotWithShape="1">
                <a:blip r:embed="rId7"/>
                <a:stretch>
                  <a:fillRect l="-2792" t="-13542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/>
          <p:cNvSpPr txBox="1"/>
          <p:nvPr/>
        </p:nvSpPr>
        <p:spPr>
          <a:xfrm>
            <a:off x="1169546" y="2403937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45" name="TextBox 44"/>
          <p:cNvSpPr txBox="1"/>
          <p:nvPr/>
        </p:nvSpPr>
        <p:spPr>
          <a:xfrm>
            <a:off x="1475656" y="2403750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100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771800" y="3131676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3131676"/>
                <a:ext cx="504056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3117184" y="3131676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48" name="TextBox 47"/>
          <p:cNvSpPr txBox="1"/>
          <p:nvPr/>
        </p:nvSpPr>
        <p:spPr>
          <a:xfrm>
            <a:off x="3452607" y="3131489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(?) km/h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55576" y="3149539"/>
                <a:ext cx="4837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149539"/>
                <a:ext cx="483777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/>
          <p:cNvSpPr txBox="1"/>
          <p:nvPr/>
        </p:nvSpPr>
        <p:spPr>
          <a:xfrm>
            <a:off x="1164698" y="314953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51" name="TextBox 50"/>
          <p:cNvSpPr txBox="1"/>
          <p:nvPr/>
        </p:nvSpPr>
        <p:spPr>
          <a:xfrm>
            <a:off x="1470808" y="3149352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120 km/h</a:t>
            </a:r>
            <a:endParaRPr lang="en-IN" dirty="0"/>
          </a:p>
        </p:txBody>
      </p:sp>
      <p:sp>
        <p:nvSpPr>
          <p:cNvPr id="52" name="TextBox 51"/>
          <p:cNvSpPr txBox="1"/>
          <p:nvPr/>
        </p:nvSpPr>
        <p:spPr>
          <a:xfrm>
            <a:off x="737498" y="3667277"/>
            <a:ext cx="4837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53" name="TextBox 52"/>
          <p:cNvSpPr txBox="1"/>
          <p:nvPr/>
        </p:nvSpPr>
        <p:spPr>
          <a:xfrm>
            <a:off x="1187624" y="3667464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54" name="TextBox 53"/>
          <p:cNvSpPr txBox="1"/>
          <p:nvPr/>
        </p:nvSpPr>
        <p:spPr>
          <a:xfrm>
            <a:off x="1527385" y="3667277"/>
            <a:ext cx="12132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2 min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2771800" y="2387885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2387885"/>
                <a:ext cx="504056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/>
          <p:cNvSpPr txBox="1"/>
          <p:nvPr/>
        </p:nvSpPr>
        <p:spPr>
          <a:xfrm>
            <a:off x="3117184" y="2387885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57" name="TextBox 56"/>
          <p:cNvSpPr txBox="1"/>
          <p:nvPr/>
        </p:nvSpPr>
        <p:spPr>
          <a:xfrm>
            <a:off x="3452607" y="2387698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200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39551" y="5589240"/>
                <a:ext cx="424847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 smtClean="0"/>
                  <a:t>D = 100 + 200 = 300 m</a:t>
                </a:r>
              </a:p>
              <a:p>
                <a:r>
                  <a:rPr lang="en-IN" sz="2000" dirty="0"/>
                  <a:t> </a:t>
                </a:r>
                <a:r>
                  <a:rPr lang="en-IN" sz="2000" dirty="0" smtClean="0"/>
                  <a:t>S = Rel. </a:t>
                </a:r>
                <a:r>
                  <a:rPr lang="en-IN" sz="2000" dirty="0" err="1" smtClean="0"/>
                  <a:t>Sp</a:t>
                </a:r>
                <a:r>
                  <a:rPr lang="en-IN" sz="2000" dirty="0" smtClean="0"/>
                  <a:t> =&gt;( 120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IN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/>
                          </a:rPr>
                          <m:t> </m:t>
                        </m:r>
                        <m:r>
                          <a:rPr lang="en-IN" sz="20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000" i="1">
                            <a:latin typeface="Cambria Math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N" sz="2000" dirty="0" smtClean="0"/>
                  <a:t>)km/h</a:t>
                </a:r>
                <a:endParaRPr lang="en-IN" sz="20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1" y="5589240"/>
                <a:ext cx="4248473" cy="707886"/>
              </a:xfrm>
              <a:prstGeom prst="rect">
                <a:avLst/>
              </a:prstGeom>
              <a:blipFill rotWithShape="1">
                <a:blip r:embed="rId12"/>
                <a:stretch>
                  <a:fillRect l="-1580" t="-3448" b="-15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473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8" grpId="0"/>
      <p:bldP spid="29" grpId="0"/>
      <p:bldP spid="30" grpId="0"/>
      <p:bldP spid="43" grpId="0"/>
      <p:bldP spid="44" grpId="0"/>
      <p:bldP spid="45" grpId="0" animBg="1"/>
      <p:bldP spid="46" grpId="0"/>
      <p:bldP spid="47" grpId="0"/>
      <p:bldP spid="48" grpId="0" animBg="1"/>
      <p:bldP spid="49" grpId="0"/>
      <p:bldP spid="50" grpId="0"/>
      <p:bldP spid="51" grpId="0" animBg="1"/>
      <p:bldP spid="52" grpId="0"/>
      <p:bldP spid="53" grpId="0"/>
      <p:bldP spid="54" grpId="0" animBg="1"/>
      <p:bldP spid="55" grpId="0"/>
      <p:bldP spid="56" grpId="0"/>
      <p:bldP spid="57" grpId="0" animBg="1"/>
      <p:bldP spid="5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6000" b="1" dirty="0" smtClean="0"/>
              <a:t>Combination of  Type 1 &amp; 2 Problems</a:t>
            </a:r>
            <a:endParaRPr lang="en-IN" sz="60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210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 smtClean="0"/>
              <a:t>	A 1200 m long train crosses a tree in 120 sec, how much time will it take to cross a platform 700 m long?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a)180 sec			b)190 sec</a:t>
            </a:r>
          </a:p>
          <a:p>
            <a:pPr marL="0" indent="0">
              <a:buNone/>
            </a:pPr>
            <a:r>
              <a:rPr lang="en-IN" dirty="0" smtClean="0"/>
              <a:t>	c)170 sec			d)175 sec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Q.9)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610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Q.9)Explanation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85800" y="2060848"/>
            <a:ext cx="3803904" cy="4056488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0" y="2132856"/>
            <a:ext cx="3803904" cy="3877056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123848" y="2277059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48" y="2277059"/>
                <a:ext cx="504056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601594" y="227705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907704" y="2276872"/>
            <a:ext cx="1016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1200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169226" y="2798978"/>
                <a:ext cx="4504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226" y="2798978"/>
                <a:ext cx="45044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627904" y="279897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1934014" y="2798791"/>
            <a:ext cx="1125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m/s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169226" y="3316903"/>
            <a:ext cx="40474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627904" y="3316903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1934014" y="3316716"/>
            <a:ext cx="9818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(?) sec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924048" y="2277059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048" y="2277059"/>
                <a:ext cx="50405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3401794" y="227705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3707904" y="2276872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700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187624" y="4005251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4005251"/>
                <a:ext cx="50405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1665370" y="4005251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1971480" y="4005064"/>
            <a:ext cx="1016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1200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233002" y="4527170"/>
                <a:ext cx="4504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002" y="4527170"/>
                <a:ext cx="450446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691680" y="4527170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1997790" y="4526983"/>
            <a:ext cx="1125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(? ) m/s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1233002" y="5045095"/>
            <a:ext cx="40474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1691680" y="5045095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1997790" y="5044908"/>
            <a:ext cx="9818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120 sec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904515" y="3573016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________________________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428104" y="4526983"/>
                <a:ext cx="3304136" cy="529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000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20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/>
                          </a:rPr>
                          <m:t>1200</m:t>
                        </m:r>
                      </m:num>
                      <m:den>
                        <m:r>
                          <a:rPr lang="en-IN" sz="2000" b="0" i="1" smtClean="0">
                            <a:latin typeface="Cambria Math"/>
                          </a:rPr>
                          <m:t>120</m:t>
                        </m:r>
                      </m:den>
                    </m:f>
                  </m:oMath>
                </a14:m>
                <a:r>
                  <a:rPr lang="en-IN" sz="2000" dirty="0" smtClean="0"/>
                  <a:t> =&gt; 10 m/s</a:t>
                </a:r>
                <a:endParaRPr lang="en-IN" sz="20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104" y="4526983"/>
                <a:ext cx="3304136" cy="529504"/>
              </a:xfrm>
              <a:prstGeom prst="rect">
                <a:avLst/>
              </a:prstGeom>
              <a:blipFill rotWithShape="1">
                <a:blip r:embed="rId7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/>
          <p:cNvCxnSpPr/>
          <p:nvPr/>
        </p:nvCxnSpPr>
        <p:spPr>
          <a:xfrm flipH="1" flipV="1">
            <a:off x="3059832" y="3027085"/>
            <a:ext cx="1944216" cy="168456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080172" y="2461538"/>
                <a:ext cx="2948212" cy="791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 smtClean="0"/>
                  <a:t>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2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IN" sz="3200" b="0" i="1" smtClean="0">
                            <a:latin typeface="Cambria Math"/>
                          </a:rPr>
                          <m:t>1200 + 700</m:t>
                        </m:r>
                      </m:num>
                      <m:den>
                        <m:r>
                          <a:rPr lang="en-IN" sz="3200" b="0" i="1" smtClean="0">
                            <a:latin typeface="Cambria Math"/>
                          </a:rPr>
                          <m:t>10</m:t>
                        </m:r>
                      </m:den>
                    </m:f>
                  </m:oMath>
                </a14:m>
                <a:r>
                  <a:rPr lang="en-IN" sz="3200" dirty="0" smtClean="0"/>
                  <a:t> </a:t>
                </a: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172" y="2461538"/>
                <a:ext cx="2948212" cy="791820"/>
              </a:xfrm>
              <a:prstGeom prst="rect">
                <a:avLst/>
              </a:prstGeom>
              <a:blipFill rotWithShape="1">
                <a:blip r:embed="rId8"/>
                <a:stretch>
                  <a:fillRect l="-5165" b="-123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/>
          <p:cNvSpPr txBox="1"/>
          <p:nvPr/>
        </p:nvSpPr>
        <p:spPr>
          <a:xfrm>
            <a:off x="5080172" y="3501569"/>
            <a:ext cx="2948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>
                <a:solidFill>
                  <a:srgbClr val="00B050"/>
                </a:solidFill>
              </a:rPr>
              <a:t>T = 190 sec</a:t>
            </a:r>
          </a:p>
        </p:txBody>
      </p:sp>
    </p:spTree>
    <p:extLst>
      <p:ext uri="{BB962C8B-B14F-4D97-AF65-F5344CB8AC3E}">
        <p14:creationId xmlns:p14="http://schemas.microsoft.com/office/powerpoint/2010/main" val="306948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  <p:bldP spid="30" grpId="0"/>
      <p:bldP spid="31" grpId="0"/>
      <p:bldP spid="32" grpId="0" animBg="1"/>
      <p:bldP spid="33" grpId="0"/>
      <p:bldP spid="34" grpId="0"/>
      <p:bldP spid="35" grpId="0" animBg="1"/>
      <p:bldP spid="37" grpId="0"/>
      <p:bldP spid="43" grpId="0"/>
      <p:bldP spid="4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 smtClean="0"/>
              <a:t>	A train passes a station platform in 36 seconds and a man standing on the platform in 20 seconds. If the speed of the train is 54 km/h, what is the length of the platform?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a)120 m			b)240 m</a:t>
            </a:r>
          </a:p>
          <a:p>
            <a:pPr marL="0" indent="0">
              <a:buNone/>
            </a:pPr>
            <a:r>
              <a:rPr lang="en-IN" dirty="0" smtClean="0"/>
              <a:t>	c)300 m			d)320 m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Q.10)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1725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Q.10)Explanation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85800" y="2060848"/>
            <a:ext cx="3803904" cy="4056488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0" y="2132856"/>
            <a:ext cx="3803904" cy="3877056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123848" y="2277059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48" y="2277059"/>
                <a:ext cx="50405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601594" y="227705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907704" y="2276872"/>
            <a:ext cx="1016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()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169226" y="2798978"/>
                <a:ext cx="4504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226" y="2798978"/>
                <a:ext cx="45044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627904" y="279897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1934014" y="2798791"/>
            <a:ext cx="1125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54 km/h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169226" y="3316903"/>
            <a:ext cx="40474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627904" y="3316903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1934014" y="3316716"/>
            <a:ext cx="9818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36 sec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924048" y="2277059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048" y="2277059"/>
                <a:ext cx="50405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3401794" y="227705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3707904" y="2276872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(?)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187624" y="4005251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4005251"/>
                <a:ext cx="504056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1665370" y="4005251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1971480" y="4005064"/>
            <a:ext cx="1016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(?)m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233002" y="4527170"/>
                <a:ext cx="4504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002" y="4527170"/>
                <a:ext cx="450446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691680" y="4527170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1997790" y="4526983"/>
            <a:ext cx="1125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54 km/h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3002" y="5045095"/>
            <a:ext cx="40474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1691680" y="5045095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1997790" y="5044908"/>
            <a:ext cx="9818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20 sec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904515" y="3573016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________________________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428104" y="4526983"/>
                <a:ext cx="2512048" cy="862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IN" sz="2000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2000" dirty="0" smtClean="0"/>
                  <a:t> = (20) </a:t>
                </a:r>
                <a14:m>
                  <m:oMath xmlns:m="http://schemas.openxmlformats.org/officeDocument/2006/math">
                    <m:r>
                      <a:rPr lang="en-IN" sz="2000" i="1" smtClean="0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IN" sz="2000" dirty="0" smtClean="0"/>
                  <a:t> 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latin typeface="Cambria Math"/>
                      </a:rPr>
                      <m:t>(54 </m:t>
                    </m:r>
                    <m:r>
                      <a:rPr lang="en-IN" sz="2000" i="1" smtClean="0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IN" sz="200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num>
                      <m:den>
                        <m:r>
                          <a:rPr lang="en-IN" sz="2000" b="0" i="1" smtClean="0">
                            <a:latin typeface="Cambria Math"/>
                            <a:ea typeface="Cambria Math"/>
                          </a:rPr>
                          <m:t>18</m:t>
                        </m:r>
                      </m:den>
                    </m:f>
                  </m:oMath>
                </a14:m>
                <a:r>
                  <a:rPr lang="en-IN" sz="2000" dirty="0" smtClean="0"/>
                  <a:t> ) </a:t>
                </a:r>
              </a:p>
              <a:p>
                <a:r>
                  <a:rPr lang="en-IN" sz="2000" dirty="0"/>
                  <a:t> </a:t>
                </a:r>
                <a:r>
                  <a:rPr lang="en-IN" sz="2000" dirty="0" smtClean="0"/>
                  <a:t>   = 300 m</a:t>
                </a:r>
                <a:endParaRPr lang="en-IN" sz="20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104" y="4526983"/>
                <a:ext cx="2512048" cy="862608"/>
              </a:xfrm>
              <a:prstGeom prst="rect">
                <a:avLst/>
              </a:prstGeom>
              <a:blipFill rotWithShape="1">
                <a:blip r:embed="rId8"/>
                <a:stretch>
                  <a:fillRect r="-3641" b="-99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/>
          <p:cNvCxnSpPr/>
          <p:nvPr/>
        </p:nvCxnSpPr>
        <p:spPr>
          <a:xfrm flipH="1" flipV="1">
            <a:off x="2924049" y="2646206"/>
            <a:ext cx="1292834" cy="239888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080172" y="2461538"/>
                <a:ext cx="3740300" cy="622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 smtClean="0"/>
                  <a:t>300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latin typeface="Cambria Math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IN" sz="2400" dirty="0" smtClean="0"/>
                  <a:t> = (36)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/>
                        <a:ea typeface="Cambria Math"/>
                      </a:rPr>
                      <m:t>×</m:t>
                    </m:r>
                    <m:d>
                      <m:dPr>
                        <m:ctrlPr>
                          <a:rPr lang="en-IN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/>
                            <a:ea typeface="Cambria Math"/>
                          </a:rPr>
                          <m:t>54 ×</m:t>
                        </m:r>
                        <m:f>
                          <m:fPr>
                            <m:ctrlPr>
                              <a:rPr lang="en-IN" sz="24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latin typeface="Cambria Math"/>
                                <a:ea typeface="Cambria Math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latin typeface="Cambria Math"/>
                                <a:ea typeface="Cambria Math"/>
                              </a:rPr>
                              <m:t>18</m:t>
                            </m:r>
                          </m:den>
                        </m:f>
                      </m:e>
                    </m:d>
                  </m:oMath>
                </a14:m>
                <a:endParaRPr lang="en-IN" sz="2400" dirty="0" smtClean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172" y="2461538"/>
                <a:ext cx="3740300" cy="622414"/>
              </a:xfrm>
              <a:prstGeom prst="rect">
                <a:avLst/>
              </a:prstGeom>
              <a:blipFill rotWithShape="1">
                <a:blip r:embed="rId9"/>
                <a:stretch>
                  <a:fillRect l="-2443" b="-107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080172" y="3501569"/>
                <a:ext cx="222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300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latin typeface="Cambria Math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IN" sz="2400" dirty="0"/>
                  <a:t> </a:t>
                </a:r>
                <a:r>
                  <a:rPr lang="en-IN" sz="2400" dirty="0" smtClean="0"/>
                  <a:t>= 540 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172" y="3501569"/>
                <a:ext cx="2228132" cy="461665"/>
              </a:xfrm>
              <a:prstGeom prst="rect">
                <a:avLst/>
              </a:prstGeom>
              <a:blipFill rotWithShape="1">
                <a:blip r:embed="rId10"/>
                <a:stretch>
                  <a:fillRect l="-4098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911908" y="4053956"/>
                <a:ext cx="222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24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24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IN" sz="2400" b="1" dirty="0">
                    <a:solidFill>
                      <a:srgbClr val="00B050"/>
                    </a:solidFill>
                  </a:rPr>
                  <a:t> </a:t>
                </a:r>
                <a:r>
                  <a:rPr lang="en-IN" sz="2400" b="1" dirty="0" smtClean="0">
                    <a:solidFill>
                      <a:srgbClr val="00B050"/>
                    </a:solidFill>
                  </a:rPr>
                  <a:t>= 240 m </a:t>
                </a:r>
                <a:endParaRPr lang="en-IN" sz="2400" b="1" dirty="0" smtClean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908" y="4053956"/>
                <a:ext cx="2228132" cy="461665"/>
              </a:xfrm>
              <a:prstGeom prst="rect">
                <a:avLst/>
              </a:prstGeom>
              <a:blipFill rotWithShape="1">
                <a:blip r:embed="rId11"/>
                <a:stretch>
                  <a:fillRect l="-1096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78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  <p:bldP spid="30" grpId="0"/>
      <p:bldP spid="31" grpId="0"/>
      <p:bldP spid="32" grpId="0" animBg="1"/>
      <p:bldP spid="33" grpId="0"/>
      <p:bldP spid="34" grpId="0"/>
      <p:bldP spid="35" grpId="0" animBg="1"/>
      <p:bldP spid="37" grpId="0"/>
      <p:bldP spid="43" grpId="0"/>
      <p:bldP spid="45" grpId="0"/>
      <p:bldP spid="3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A train crosses an electric pole in 15 seconds and a platform of 100 m long in 25 seconds. Find the length of the train.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a)100 m			b)125 m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c)130 m			d)150 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Q.11)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85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99247" y="2060849"/>
            <a:ext cx="7745505" cy="4065314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Q.11)Explanation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4294967295"/>
          </p:nvPr>
        </p:nvSpPr>
        <p:spPr>
          <a:xfrm>
            <a:off x="5076056" y="2133600"/>
            <a:ext cx="3803650" cy="3876675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123848" y="2277059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48" y="2277059"/>
                <a:ext cx="504056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601594" y="227705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907704" y="2276872"/>
            <a:ext cx="1016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169226" y="2798978"/>
                <a:ext cx="4504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226" y="2798978"/>
                <a:ext cx="45044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627904" y="279897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1934014" y="2798791"/>
            <a:ext cx="1125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m/s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169226" y="3316903"/>
            <a:ext cx="40474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627904" y="3316903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1934014" y="3316716"/>
            <a:ext cx="9818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15 sec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171802" y="2277059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802" y="2277059"/>
                <a:ext cx="50405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5649548" y="227705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5955658" y="2276872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</a:t>
            </a:r>
            <a:r>
              <a:rPr lang="en-IN" dirty="0" smtClean="0"/>
              <a:t>00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275856" y="2277059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2277059"/>
                <a:ext cx="50405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3591660" y="227705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3957830" y="2277059"/>
            <a:ext cx="1016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321234" y="2798978"/>
                <a:ext cx="4504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1234" y="2798978"/>
                <a:ext cx="450446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3951700" y="2780928"/>
            <a:ext cx="1125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m/s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3294924" y="3316903"/>
            <a:ext cx="40474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3627664" y="3316903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3963403" y="3316716"/>
            <a:ext cx="9818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25 sec</a:t>
            </a:r>
            <a:endParaRPr lang="en-IN" dirty="0"/>
          </a:p>
        </p:txBody>
      </p:sp>
      <p:sp>
        <p:nvSpPr>
          <p:cNvPr id="54" name="TextBox 53"/>
          <p:cNvSpPr txBox="1"/>
          <p:nvPr/>
        </p:nvSpPr>
        <p:spPr>
          <a:xfrm>
            <a:off x="3627664" y="285893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203848" y="2060848"/>
            <a:ext cx="0" cy="172819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69226" y="3861048"/>
            <a:ext cx="189060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3356248" y="3861048"/>
            <a:ext cx="36640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121273" y="3861048"/>
            <a:ext cx="0" cy="28803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295065" y="4149080"/>
                <a:ext cx="1629874" cy="1144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2800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IN" sz="2800" b="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8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sz="2800" b="0" i="1" smtClean="0">
                            <a:latin typeface="Cambria Math"/>
                          </a:rPr>
                          <m:t>15</m:t>
                        </m:r>
                      </m:den>
                    </m:f>
                  </m:oMath>
                </a14:m>
                <a:endParaRPr lang="en-IN" sz="2800" dirty="0"/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065" y="4149080"/>
                <a:ext cx="1629874" cy="114415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3987704" y="4170605"/>
                <a:ext cx="2228469" cy="1144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2800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IN" sz="2800" b="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IN" sz="28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800" i="1">
                                <a:latin typeface="Cambria Math"/>
                              </a:rPr>
                              <m:t>𝑡</m:t>
                            </m:r>
                            <m:r>
                              <a:rPr lang="en-IN" sz="2800" b="0" i="1" smtClean="0">
                                <a:latin typeface="Cambria Math"/>
                              </a:rPr>
                              <m:t> +</m:t>
                            </m:r>
                          </m:sub>
                        </m:sSub>
                        <m:r>
                          <a:rPr lang="en-IN" sz="2800" b="0" i="1" smtClean="0">
                            <a:latin typeface="Cambria Math"/>
                          </a:rPr>
                          <m:t> 100 </m:t>
                        </m:r>
                      </m:num>
                      <m:den>
                        <m:r>
                          <a:rPr lang="en-IN" sz="2800" b="0" i="1" smtClean="0">
                            <a:latin typeface="Cambria Math"/>
                          </a:rPr>
                          <m:t>25</m:t>
                        </m:r>
                      </m:den>
                    </m:f>
                  </m:oMath>
                </a14:m>
                <a:endParaRPr lang="en-IN" sz="2800" dirty="0"/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704" y="4170605"/>
                <a:ext cx="2228469" cy="114415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/>
          <p:cNvCxnSpPr/>
          <p:nvPr/>
        </p:nvCxnSpPr>
        <p:spPr>
          <a:xfrm>
            <a:off x="5003411" y="3876003"/>
            <a:ext cx="0" cy="28803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qual 57"/>
          <p:cNvSpPr/>
          <p:nvPr/>
        </p:nvSpPr>
        <p:spPr>
          <a:xfrm>
            <a:off x="2924939" y="4170605"/>
            <a:ext cx="1026761" cy="57207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2364224" y="5157192"/>
                <a:ext cx="2724038" cy="890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3600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36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sz="3600" i="1">
                            <a:latin typeface="Cambria Math"/>
                          </a:rPr>
                          <m:t>15</m:t>
                        </m:r>
                      </m:den>
                    </m:f>
                  </m:oMath>
                </a14:m>
                <a:r>
                  <a:rPr lang="en-IN" sz="3600" dirty="0" smtClean="0"/>
                  <a:t> =</a:t>
                </a:r>
                <a:r>
                  <a:rPr lang="en-IN" sz="36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i="1">
                                <a:latin typeface="Cambria Math"/>
                              </a:rPr>
                              <m:t> </m:t>
                            </m:r>
                            <m:r>
                              <a:rPr lang="en-IN" sz="36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3600" i="1">
                                <a:latin typeface="Cambria Math"/>
                              </a:rPr>
                              <m:t>𝑡</m:t>
                            </m:r>
                            <m:r>
                              <a:rPr lang="en-IN" sz="3600" i="1">
                                <a:latin typeface="Cambria Math"/>
                              </a:rPr>
                              <m:t> +</m:t>
                            </m:r>
                          </m:sub>
                        </m:sSub>
                        <m:r>
                          <a:rPr lang="en-IN" sz="3600" i="1">
                            <a:latin typeface="Cambria Math"/>
                          </a:rPr>
                          <m:t> 100 </m:t>
                        </m:r>
                      </m:num>
                      <m:den>
                        <m:r>
                          <a:rPr lang="en-IN" sz="3600" i="1">
                            <a:latin typeface="Cambria Math"/>
                          </a:rPr>
                          <m:t>25</m:t>
                        </m:r>
                      </m:den>
                    </m:f>
                  </m:oMath>
                </a14:m>
                <a:r>
                  <a:rPr lang="en-IN" sz="3600" dirty="0" smtClean="0"/>
                  <a:t> </a:t>
                </a:r>
                <a:endParaRPr lang="en-IN" sz="36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224" y="5157192"/>
                <a:ext cx="2724038" cy="890757"/>
              </a:xfrm>
              <a:prstGeom prst="rect">
                <a:avLst/>
              </a:prstGeom>
              <a:blipFill rotWithShape="1">
                <a:blip r:embed="rId9"/>
                <a:stretch>
                  <a:fillRect b="-123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5642652" y="5314764"/>
                <a:ext cx="22445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2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32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32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sz="3200" b="1" dirty="0" smtClean="0">
                    <a:solidFill>
                      <a:srgbClr val="00B050"/>
                    </a:solidFill>
                  </a:rPr>
                  <a:t> = 150 m </a:t>
                </a:r>
                <a:endParaRPr lang="en-IN" sz="3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652" y="5314764"/>
                <a:ext cx="2244514" cy="584775"/>
              </a:xfrm>
              <a:prstGeom prst="rect">
                <a:avLst/>
              </a:prstGeom>
              <a:blipFill rotWithShape="1">
                <a:blip r:embed="rId10"/>
                <a:stretch>
                  <a:fillRect t="-13542" r="-272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63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  <p:bldP spid="30" grpId="0"/>
      <p:bldP spid="32" grpId="0" animBg="1"/>
      <p:bldP spid="33" grpId="0"/>
      <p:bldP spid="34" grpId="0"/>
      <p:bldP spid="35" grpId="0" animBg="1"/>
      <p:bldP spid="54" grpId="0"/>
      <p:bldP spid="14" grpId="0"/>
      <p:bldP spid="56" grpId="0"/>
      <p:bldP spid="58" grpId="0" animBg="1"/>
      <p:bldP spid="60" grpId="0"/>
      <p:bldP spid="6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6000" b="1" dirty="0" smtClean="0"/>
              <a:t>Combination of  Type 2 &amp; 2 Problems</a:t>
            </a:r>
            <a:endParaRPr lang="en-IN" sz="60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5976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 smtClean="0"/>
              <a:t>	A train crosses a platform of 120 m in 15 sec, same train crosses of length 180 m in 18 sec. Then find the length of the train.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a)175 m			b)180 m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c)185 m			d)170 m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Q.12)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9662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99247" y="2060849"/>
            <a:ext cx="7745505" cy="4065314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Q.12)Explanation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4294967295"/>
          </p:nvPr>
        </p:nvSpPr>
        <p:spPr>
          <a:xfrm>
            <a:off x="5076056" y="2133600"/>
            <a:ext cx="3803650" cy="3876675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123848" y="2277059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48" y="2277059"/>
                <a:ext cx="504056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601594" y="227705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907704" y="2276872"/>
            <a:ext cx="1016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169226" y="2798978"/>
                <a:ext cx="4504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226" y="2798978"/>
                <a:ext cx="45044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627904" y="279897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1934014" y="2798791"/>
            <a:ext cx="1125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m/s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169226" y="3316903"/>
            <a:ext cx="40474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627904" y="3316903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1934014" y="3316716"/>
            <a:ext cx="9818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15 sec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452440" y="2277059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440" y="2277059"/>
                <a:ext cx="50405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6930186" y="227705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7236296" y="2276872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</a:t>
            </a:r>
            <a:r>
              <a:rPr lang="en-IN" dirty="0"/>
              <a:t>8</a:t>
            </a:r>
            <a:r>
              <a:rPr lang="en-IN" dirty="0" smtClean="0"/>
              <a:t>0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556494" y="2277059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494" y="2277059"/>
                <a:ext cx="50405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4872298" y="227705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5238468" y="2277059"/>
            <a:ext cx="1016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601872" y="2798978"/>
                <a:ext cx="4504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872" y="2798978"/>
                <a:ext cx="450446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5232338" y="2780928"/>
            <a:ext cx="1125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m/s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4575562" y="3316903"/>
            <a:ext cx="40474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4908302" y="3316903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5244041" y="3316716"/>
            <a:ext cx="9818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18 sec</a:t>
            </a:r>
            <a:endParaRPr lang="en-IN" dirty="0"/>
          </a:p>
        </p:txBody>
      </p:sp>
      <p:sp>
        <p:nvSpPr>
          <p:cNvPr id="54" name="TextBox 53"/>
          <p:cNvSpPr txBox="1"/>
          <p:nvPr/>
        </p:nvSpPr>
        <p:spPr>
          <a:xfrm>
            <a:off x="4908302" y="285893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56494" y="2060848"/>
            <a:ext cx="0" cy="172819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69226" y="3861048"/>
            <a:ext cx="3283095" cy="215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4620428" y="3876003"/>
            <a:ext cx="36640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771800" y="3861048"/>
            <a:ext cx="0" cy="28803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691680" y="4149080"/>
                <a:ext cx="2328593" cy="1144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2800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IN" sz="2800" b="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latin typeface="Cambria Math"/>
                              </a:rPr>
                              <m:t>  </m:t>
                            </m:r>
                            <m:r>
                              <a:rPr lang="en-IN" sz="28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8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en-IN" sz="2800" b="0" i="1" smtClean="0">
                            <a:latin typeface="Cambria Math"/>
                          </a:rPr>
                          <m:t> + 120 </m:t>
                        </m:r>
                      </m:num>
                      <m:den>
                        <m:r>
                          <a:rPr lang="en-IN" sz="2800" b="0" i="1" smtClean="0">
                            <a:latin typeface="Cambria Math"/>
                          </a:rPr>
                          <m:t>15</m:t>
                        </m:r>
                      </m:den>
                    </m:f>
                  </m:oMath>
                </a14:m>
                <a:endParaRPr lang="en-IN" sz="2800" dirty="0"/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4149080"/>
                <a:ext cx="2328593" cy="114415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5292080" y="4170605"/>
                <a:ext cx="2228469" cy="1144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2800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IN" sz="2800" b="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IN" sz="28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800" i="1">
                                <a:latin typeface="Cambria Math"/>
                              </a:rPr>
                              <m:t>𝑡</m:t>
                            </m:r>
                            <m:r>
                              <a:rPr lang="en-IN" sz="2800" b="0" i="1" smtClean="0">
                                <a:latin typeface="Cambria Math"/>
                              </a:rPr>
                              <m:t> +</m:t>
                            </m:r>
                          </m:sub>
                        </m:sSub>
                        <m:r>
                          <a:rPr lang="en-IN" sz="2800" b="0" i="1" smtClean="0">
                            <a:latin typeface="Cambria Math"/>
                          </a:rPr>
                          <m:t> 180 </m:t>
                        </m:r>
                      </m:num>
                      <m:den>
                        <m:r>
                          <a:rPr lang="en-IN" sz="2800" b="0" i="1" smtClean="0">
                            <a:latin typeface="Cambria Math"/>
                          </a:rPr>
                          <m:t>18</m:t>
                        </m:r>
                      </m:den>
                    </m:f>
                  </m:oMath>
                </a14:m>
                <a:endParaRPr lang="en-IN" sz="2800" dirty="0"/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4170605"/>
                <a:ext cx="2228469" cy="114415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/>
          <p:cNvCxnSpPr/>
          <p:nvPr/>
        </p:nvCxnSpPr>
        <p:spPr>
          <a:xfrm>
            <a:off x="6372200" y="3882573"/>
            <a:ext cx="0" cy="28803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qual 57"/>
          <p:cNvSpPr/>
          <p:nvPr/>
        </p:nvSpPr>
        <p:spPr>
          <a:xfrm>
            <a:off x="4121303" y="4170605"/>
            <a:ext cx="1026761" cy="57207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1964790" y="5282686"/>
                <a:ext cx="3042734" cy="891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36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3600" i="1">
                                <a:latin typeface="Cambria Math"/>
                              </a:rPr>
                              <m:t>𝑡</m:t>
                            </m:r>
                            <m:r>
                              <a:rPr lang="en-IN" sz="3600" b="0" i="1" smtClean="0">
                                <a:latin typeface="Cambria Math"/>
                              </a:rPr>
                              <m:t> +120</m:t>
                            </m:r>
                          </m:sub>
                        </m:sSub>
                      </m:num>
                      <m:den>
                        <m:r>
                          <a:rPr lang="en-IN" sz="3600" i="1">
                            <a:latin typeface="Cambria Math"/>
                          </a:rPr>
                          <m:t>15</m:t>
                        </m:r>
                      </m:den>
                    </m:f>
                  </m:oMath>
                </a14:m>
                <a:r>
                  <a:rPr lang="en-IN" sz="3600" dirty="0" smtClean="0"/>
                  <a:t> =</a:t>
                </a:r>
                <a:r>
                  <a:rPr lang="en-IN" sz="36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i="1">
                                <a:latin typeface="Cambria Math"/>
                              </a:rPr>
                              <m:t> </m:t>
                            </m:r>
                            <m:r>
                              <a:rPr lang="en-IN" sz="36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3600" i="1">
                                <a:latin typeface="Cambria Math"/>
                              </a:rPr>
                              <m:t>𝑡</m:t>
                            </m:r>
                            <m:r>
                              <a:rPr lang="en-IN" sz="3600" i="1">
                                <a:latin typeface="Cambria Math"/>
                              </a:rPr>
                              <m:t> +</m:t>
                            </m:r>
                          </m:sub>
                        </m:sSub>
                        <m:r>
                          <a:rPr lang="en-IN" sz="3600" i="1">
                            <a:latin typeface="Cambria Math"/>
                          </a:rPr>
                          <m:t> 1</m:t>
                        </m:r>
                        <m:r>
                          <a:rPr lang="en-IN" sz="3600" b="0" i="1" smtClean="0">
                            <a:latin typeface="Cambria Math"/>
                          </a:rPr>
                          <m:t>8</m:t>
                        </m:r>
                        <m:r>
                          <a:rPr lang="en-IN" sz="3600" i="1">
                            <a:latin typeface="Cambria Math"/>
                          </a:rPr>
                          <m:t>0 </m:t>
                        </m:r>
                      </m:num>
                      <m:den>
                        <m:r>
                          <a:rPr lang="en-IN" sz="3600" b="0" i="1" smtClean="0">
                            <a:latin typeface="Cambria Math"/>
                          </a:rPr>
                          <m:t>18</m:t>
                        </m:r>
                      </m:den>
                    </m:f>
                  </m:oMath>
                </a14:m>
                <a:r>
                  <a:rPr lang="en-IN" sz="3600" dirty="0" smtClean="0"/>
                  <a:t> </a:t>
                </a:r>
                <a:endParaRPr lang="en-IN" sz="36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790" y="5282686"/>
                <a:ext cx="3042734" cy="891141"/>
              </a:xfrm>
              <a:prstGeom prst="rect">
                <a:avLst/>
              </a:prstGeom>
              <a:blipFill rotWithShape="1">
                <a:blip r:embed="rId9"/>
                <a:stretch>
                  <a:fillRect b="-123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5582211" y="5569815"/>
                <a:ext cx="22445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2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32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32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sz="3200" b="1" dirty="0" smtClean="0">
                    <a:solidFill>
                      <a:srgbClr val="00B050"/>
                    </a:solidFill>
                  </a:rPr>
                  <a:t> = 180 m </a:t>
                </a:r>
                <a:endParaRPr lang="en-IN" sz="3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211" y="5569815"/>
                <a:ext cx="2244514" cy="584775"/>
              </a:xfrm>
              <a:prstGeom prst="rect">
                <a:avLst/>
              </a:prstGeom>
              <a:blipFill rotWithShape="1">
                <a:blip r:embed="rId10"/>
                <a:stretch>
                  <a:fillRect t="-13542" r="-272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915816" y="2277059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2277059"/>
                <a:ext cx="504056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3258299" y="227705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40" name="TextBox 39"/>
          <p:cNvSpPr txBox="1"/>
          <p:nvPr/>
        </p:nvSpPr>
        <p:spPr>
          <a:xfrm>
            <a:off x="3588225" y="2276872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</a:t>
            </a:r>
            <a:r>
              <a:rPr lang="en-IN" dirty="0"/>
              <a:t>2</a:t>
            </a:r>
            <a:r>
              <a:rPr lang="en-IN" dirty="0" smtClean="0"/>
              <a:t>0 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603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  <p:bldP spid="30" grpId="0"/>
      <p:bldP spid="32" grpId="0" animBg="1"/>
      <p:bldP spid="33" grpId="0"/>
      <p:bldP spid="34" grpId="0"/>
      <p:bldP spid="35" grpId="0" animBg="1"/>
      <p:bldP spid="54" grpId="0"/>
      <p:bldP spid="14" grpId="0"/>
      <p:bldP spid="56" grpId="0"/>
      <p:bldP spid="58" grpId="0" animBg="1"/>
      <p:bldP spid="60" grpId="0"/>
      <p:bldP spid="61" grpId="0"/>
      <p:bldP spid="38" grpId="0"/>
      <p:bldP spid="39" grpId="0"/>
      <p:bldP spid="4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 smtClean="0"/>
              <a:t>	A train crosses a platform of 150 m in 15 sec, same train crosses of length 250 m in 20 sec. Then find the length of the train.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a)150 m			b)165 m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c)155 m			d)160 m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Q.13)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9341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99247" y="2060849"/>
            <a:ext cx="7745505" cy="4065314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Q.13)Explanation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4294967295"/>
          </p:nvPr>
        </p:nvSpPr>
        <p:spPr>
          <a:xfrm>
            <a:off x="5076056" y="2133600"/>
            <a:ext cx="3803650" cy="3876675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123848" y="2277059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48" y="2277059"/>
                <a:ext cx="504056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601594" y="227705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907704" y="2276872"/>
            <a:ext cx="1016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169226" y="2798978"/>
                <a:ext cx="4504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226" y="2798978"/>
                <a:ext cx="45044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627904" y="279897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1934014" y="2798791"/>
            <a:ext cx="1125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m/s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169226" y="3316903"/>
            <a:ext cx="40474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627904" y="3316903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1934014" y="3316716"/>
            <a:ext cx="9818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15 sec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452440" y="2277059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440" y="2277059"/>
                <a:ext cx="50405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6930186" y="227705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7236296" y="2276872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250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556494" y="2277059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494" y="2277059"/>
                <a:ext cx="50405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4872298" y="227705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5238468" y="2277059"/>
            <a:ext cx="1016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601872" y="2798978"/>
                <a:ext cx="4504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872" y="2798978"/>
                <a:ext cx="450446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5232338" y="2780928"/>
            <a:ext cx="1125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m/s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4575562" y="3316903"/>
            <a:ext cx="40474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4908302" y="3316903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5244041" y="3316716"/>
            <a:ext cx="9818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20 sec</a:t>
            </a:r>
            <a:endParaRPr lang="en-IN" dirty="0"/>
          </a:p>
        </p:txBody>
      </p:sp>
      <p:sp>
        <p:nvSpPr>
          <p:cNvPr id="54" name="TextBox 53"/>
          <p:cNvSpPr txBox="1"/>
          <p:nvPr/>
        </p:nvSpPr>
        <p:spPr>
          <a:xfrm>
            <a:off x="4908302" y="285893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56494" y="2060848"/>
            <a:ext cx="0" cy="172819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69226" y="3861048"/>
            <a:ext cx="3283095" cy="215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4620428" y="3876003"/>
            <a:ext cx="36640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771800" y="3861048"/>
            <a:ext cx="0" cy="28803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691680" y="4149080"/>
                <a:ext cx="2328593" cy="1144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2800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IN" sz="2800" b="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latin typeface="Cambria Math"/>
                              </a:rPr>
                              <m:t>  </m:t>
                            </m:r>
                            <m:r>
                              <a:rPr lang="en-IN" sz="28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8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en-IN" sz="2800" b="0" i="1" smtClean="0">
                            <a:latin typeface="Cambria Math"/>
                          </a:rPr>
                          <m:t> + 150 </m:t>
                        </m:r>
                      </m:num>
                      <m:den>
                        <m:r>
                          <a:rPr lang="en-IN" sz="2800" b="0" i="1" smtClean="0">
                            <a:latin typeface="Cambria Math"/>
                          </a:rPr>
                          <m:t>15</m:t>
                        </m:r>
                      </m:den>
                    </m:f>
                  </m:oMath>
                </a14:m>
                <a:endParaRPr lang="en-IN" sz="2800" dirty="0"/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4149080"/>
                <a:ext cx="2328593" cy="114415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5292080" y="4170605"/>
                <a:ext cx="2228469" cy="1144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2800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IN" sz="2800" b="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IN" sz="28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800" i="1">
                                <a:latin typeface="Cambria Math"/>
                              </a:rPr>
                              <m:t>𝑡</m:t>
                            </m:r>
                            <m:r>
                              <a:rPr lang="en-IN" sz="2800" b="0" i="1" smtClean="0">
                                <a:latin typeface="Cambria Math"/>
                              </a:rPr>
                              <m:t> +</m:t>
                            </m:r>
                          </m:sub>
                        </m:sSub>
                        <m:r>
                          <a:rPr lang="en-IN" sz="2800" b="0" i="1" smtClean="0">
                            <a:latin typeface="Cambria Math"/>
                          </a:rPr>
                          <m:t> 250 </m:t>
                        </m:r>
                      </m:num>
                      <m:den>
                        <m:r>
                          <a:rPr lang="en-IN" sz="2800" b="0" i="1" smtClean="0">
                            <a:latin typeface="Cambria Math"/>
                          </a:rPr>
                          <m:t>20</m:t>
                        </m:r>
                      </m:den>
                    </m:f>
                  </m:oMath>
                </a14:m>
                <a:endParaRPr lang="en-IN" sz="2800" dirty="0"/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4170605"/>
                <a:ext cx="2228469" cy="114415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/>
          <p:cNvCxnSpPr/>
          <p:nvPr/>
        </p:nvCxnSpPr>
        <p:spPr>
          <a:xfrm>
            <a:off x="6372200" y="3882573"/>
            <a:ext cx="0" cy="28803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qual 57"/>
          <p:cNvSpPr/>
          <p:nvPr/>
        </p:nvSpPr>
        <p:spPr>
          <a:xfrm>
            <a:off x="4121303" y="4170605"/>
            <a:ext cx="1026761" cy="57207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1964790" y="5282686"/>
                <a:ext cx="3042734" cy="891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36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3600" i="1">
                                <a:latin typeface="Cambria Math"/>
                              </a:rPr>
                              <m:t>𝑡</m:t>
                            </m:r>
                            <m:r>
                              <a:rPr lang="en-IN" sz="3600" b="0" i="1" smtClean="0">
                                <a:latin typeface="Cambria Math"/>
                              </a:rPr>
                              <m:t> +150</m:t>
                            </m:r>
                          </m:sub>
                        </m:sSub>
                      </m:num>
                      <m:den>
                        <m:r>
                          <a:rPr lang="en-IN" sz="3600" i="1">
                            <a:latin typeface="Cambria Math"/>
                          </a:rPr>
                          <m:t>15</m:t>
                        </m:r>
                      </m:den>
                    </m:f>
                  </m:oMath>
                </a14:m>
                <a:r>
                  <a:rPr lang="en-IN" sz="3600" dirty="0" smtClean="0"/>
                  <a:t> =</a:t>
                </a:r>
                <a:r>
                  <a:rPr lang="en-IN" sz="36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i="1">
                                <a:latin typeface="Cambria Math"/>
                              </a:rPr>
                              <m:t> </m:t>
                            </m:r>
                            <m:r>
                              <a:rPr lang="en-IN" sz="36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3600" i="1">
                                <a:latin typeface="Cambria Math"/>
                              </a:rPr>
                              <m:t>𝑡</m:t>
                            </m:r>
                            <m:r>
                              <a:rPr lang="en-IN" sz="3600" i="1">
                                <a:latin typeface="Cambria Math"/>
                              </a:rPr>
                              <m:t> +</m:t>
                            </m:r>
                          </m:sub>
                        </m:sSub>
                        <m:r>
                          <a:rPr lang="en-IN" sz="3600" i="1">
                            <a:latin typeface="Cambria Math"/>
                          </a:rPr>
                          <m:t> </m:t>
                        </m:r>
                        <m:r>
                          <a:rPr lang="en-IN" sz="3600" b="0" i="1" smtClean="0">
                            <a:latin typeface="Cambria Math"/>
                          </a:rPr>
                          <m:t>25</m:t>
                        </m:r>
                        <m:r>
                          <a:rPr lang="en-IN" sz="3600" i="1">
                            <a:latin typeface="Cambria Math"/>
                          </a:rPr>
                          <m:t>0 </m:t>
                        </m:r>
                      </m:num>
                      <m:den>
                        <m:r>
                          <a:rPr lang="en-IN" sz="3600" b="0" i="1" smtClean="0">
                            <a:latin typeface="Cambria Math"/>
                          </a:rPr>
                          <m:t>20</m:t>
                        </m:r>
                      </m:den>
                    </m:f>
                  </m:oMath>
                </a14:m>
                <a:r>
                  <a:rPr lang="en-IN" sz="3600" dirty="0" smtClean="0"/>
                  <a:t> </a:t>
                </a:r>
                <a:endParaRPr lang="en-IN" sz="36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790" y="5282686"/>
                <a:ext cx="3042734" cy="891141"/>
              </a:xfrm>
              <a:prstGeom prst="rect">
                <a:avLst/>
              </a:prstGeom>
              <a:blipFill rotWithShape="1">
                <a:blip r:embed="rId9"/>
                <a:stretch>
                  <a:fillRect b="-123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5582211" y="5569815"/>
                <a:ext cx="22445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2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32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32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sz="3200" b="1" dirty="0" smtClean="0">
                    <a:solidFill>
                      <a:srgbClr val="00B050"/>
                    </a:solidFill>
                  </a:rPr>
                  <a:t> = 150 m </a:t>
                </a:r>
                <a:endParaRPr lang="en-IN" sz="3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211" y="5569815"/>
                <a:ext cx="2244514" cy="584775"/>
              </a:xfrm>
              <a:prstGeom prst="rect">
                <a:avLst/>
              </a:prstGeom>
              <a:blipFill rotWithShape="1">
                <a:blip r:embed="rId10"/>
                <a:stretch>
                  <a:fillRect t="-13542" r="-272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915816" y="2277059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2277059"/>
                <a:ext cx="504056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3258299" y="2277059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40" name="TextBox 39"/>
          <p:cNvSpPr txBox="1"/>
          <p:nvPr/>
        </p:nvSpPr>
        <p:spPr>
          <a:xfrm>
            <a:off x="3588225" y="2276872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150 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3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  <p:bldP spid="30" grpId="0"/>
      <p:bldP spid="32" grpId="0" animBg="1"/>
      <p:bldP spid="33" grpId="0"/>
      <p:bldP spid="34" grpId="0"/>
      <p:bldP spid="35" grpId="0" animBg="1"/>
      <p:bldP spid="54" grpId="0"/>
      <p:bldP spid="14" grpId="0"/>
      <p:bldP spid="56" grpId="0"/>
      <p:bldP spid="58" grpId="0" animBg="1"/>
      <p:bldP spid="60" grpId="0"/>
      <p:bldP spid="61" grpId="0"/>
      <p:bldP spid="38" grpId="0"/>
      <p:bldP spid="39" grpId="0"/>
      <p:bldP spid="4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6000" b="1" dirty="0" smtClean="0"/>
              <a:t>Combination of  Type 3 &amp; 3 Problems</a:t>
            </a:r>
            <a:endParaRPr lang="en-IN" sz="60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953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en-US" dirty="0" smtClean="0"/>
              <a:t>	A </a:t>
            </a:r>
            <a:r>
              <a:rPr lang="en-US" dirty="0"/>
              <a:t>train overtakes two persons who are walking in the same direction in which the train is going, at the rate of 2 </a:t>
            </a:r>
            <a:r>
              <a:rPr lang="en-US" dirty="0" smtClean="0"/>
              <a:t>km/h </a:t>
            </a:r>
            <a:r>
              <a:rPr lang="en-US" dirty="0"/>
              <a:t>and 4 </a:t>
            </a:r>
            <a:r>
              <a:rPr lang="en-US" dirty="0" smtClean="0"/>
              <a:t>km/h </a:t>
            </a:r>
            <a:r>
              <a:rPr lang="en-US" dirty="0"/>
              <a:t>and passes them completely in 9 and 10 seconds respectively. The length of the train is:</a:t>
            </a:r>
            <a:endParaRPr lang="en-IN" dirty="0"/>
          </a:p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a)72 </a:t>
            </a:r>
            <a:r>
              <a:rPr lang="en-US" dirty="0"/>
              <a:t>m		</a:t>
            </a:r>
            <a:r>
              <a:rPr lang="en-US" dirty="0" smtClean="0"/>
              <a:t>		b)54 </a:t>
            </a:r>
            <a:r>
              <a:rPr lang="en-US" dirty="0"/>
              <a:t>m		c)50 m		</a:t>
            </a:r>
            <a:r>
              <a:rPr lang="en-US" dirty="0" smtClean="0"/>
              <a:t>		d)45 </a:t>
            </a:r>
            <a:r>
              <a:rPr lang="en-US" dirty="0"/>
              <a:t>m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Q.14)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463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Q.14)Explanation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84459" y="2074041"/>
            <a:ext cx="3803904" cy="3877056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69546" y="2403937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475656" y="2403750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</a:t>
            </a:r>
            <a:r>
              <a:rPr lang="en-IN" dirty="0" smtClean="0"/>
              <a:t>(?) </a:t>
            </a:r>
            <a:r>
              <a:rPr lang="en-IN" dirty="0" smtClean="0"/>
              <a:t>m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771800" y="2853123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2853123"/>
                <a:ext cx="50405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117184" y="2853123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3452607" y="2852936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</a:t>
            </a:r>
            <a:r>
              <a:rPr lang="en-IN" dirty="0" smtClean="0"/>
              <a:t>2 </a:t>
            </a:r>
            <a:r>
              <a:rPr lang="en-IN" dirty="0" smtClean="0"/>
              <a:t>km/h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55576" y="2870986"/>
                <a:ext cx="4837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870986"/>
                <a:ext cx="483777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164698" y="2870986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470808" y="2870799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km/h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737498" y="3388724"/>
            <a:ext cx="4837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187624" y="3388911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1527385" y="3388724"/>
            <a:ext cx="12132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9 </a:t>
            </a:r>
            <a:r>
              <a:rPr lang="en-IN" dirty="0" smtClean="0"/>
              <a:t>sec</a:t>
            </a:r>
            <a:endParaRPr lang="en-IN" dirty="0"/>
          </a:p>
        </p:txBody>
      </p:sp>
      <p:sp>
        <p:nvSpPr>
          <p:cNvPr id="25" name="Content Placeholder 3"/>
          <p:cNvSpPr txBox="1">
            <a:spLocks/>
          </p:cNvSpPr>
          <p:nvPr/>
        </p:nvSpPr>
        <p:spPr>
          <a:xfrm>
            <a:off x="4685513" y="2216240"/>
            <a:ext cx="3803904" cy="3877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IN" smtClean="0"/>
              <a:t> 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4683281" y="2379897"/>
                <a:ext cx="5760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281" y="2379897"/>
                <a:ext cx="576064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5169259" y="2379897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5475369" y="2379710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</a:t>
            </a:r>
            <a:r>
              <a:rPr lang="en-IN" dirty="0" smtClean="0"/>
              <a:t>(?) </a:t>
            </a:r>
            <a:r>
              <a:rPr lang="en-IN" dirty="0" smtClean="0"/>
              <a:t>m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6771513" y="2883920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513" y="2883920"/>
                <a:ext cx="504056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7116897" y="2883920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7452320" y="2883733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</a:t>
            </a:r>
            <a:r>
              <a:rPr lang="en-IN" dirty="0"/>
              <a:t>4</a:t>
            </a:r>
            <a:r>
              <a:rPr lang="en-IN" dirty="0" smtClean="0"/>
              <a:t> </a:t>
            </a:r>
            <a:r>
              <a:rPr lang="en-IN" dirty="0" smtClean="0"/>
              <a:t>km/h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4755289" y="2901783"/>
                <a:ext cx="4837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289" y="2901783"/>
                <a:ext cx="483777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5164411" y="2901783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5470521" y="2901596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km/h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4737211" y="3419521"/>
            <a:ext cx="4837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5187337" y="341970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37" name="TextBox 36"/>
          <p:cNvSpPr txBox="1"/>
          <p:nvPr/>
        </p:nvSpPr>
        <p:spPr>
          <a:xfrm>
            <a:off x="5527098" y="3419521"/>
            <a:ext cx="12132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10 </a:t>
            </a:r>
            <a:r>
              <a:rPr lang="en-IN" dirty="0" smtClean="0"/>
              <a:t>sec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737231" y="4005064"/>
                <a:ext cx="3402721" cy="891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36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IN" sz="3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3600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3600" dirty="0" smtClean="0"/>
                  <a:t> - 2)</a:t>
                </a:r>
                <a14:m>
                  <m:oMath xmlns:m="http://schemas.openxmlformats.org/officeDocument/2006/math">
                    <m:r>
                      <a:rPr lang="en-IN" sz="3600" i="1" smtClean="0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IN" sz="360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IN" sz="3600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num>
                      <m:den>
                        <m:r>
                          <a:rPr lang="en-IN" sz="3600" b="0" i="1" smtClean="0">
                            <a:latin typeface="Cambria Math"/>
                            <a:ea typeface="Cambria Math"/>
                          </a:rPr>
                          <m:t>18</m:t>
                        </m:r>
                      </m:den>
                    </m:f>
                    <m:r>
                      <a:rPr lang="en-IN" sz="3600" b="0" i="1" smtClean="0">
                        <a:latin typeface="Cambria Math"/>
                        <a:ea typeface="Cambria Math"/>
                      </a:rPr>
                      <m:t>= </m:t>
                    </m:r>
                    <m:f>
                      <m:fPr>
                        <m:ctrlPr>
                          <a:rPr lang="en-IN" sz="3600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36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sz="3600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den>
                    </m:f>
                  </m:oMath>
                </a14:m>
                <a:endParaRPr lang="en-IN" sz="36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31" y="4005064"/>
                <a:ext cx="3402721" cy="891141"/>
              </a:xfrm>
              <a:prstGeom prst="rect">
                <a:avLst/>
              </a:prstGeom>
              <a:blipFill rotWithShape="1">
                <a:blip r:embed="rId8"/>
                <a:stretch>
                  <a:fillRect b="-123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4886104" y="4005064"/>
                <a:ext cx="3603313" cy="891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36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IN" sz="3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3600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3600" dirty="0" smtClean="0"/>
                  <a:t> - 4)</a:t>
                </a:r>
                <a14:m>
                  <m:oMath xmlns:m="http://schemas.openxmlformats.org/officeDocument/2006/math">
                    <m:r>
                      <a:rPr lang="en-IN" sz="3600" i="1" smtClean="0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IN" sz="360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IN" sz="3600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num>
                      <m:den>
                        <m:r>
                          <a:rPr lang="en-IN" sz="3600" b="0" i="1" smtClean="0">
                            <a:latin typeface="Cambria Math"/>
                            <a:ea typeface="Cambria Math"/>
                          </a:rPr>
                          <m:t>18</m:t>
                        </m:r>
                      </m:den>
                    </m:f>
                    <m:r>
                      <a:rPr lang="en-IN" sz="3600" b="0" i="1" smtClean="0">
                        <a:latin typeface="Cambria Math"/>
                        <a:ea typeface="Cambria Math"/>
                      </a:rPr>
                      <m:t>= </m:t>
                    </m:r>
                    <m:f>
                      <m:fPr>
                        <m:ctrlPr>
                          <a:rPr lang="en-IN" sz="3600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36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sz="3600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den>
                    </m:f>
                  </m:oMath>
                </a14:m>
                <a:endParaRPr lang="en-IN" sz="3600" dirty="0"/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104" y="4005064"/>
                <a:ext cx="3603313" cy="891141"/>
              </a:xfrm>
              <a:prstGeom prst="rect">
                <a:avLst/>
              </a:prstGeom>
              <a:blipFill rotWithShape="1">
                <a:blip r:embed="rId9"/>
                <a:stretch>
                  <a:fillRect b="-123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808286" y="5202154"/>
                <a:ext cx="3877227" cy="9214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36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360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IN" sz="3600" b="0" i="1" smtClean="0">
                        <a:latin typeface="Cambria Math"/>
                        <a:ea typeface="Cambria Math"/>
                      </a:rPr>
                      <m:t>= </m:t>
                    </m:r>
                    <m:d>
                      <m:dPr>
                        <m:ctrlPr>
                          <a:rPr lang="en-IN" sz="36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36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IN" sz="3600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IN" sz="36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9</m:t>
                            </m:r>
                          </m:den>
                        </m:f>
                        <m:r>
                          <a:rPr lang="en-IN" sz="3600" i="1">
                            <a:latin typeface="Cambria Math"/>
                            <a:ea typeface="Cambria Math"/>
                          </a:rPr>
                          <m:t>×</m:t>
                        </m:r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18</m:t>
                            </m:r>
                          </m:num>
                          <m:den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3600" dirty="0" smtClean="0"/>
                  <a:t> + 2</a:t>
                </a:r>
                <a:endParaRPr lang="en-IN" sz="3600" dirty="0"/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86" y="5202154"/>
                <a:ext cx="3877227" cy="921471"/>
              </a:xfrm>
              <a:prstGeom prst="rect">
                <a:avLst/>
              </a:prstGeom>
              <a:blipFill rotWithShape="1">
                <a:blip r:embed="rId10"/>
                <a:stretch>
                  <a:fillRect r="-1097" b="-909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4971313" y="5171825"/>
                <a:ext cx="3877227" cy="9214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36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360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IN" sz="3600" b="0" i="1" smtClean="0">
                        <a:latin typeface="Cambria Math"/>
                        <a:ea typeface="Cambria Math"/>
                      </a:rPr>
                      <m:t>= </m:t>
                    </m:r>
                    <m:d>
                      <m:dPr>
                        <m:ctrlPr>
                          <a:rPr lang="en-IN" sz="36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36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IN" sz="3600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IN" sz="36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3600" b="0" i="1" smtClean="0">
                                <a:latin typeface="Cambria Math"/>
                              </a:rPr>
                              <m:t>10</m:t>
                            </m:r>
                          </m:den>
                        </m:f>
                        <m:r>
                          <a:rPr lang="en-IN" sz="3600" i="1">
                            <a:latin typeface="Cambria Math"/>
                            <a:ea typeface="Cambria Math"/>
                          </a:rPr>
                          <m:t>×</m:t>
                        </m:r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18</m:t>
                            </m:r>
                          </m:num>
                          <m:den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3600" dirty="0" smtClean="0"/>
                  <a:t> + 4</a:t>
                </a:r>
                <a:endParaRPr lang="en-IN" sz="3600" dirty="0"/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313" y="5171825"/>
                <a:ext cx="3877227" cy="921471"/>
              </a:xfrm>
              <a:prstGeom prst="rect">
                <a:avLst/>
              </a:prstGeom>
              <a:blipFill rotWithShape="1">
                <a:blip r:embed="rId11"/>
                <a:stretch>
                  <a:fillRect r="-4232" b="-909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4716016" y="2276872"/>
            <a:ext cx="0" cy="158417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03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26" grpId="0"/>
      <p:bldP spid="27" grpId="0"/>
      <p:bldP spid="28" grpId="0" animBg="1"/>
      <p:bldP spid="29" grpId="0"/>
      <p:bldP spid="30" grpId="0"/>
      <p:bldP spid="31" grpId="0" animBg="1"/>
      <p:bldP spid="32" grpId="0"/>
      <p:bldP spid="33" grpId="0"/>
      <p:bldP spid="34" grpId="0" animBg="1"/>
      <p:bldP spid="35" grpId="0"/>
      <p:bldP spid="36" grpId="0"/>
      <p:bldP spid="37" grpId="0" animBg="1"/>
      <p:bldP spid="2" grpId="0"/>
      <p:bldP spid="38" grpId="0"/>
      <p:bldP spid="39" grpId="0" animBg="1"/>
      <p:bldP spid="4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Q.14)Explanation…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899592" y="2176176"/>
                <a:ext cx="3877227" cy="9214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36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360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IN" sz="3600" b="0" i="1" smtClean="0">
                        <a:latin typeface="Cambria Math"/>
                        <a:ea typeface="Cambria Math"/>
                      </a:rPr>
                      <m:t>= </m:t>
                    </m:r>
                    <m:d>
                      <m:dPr>
                        <m:ctrlPr>
                          <a:rPr lang="en-IN" sz="36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36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IN" sz="3600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IN" sz="36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9</m:t>
                            </m:r>
                          </m:den>
                        </m:f>
                        <m:r>
                          <a:rPr lang="en-IN" sz="3600" i="1">
                            <a:latin typeface="Cambria Math"/>
                            <a:ea typeface="Cambria Math"/>
                          </a:rPr>
                          <m:t>×</m:t>
                        </m:r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18</m:t>
                            </m:r>
                          </m:num>
                          <m:den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3600" dirty="0" smtClean="0"/>
                  <a:t> + 2</a:t>
                </a:r>
                <a:endParaRPr lang="en-IN" sz="36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176176"/>
                <a:ext cx="3877227" cy="921471"/>
              </a:xfrm>
              <a:prstGeom prst="rect">
                <a:avLst/>
              </a:prstGeom>
              <a:blipFill rotWithShape="1">
                <a:blip r:embed="rId2"/>
                <a:stretch>
                  <a:fillRect r="-1097" b="-980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971312" y="2176176"/>
                <a:ext cx="3877227" cy="9214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36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360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IN" sz="3600" b="0" i="1" smtClean="0">
                        <a:latin typeface="Cambria Math"/>
                        <a:ea typeface="Cambria Math"/>
                      </a:rPr>
                      <m:t>= </m:t>
                    </m:r>
                    <m:d>
                      <m:dPr>
                        <m:ctrlPr>
                          <a:rPr lang="en-IN" sz="36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36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IN" sz="3600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IN" sz="36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3600" b="0" i="1" smtClean="0">
                                <a:latin typeface="Cambria Math"/>
                              </a:rPr>
                              <m:t>10</m:t>
                            </m:r>
                          </m:den>
                        </m:f>
                        <m:r>
                          <a:rPr lang="en-IN" sz="3600" i="1">
                            <a:latin typeface="Cambria Math"/>
                            <a:ea typeface="Cambria Math"/>
                          </a:rPr>
                          <m:t>×</m:t>
                        </m:r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18</m:t>
                            </m:r>
                          </m:num>
                          <m:den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3600" dirty="0" smtClean="0"/>
                  <a:t> + 4</a:t>
                </a:r>
                <a:endParaRPr lang="en-IN" sz="36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312" y="2176176"/>
                <a:ext cx="3877227" cy="921471"/>
              </a:xfrm>
              <a:prstGeom prst="rect">
                <a:avLst/>
              </a:prstGeom>
              <a:blipFill rotWithShape="1">
                <a:blip r:embed="rId3"/>
                <a:stretch>
                  <a:fillRect r="-4232" b="-980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860495" y="3501008"/>
                <a:ext cx="5832648" cy="9214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sz="360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36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IN" sz="3600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IN" sz="36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9</m:t>
                            </m:r>
                          </m:den>
                        </m:f>
                        <m:r>
                          <a:rPr lang="en-IN" sz="3600" i="1">
                            <a:latin typeface="Cambria Math"/>
                            <a:ea typeface="Cambria Math"/>
                          </a:rPr>
                          <m:t>×</m:t>
                        </m:r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18</m:t>
                            </m:r>
                          </m:num>
                          <m:den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nor/>
                      </m:rPr>
                      <a:rPr lang="en-IN" sz="3600" dirty="0"/>
                      <m:t> + </m:t>
                    </m:r>
                    <m:r>
                      <a:rPr lang="en-IN" sz="3600" b="0" i="1" dirty="0" smtClean="0">
                        <a:latin typeface="Cambria Math"/>
                      </a:rPr>
                      <m:t>2</m:t>
                    </m:r>
                    <m:r>
                      <a:rPr lang="en-IN" sz="3600" b="0" i="1" smtClean="0">
                        <a:latin typeface="Cambria Math"/>
                        <a:ea typeface="Cambria Math"/>
                      </a:rPr>
                      <m:t>= </m:t>
                    </m:r>
                    <m:d>
                      <m:dPr>
                        <m:ctrlPr>
                          <a:rPr lang="en-IN" sz="36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36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IN" sz="3600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IN" sz="36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3600" b="0" i="1" smtClean="0">
                                <a:latin typeface="Cambria Math"/>
                              </a:rPr>
                              <m:t>10</m:t>
                            </m:r>
                          </m:den>
                        </m:f>
                        <m:r>
                          <a:rPr lang="en-IN" sz="3600" i="1">
                            <a:latin typeface="Cambria Math"/>
                            <a:ea typeface="Cambria Math"/>
                          </a:rPr>
                          <m:t>×</m:t>
                        </m:r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18</m:t>
                            </m:r>
                          </m:num>
                          <m:den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3600" dirty="0" smtClean="0"/>
                  <a:t> + 4</a:t>
                </a:r>
                <a:endParaRPr lang="en-IN" sz="36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495" y="3501008"/>
                <a:ext cx="5832648" cy="921471"/>
              </a:xfrm>
              <a:prstGeom prst="rect">
                <a:avLst/>
              </a:prstGeom>
              <a:blipFill rotWithShape="1">
                <a:blip r:embed="rId4"/>
                <a:stretch>
                  <a:fillRect r="-3128" b="-980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419872" y="5085184"/>
                <a:ext cx="244827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40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40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40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sz="4000" b="1" dirty="0" smtClean="0">
                    <a:solidFill>
                      <a:srgbClr val="00B050"/>
                    </a:solidFill>
                  </a:rPr>
                  <a:t> = 50 m</a:t>
                </a:r>
                <a:endParaRPr lang="en-IN" sz="40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5085184"/>
                <a:ext cx="2448272" cy="707886"/>
              </a:xfrm>
              <a:prstGeom prst="rect">
                <a:avLst/>
              </a:prstGeom>
              <a:blipFill rotWithShape="1">
                <a:blip r:embed="rId5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38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 </a:t>
            </a:r>
            <a:endParaRPr lang="en-IN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Q.14)Shortcut</a:t>
            </a:r>
            <a:endParaRPr lang="en-I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67544" y="2348880"/>
                <a:ext cx="8496944" cy="7828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800" b="1" i="1"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2800" b="1" i="1"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sz="2800" b="1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b="1" i="1" smtClean="0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IN" sz="28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IN" sz="2800" b="1" i="1" smtClean="0">
                                <a:latin typeface="Cambria Math"/>
                              </a:rPr>
                              <m:t>𝒅𝒊𝒇𝒇𝒆𝒓𝒆𝒏𝒄𝒆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𝒃𝒆𝒕𝒘𝒆𝒆𝒏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𝟐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𝒔𝒑𝒆𝒆𝒅𝒔</m:t>
                            </m:r>
                          </m:e>
                        </m:d>
                        <m:r>
                          <a:rPr lang="en-IN" sz="2800" b="1" i="1" smtClean="0">
                            <a:latin typeface="Cambria Math"/>
                          </a:rPr>
                          <m:t>  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×  (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𝒑𝒓𝒐𝒅𝒖𝒄𝒕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𝒐𝒇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𝟐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𝒕𝒊𝒎𝒆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𝒕𝒂𝒌𝒆𝒏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IN" sz="2800" b="1" i="1" smtClean="0">
                            <a:latin typeface="Cambria Math"/>
                          </a:rPr>
                          <m:t>𝒅𝒊𝒇𝒇𝒆𝒓𝒏𝒄𝒆</m:t>
                        </m:r>
                        <m:r>
                          <a:rPr lang="en-IN" sz="2800" b="1" i="1" smtClean="0">
                            <a:latin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</a:rPr>
                          <m:t>𝒃𝒆𝒕𝒘𝒆𝒆𝒏</m:t>
                        </m:r>
                        <m:r>
                          <a:rPr lang="en-IN" sz="2800" b="1" i="1" smtClean="0">
                            <a:latin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</a:rPr>
                          <m:t>𝟐</m:t>
                        </m:r>
                        <m:r>
                          <a:rPr lang="en-IN" sz="2800" b="1" i="1" smtClean="0">
                            <a:latin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</a:rPr>
                          <m:t>𝒕𝒊𝒎𝒆</m:t>
                        </m:r>
                        <m:r>
                          <a:rPr lang="en-IN" sz="2800" b="1" i="1" smtClean="0">
                            <a:latin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</a:rPr>
                          <m:t>𝒕𝒂𝒌𝒆𝒏</m:t>
                        </m:r>
                      </m:den>
                    </m:f>
                  </m:oMath>
                </a14:m>
                <a:endParaRPr lang="en-IN" sz="2800" b="1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348880"/>
                <a:ext cx="8496944" cy="782843"/>
              </a:xfrm>
              <a:prstGeom prst="rect">
                <a:avLst/>
              </a:prstGeom>
              <a:blipFill rotWithShape="1">
                <a:blip r:embed="rId2"/>
                <a:stretch>
                  <a:fillRect b="-22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411760" y="3717032"/>
                <a:ext cx="3888432" cy="902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800" b="1" i="1"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2800" b="1" i="1"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sz="2800" b="1" dirty="0"/>
                  <a:t> </a:t>
                </a:r>
                <a:r>
                  <a:rPr lang="en-IN" sz="2800" b="1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IN" sz="2800" b="1" i="1" smtClean="0">
                            <a:latin typeface="Cambria Math"/>
                          </a:rPr>
                          <m:t>  </m:t>
                        </m:r>
                        <m:d>
                          <m:dPr>
                            <m:ctrlPr>
                              <a:rPr lang="en-IN" sz="28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IN" sz="2800" b="1" i="1" smtClean="0">
                                <a:latin typeface="Cambria Math"/>
                              </a:rPr>
                              <m:t>𝟒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 −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𝟐</m:t>
                            </m:r>
                          </m:e>
                        </m:d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× </m:t>
                        </m:r>
                        <m:f>
                          <m:fPr>
                            <m:ctrlPr>
                              <a:rPr lang="en-IN" sz="2800" b="1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sz="2800" b="1" i="1" smtClean="0">
                                <a:latin typeface="Cambria Math"/>
                                <a:ea typeface="Cambria Math"/>
                              </a:rPr>
                              <m:t>𝟓</m:t>
                            </m:r>
                          </m:num>
                          <m:den>
                            <m:r>
                              <a:rPr lang="en-IN" sz="2800" b="1" i="1" smtClean="0">
                                <a:latin typeface="Cambria Math"/>
                                <a:ea typeface="Cambria Math"/>
                              </a:rPr>
                              <m:t>𝟏𝟖</m:t>
                            </m:r>
                          </m:den>
                        </m:f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  × 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  × 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𝟏𝟎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  </m:t>
                        </m:r>
                      </m:num>
                      <m:den>
                        <m:r>
                          <a:rPr lang="en-IN" sz="2800" b="1" i="1" smtClean="0">
                            <a:latin typeface="Cambria Math"/>
                          </a:rPr>
                          <m:t>𝟏𝟎</m:t>
                        </m:r>
                        <m:r>
                          <a:rPr lang="en-IN" sz="2800" b="1" i="1" smtClean="0">
                            <a:latin typeface="Cambria Math"/>
                          </a:rPr>
                          <m:t> − </m:t>
                        </m:r>
                        <m:r>
                          <a:rPr lang="en-IN" sz="2800" b="1" i="1" smtClean="0">
                            <a:latin typeface="Cambria Math"/>
                          </a:rPr>
                          <m:t>𝟗</m:t>
                        </m:r>
                      </m:den>
                    </m:f>
                  </m:oMath>
                </a14:m>
                <a:endParaRPr lang="en-IN" sz="28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3717032"/>
                <a:ext cx="3888432" cy="902363"/>
              </a:xfrm>
              <a:prstGeom prst="rect">
                <a:avLst/>
              </a:prstGeom>
              <a:blipFill rotWithShape="1">
                <a:blip r:embed="rId3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275856" y="5373216"/>
                <a:ext cx="23762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6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36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sz="3600" b="1" dirty="0" smtClean="0">
                    <a:solidFill>
                      <a:srgbClr val="00B050"/>
                    </a:solidFill>
                  </a:rPr>
                  <a:t> = 50 m</a:t>
                </a:r>
                <a:endParaRPr lang="en-IN" sz="36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5373216"/>
                <a:ext cx="2376264" cy="646331"/>
              </a:xfrm>
              <a:prstGeom prst="rect">
                <a:avLst/>
              </a:prstGeom>
              <a:blipFill rotWithShape="1">
                <a:blip r:embed="rId4"/>
                <a:stretch>
                  <a:fillRect t="-14151" b="-349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775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en-US" dirty="0" smtClean="0"/>
              <a:t>	A </a:t>
            </a:r>
            <a:r>
              <a:rPr lang="en-US" dirty="0"/>
              <a:t>train overtakes two persons who are walking in the same direction in which the train is going, at the rate of </a:t>
            </a:r>
            <a:r>
              <a:rPr lang="en-US" dirty="0" smtClean="0"/>
              <a:t>4 km/h </a:t>
            </a:r>
            <a:r>
              <a:rPr lang="en-US" dirty="0"/>
              <a:t>and </a:t>
            </a:r>
            <a:r>
              <a:rPr lang="en-US" dirty="0" smtClean="0"/>
              <a:t>8 km/h </a:t>
            </a:r>
            <a:r>
              <a:rPr lang="en-US" dirty="0"/>
              <a:t>and passes them completely in </a:t>
            </a:r>
            <a:r>
              <a:rPr lang="en-US" dirty="0" smtClean="0"/>
              <a:t>18 </a:t>
            </a:r>
            <a:r>
              <a:rPr lang="en-US" dirty="0"/>
              <a:t>and </a:t>
            </a:r>
            <a:r>
              <a:rPr lang="en-US" dirty="0" smtClean="0"/>
              <a:t>20 </a:t>
            </a:r>
            <a:r>
              <a:rPr lang="en-US" dirty="0"/>
              <a:t>seconds respectively. The length of the train is:</a:t>
            </a:r>
            <a:endParaRPr lang="en-IN" dirty="0"/>
          </a:p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a)100 </a:t>
            </a:r>
            <a:r>
              <a:rPr lang="en-US" dirty="0"/>
              <a:t>m		</a:t>
            </a:r>
            <a:r>
              <a:rPr lang="en-US" dirty="0" smtClean="0"/>
              <a:t>	b)150 m</a:t>
            </a:r>
            <a:r>
              <a:rPr lang="en-US" dirty="0"/>
              <a:t>		</a:t>
            </a:r>
            <a:r>
              <a:rPr lang="en-US" dirty="0" smtClean="0"/>
              <a:t>c)200 </a:t>
            </a:r>
            <a:r>
              <a:rPr lang="en-US" dirty="0"/>
              <a:t>m		</a:t>
            </a:r>
            <a:r>
              <a:rPr lang="en-US" dirty="0" smtClean="0"/>
              <a:t>	d)250 </a:t>
            </a:r>
            <a:r>
              <a:rPr lang="en-US" dirty="0"/>
              <a:t>m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Q.15)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68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Q.15)Explanation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84459" y="2074041"/>
            <a:ext cx="3803904" cy="3877056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403937"/>
                <a:ext cx="576064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69546" y="2403937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475656" y="2403750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</a:t>
            </a:r>
            <a:r>
              <a:rPr lang="en-IN" dirty="0" smtClean="0"/>
              <a:t>(?) </a:t>
            </a:r>
            <a:r>
              <a:rPr lang="en-IN" dirty="0" smtClean="0"/>
              <a:t>m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771800" y="2853123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2853123"/>
                <a:ext cx="50405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117184" y="2853123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3452607" y="2852936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</a:t>
            </a:r>
            <a:r>
              <a:rPr lang="en-IN" dirty="0"/>
              <a:t>4</a:t>
            </a:r>
            <a:r>
              <a:rPr lang="en-IN" dirty="0" smtClean="0"/>
              <a:t> </a:t>
            </a:r>
            <a:r>
              <a:rPr lang="en-IN" dirty="0" smtClean="0"/>
              <a:t>km/h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55576" y="2870986"/>
                <a:ext cx="4837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870986"/>
                <a:ext cx="483777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164698" y="2870986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470808" y="2870799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km/h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737498" y="3388724"/>
            <a:ext cx="4837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187624" y="3388911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1527385" y="3388724"/>
            <a:ext cx="12132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18 </a:t>
            </a:r>
            <a:r>
              <a:rPr lang="en-IN" dirty="0" smtClean="0"/>
              <a:t>sec</a:t>
            </a:r>
            <a:endParaRPr lang="en-IN" dirty="0"/>
          </a:p>
        </p:txBody>
      </p:sp>
      <p:sp>
        <p:nvSpPr>
          <p:cNvPr id="25" name="Content Placeholder 3"/>
          <p:cNvSpPr txBox="1">
            <a:spLocks/>
          </p:cNvSpPr>
          <p:nvPr/>
        </p:nvSpPr>
        <p:spPr>
          <a:xfrm>
            <a:off x="4685513" y="2216240"/>
            <a:ext cx="3803904" cy="3877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IN" smtClean="0"/>
              <a:t> 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4683281" y="2379897"/>
                <a:ext cx="5760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281" y="2379897"/>
                <a:ext cx="576064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5169259" y="2379897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5475369" y="2379710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</a:t>
            </a:r>
            <a:r>
              <a:rPr lang="en-IN" dirty="0" smtClean="0"/>
              <a:t>(?) </a:t>
            </a:r>
            <a:r>
              <a:rPr lang="en-IN" dirty="0" smtClean="0"/>
              <a:t>m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6771513" y="2883920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513" y="2883920"/>
                <a:ext cx="504056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7116897" y="2883920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7452320" y="2883733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 </a:t>
            </a:r>
            <a:r>
              <a:rPr lang="en-IN" dirty="0" smtClean="0"/>
              <a:t>8 </a:t>
            </a:r>
            <a:r>
              <a:rPr lang="en-IN" dirty="0" smtClean="0"/>
              <a:t>km/h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4755289" y="2901783"/>
                <a:ext cx="4837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289" y="2901783"/>
                <a:ext cx="483777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5164411" y="2901783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5470521" y="2901596"/>
            <a:ext cx="12698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( ) km/h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4737211" y="3419521"/>
            <a:ext cx="4837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5187337" y="341970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=</a:t>
            </a:r>
            <a:endParaRPr lang="en-IN" dirty="0"/>
          </a:p>
        </p:txBody>
      </p:sp>
      <p:sp>
        <p:nvSpPr>
          <p:cNvPr id="37" name="TextBox 36"/>
          <p:cNvSpPr txBox="1"/>
          <p:nvPr/>
        </p:nvSpPr>
        <p:spPr>
          <a:xfrm>
            <a:off x="5527098" y="3419521"/>
            <a:ext cx="12132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</a:t>
            </a:r>
            <a:r>
              <a:rPr lang="en-IN" dirty="0" smtClean="0"/>
              <a:t>0 </a:t>
            </a:r>
            <a:r>
              <a:rPr lang="en-IN" dirty="0" smtClean="0"/>
              <a:t>sec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737231" y="4005064"/>
                <a:ext cx="3546737" cy="891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36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IN" sz="3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3600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3600" dirty="0" smtClean="0"/>
                  <a:t> - 4)</a:t>
                </a:r>
                <a14:m>
                  <m:oMath xmlns:m="http://schemas.openxmlformats.org/officeDocument/2006/math">
                    <m:r>
                      <a:rPr lang="en-IN" sz="3600" i="1" smtClean="0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IN" sz="360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IN" sz="3600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num>
                      <m:den>
                        <m:r>
                          <a:rPr lang="en-IN" sz="3600" b="0" i="1" smtClean="0">
                            <a:latin typeface="Cambria Math"/>
                            <a:ea typeface="Cambria Math"/>
                          </a:rPr>
                          <m:t>18</m:t>
                        </m:r>
                      </m:den>
                    </m:f>
                    <m:r>
                      <a:rPr lang="en-IN" sz="3600" b="0" i="1" smtClean="0">
                        <a:latin typeface="Cambria Math"/>
                        <a:ea typeface="Cambria Math"/>
                      </a:rPr>
                      <m:t>= </m:t>
                    </m:r>
                    <m:f>
                      <m:fPr>
                        <m:ctrlPr>
                          <a:rPr lang="en-IN" sz="3600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36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sz="3600" b="0" i="1" smtClean="0">
                            <a:latin typeface="Cambria Math"/>
                            <a:ea typeface="Cambria Math"/>
                          </a:rPr>
                          <m:t>18</m:t>
                        </m:r>
                      </m:den>
                    </m:f>
                  </m:oMath>
                </a14:m>
                <a:endParaRPr lang="en-IN" sz="36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31" y="4005064"/>
                <a:ext cx="3546737" cy="891141"/>
              </a:xfrm>
              <a:prstGeom prst="rect">
                <a:avLst/>
              </a:prstGeom>
              <a:blipFill rotWithShape="1">
                <a:blip r:embed="rId8"/>
                <a:stretch>
                  <a:fillRect b="-123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4886104" y="4005064"/>
                <a:ext cx="3603313" cy="891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36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IN" sz="3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3600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3600" dirty="0" smtClean="0"/>
                  <a:t> - 8)</a:t>
                </a:r>
                <a14:m>
                  <m:oMath xmlns:m="http://schemas.openxmlformats.org/officeDocument/2006/math">
                    <m:r>
                      <a:rPr lang="en-IN" sz="3600" i="1" smtClean="0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IN" sz="360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IN" sz="3600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num>
                      <m:den>
                        <m:r>
                          <a:rPr lang="en-IN" sz="3600" b="0" i="1" smtClean="0">
                            <a:latin typeface="Cambria Math"/>
                            <a:ea typeface="Cambria Math"/>
                          </a:rPr>
                          <m:t>18</m:t>
                        </m:r>
                      </m:den>
                    </m:f>
                    <m:r>
                      <a:rPr lang="en-IN" sz="3600" b="0" i="1" smtClean="0">
                        <a:latin typeface="Cambria Math"/>
                        <a:ea typeface="Cambria Math"/>
                      </a:rPr>
                      <m:t>= </m:t>
                    </m:r>
                    <m:f>
                      <m:fPr>
                        <m:ctrlPr>
                          <a:rPr lang="en-IN" sz="3600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36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IN" sz="36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sz="3600" b="0" i="1" smtClean="0">
                            <a:latin typeface="Cambria Math"/>
                            <a:ea typeface="Cambria Math"/>
                          </a:rPr>
                          <m:t>20</m:t>
                        </m:r>
                      </m:den>
                    </m:f>
                  </m:oMath>
                </a14:m>
                <a:endParaRPr lang="en-IN" sz="3600" dirty="0"/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104" y="4005064"/>
                <a:ext cx="3603313" cy="891141"/>
              </a:xfrm>
              <a:prstGeom prst="rect">
                <a:avLst/>
              </a:prstGeom>
              <a:blipFill rotWithShape="1">
                <a:blip r:embed="rId9"/>
                <a:stretch>
                  <a:fillRect b="-123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808286" y="5202154"/>
                <a:ext cx="3877227" cy="9214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36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360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IN" sz="3600" b="0" i="1" smtClean="0">
                        <a:latin typeface="Cambria Math"/>
                        <a:ea typeface="Cambria Math"/>
                      </a:rPr>
                      <m:t>= </m:t>
                    </m:r>
                    <m:d>
                      <m:dPr>
                        <m:ctrlPr>
                          <a:rPr lang="en-IN" sz="36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36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IN" sz="3600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IN" sz="36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3600" b="0" i="1" smtClean="0">
                                <a:latin typeface="Cambria Math"/>
                              </a:rPr>
                              <m:t>18</m:t>
                            </m:r>
                          </m:den>
                        </m:f>
                        <m:r>
                          <a:rPr lang="en-IN" sz="3600" i="1">
                            <a:latin typeface="Cambria Math"/>
                            <a:ea typeface="Cambria Math"/>
                          </a:rPr>
                          <m:t>×</m:t>
                        </m:r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18</m:t>
                            </m:r>
                          </m:num>
                          <m:den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3600" dirty="0" smtClean="0"/>
                  <a:t> + 4</a:t>
                </a:r>
                <a:endParaRPr lang="en-IN" sz="3600" dirty="0"/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86" y="5202154"/>
                <a:ext cx="3877227" cy="921471"/>
              </a:xfrm>
              <a:prstGeom prst="rect">
                <a:avLst/>
              </a:prstGeom>
              <a:blipFill rotWithShape="1">
                <a:blip r:embed="rId10"/>
                <a:stretch>
                  <a:fillRect r="-4232" b="-909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4971313" y="5171825"/>
                <a:ext cx="3877227" cy="9214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36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360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IN" sz="3600" b="0" i="1" smtClean="0">
                        <a:latin typeface="Cambria Math"/>
                        <a:ea typeface="Cambria Math"/>
                      </a:rPr>
                      <m:t>= </m:t>
                    </m:r>
                    <m:d>
                      <m:dPr>
                        <m:ctrlPr>
                          <a:rPr lang="en-IN" sz="36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36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IN" sz="3600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IN" sz="36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3600" b="0" i="1" smtClean="0">
                                <a:latin typeface="Cambria Math"/>
                              </a:rPr>
                              <m:t>20</m:t>
                            </m:r>
                          </m:den>
                        </m:f>
                        <m:r>
                          <a:rPr lang="en-IN" sz="3600" i="1">
                            <a:latin typeface="Cambria Math"/>
                            <a:ea typeface="Cambria Math"/>
                          </a:rPr>
                          <m:t>×</m:t>
                        </m:r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18</m:t>
                            </m:r>
                          </m:num>
                          <m:den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3600" dirty="0" smtClean="0"/>
                  <a:t> + 8</a:t>
                </a:r>
                <a:endParaRPr lang="en-IN" sz="3600" dirty="0"/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313" y="5171825"/>
                <a:ext cx="3877227" cy="921471"/>
              </a:xfrm>
              <a:prstGeom prst="rect">
                <a:avLst/>
              </a:prstGeom>
              <a:blipFill rotWithShape="1">
                <a:blip r:embed="rId11"/>
                <a:stretch>
                  <a:fillRect r="-4232" b="-909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4716016" y="2276872"/>
            <a:ext cx="0" cy="158417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509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26" grpId="0"/>
      <p:bldP spid="27" grpId="0"/>
      <p:bldP spid="28" grpId="0" animBg="1"/>
      <p:bldP spid="29" grpId="0"/>
      <p:bldP spid="30" grpId="0"/>
      <p:bldP spid="31" grpId="0" animBg="1"/>
      <p:bldP spid="32" grpId="0"/>
      <p:bldP spid="33" grpId="0"/>
      <p:bldP spid="34" grpId="0" animBg="1"/>
      <p:bldP spid="35" grpId="0"/>
      <p:bldP spid="36" grpId="0"/>
      <p:bldP spid="37" grpId="0" animBg="1"/>
      <p:bldP spid="2" grpId="0"/>
      <p:bldP spid="38" grpId="0"/>
      <p:bldP spid="39" grpId="0" animBg="1"/>
      <p:bldP spid="4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Q.15)Explanation…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899592" y="2176176"/>
                <a:ext cx="3877227" cy="9214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36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360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IN" sz="3600" b="0" i="1" smtClean="0">
                        <a:latin typeface="Cambria Math"/>
                        <a:ea typeface="Cambria Math"/>
                      </a:rPr>
                      <m:t>= </m:t>
                    </m:r>
                    <m:d>
                      <m:dPr>
                        <m:ctrlPr>
                          <a:rPr lang="en-IN" sz="36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36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IN" sz="3600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IN" sz="36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3600" b="0" i="1" smtClean="0">
                                <a:latin typeface="Cambria Math"/>
                              </a:rPr>
                              <m:t>18</m:t>
                            </m:r>
                          </m:den>
                        </m:f>
                        <m:r>
                          <a:rPr lang="en-IN" sz="3600" i="1">
                            <a:latin typeface="Cambria Math"/>
                            <a:ea typeface="Cambria Math"/>
                          </a:rPr>
                          <m:t>×</m:t>
                        </m:r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18</m:t>
                            </m:r>
                          </m:num>
                          <m:den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3600" dirty="0" smtClean="0"/>
                  <a:t> + 4</a:t>
                </a:r>
                <a:endParaRPr lang="en-IN" sz="36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176176"/>
                <a:ext cx="3877227" cy="921471"/>
              </a:xfrm>
              <a:prstGeom prst="rect">
                <a:avLst/>
              </a:prstGeom>
              <a:blipFill rotWithShape="1">
                <a:blip r:embed="rId2"/>
                <a:stretch>
                  <a:fillRect r="-4232" b="-980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971312" y="2176176"/>
                <a:ext cx="3877227" cy="9214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36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IN" sz="360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IN" sz="3600" b="0" i="1" smtClean="0">
                        <a:latin typeface="Cambria Math"/>
                        <a:ea typeface="Cambria Math"/>
                      </a:rPr>
                      <m:t>= </m:t>
                    </m:r>
                    <m:d>
                      <m:dPr>
                        <m:ctrlPr>
                          <a:rPr lang="en-IN" sz="36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36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IN" sz="3600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IN" sz="36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3600" b="0" i="1" smtClean="0">
                                <a:latin typeface="Cambria Math"/>
                              </a:rPr>
                              <m:t>20</m:t>
                            </m:r>
                          </m:den>
                        </m:f>
                        <m:r>
                          <a:rPr lang="en-IN" sz="3600" i="1">
                            <a:latin typeface="Cambria Math"/>
                            <a:ea typeface="Cambria Math"/>
                          </a:rPr>
                          <m:t>×</m:t>
                        </m:r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18</m:t>
                            </m:r>
                          </m:num>
                          <m:den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3600" dirty="0" smtClean="0"/>
                  <a:t> + 8</a:t>
                </a:r>
                <a:endParaRPr lang="en-IN" sz="36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312" y="2176176"/>
                <a:ext cx="3877227" cy="921471"/>
              </a:xfrm>
              <a:prstGeom prst="rect">
                <a:avLst/>
              </a:prstGeom>
              <a:blipFill rotWithShape="1">
                <a:blip r:embed="rId3"/>
                <a:stretch>
                  <a:fillRect r="-4232" b="-980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860494" y="3501008"/>
                <a:ext cx="6023873" cy="9214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sz="360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36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IN" sz="3600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IN" sz="36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3600" b="0" i="1" smtClean="0">
                                <a:latin typeface="Cambria Math"/>
                              </a:rPr>
                              <m:t>18</m:t>
                            </m:r>
                          </m:den>
                        </m:f>
                        <m:r>
                          <a:rPr lang="en-IN" sz="3600" i="1">
                            <a:latin typeface="Cambria Math"/>
                            <a:ea typeface="Cambria Math"/>
                          </a:rPr>
                          <m:t>×</m:t>
                        </m:r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18</m:t>
                            </m:r>
                          </m:num>
                          <m:den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nor/>
                      </m:rPr>
                      <a:rPr lang="en-IN" sz="3600" dirty="0"/>
                      <m:t> + </m:t>
                    </m:r>
                    <m:r>
                      <a:rPr lang="en-IN" sz="3600" b="0" i="1" dirty="0" smtClean="0">
                        <a:latin typeface="Cambria Math"/>
                      </a:rPr>
                      <m:t>4</m:t>
                    </m:r>
                    <m:r>
                      <a:rPr lang="en-IN" sz="3600" b="0" i="1" smtClean="0">
                        <a:latin typeface="Cambria Math"/>
                        <a:ea typeface="Cambria Math"/>
                      </a:rPr>
                      <m:t>= </m:t>
                    </m:r>
                    <m:d>
                      <m:dPr>
                        <m:ctrlPr>
                          <a:rPr lang="en-IN" sz="36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36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IN" sz="3600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IN" sz="36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3600" b="0" i="1" smtClean="0">
                                <a:latin typeface="Cambria Math"/>
                              </a:rPr>
                              <m:t>20</m:t>
                            </m:r>
                          </m:den>
                        </m:f>
                        <m:r>
                          <a:rPr lang="en-IN" sz="3600" i="1">
                            <a:latin typeface="Cambria Math"/>
                            <a:ea typeface="Cambria Math"/>
                          </a:rPr>
                          <m:t>×</m:t>
                        </m:r>
                        <m:f>
                          <m:fPr>
                            <m:ctrlPr>
                              <a:rPr lang="en-IN" sz="36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18</m:t>
                            </m:r>
                          </m:num>
                          <m:den>
                            <m:r>
                              <a:rPr lang="en-IN" sz="3600" i="1">
                                <a:latin typeface="Cambria Math"/>
                                <a:ea typeface="Cambria Math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3600" dirty="0" smtClean="0"/>
                  <a:t> + 8</a:t>
                </a:r>
                <a:endParaRPr lang="en-IN" sz="36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494" y="3501008"/>
                <a:ext cx="6023873" cy="921471"/>
              </a:xfrm>
              <a:prstGeom prst="rect">
                <a:avLst/>
              </a:prstGeom>
              <a:blipFill rotWithShape="1">
                <a:blip r:embed="rId4"/>
                <a:stretch>
                  <a:fillRect r="-1919" b="-980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419872" y="5085184"/>
                <a:ext cx="25922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40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40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40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sz="4000" b="1" dirty="0" smtClean="0">
                    <a:solidFill>
                      <a:srgbClr val="00B050"/>
                    </a:solidFill>
                  </a:rPr>
                  <a:t> = 200 m</a:t>
                </a:r>
                <a:endParaRPr lang="en-IN" sz="40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5085184"/>
                <a:ext cx="2592288" cy="707886"/>
              </a:xfrm>
              <a:prstGeom prst="rect">
                <a:avLst/>
              </a:prstGeom>
              <a:blipFill rotWithShape="1">
                <a:blip r:embed="rId5"/>
                <a:stretch>
                  <a:fillRect t="-15517" r="-3059" b="-362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33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 </a:t>
            </a:r>
            <a:endParaRPr lang="en-IN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Q.15)Shortcut</a:t>
            </a:r>
            <a:endParaRPr lang="en-I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67544" y="2348880"/>
                <a:ext cx="8496944" cy="7828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800" b="1" i="1"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2800" b="1" i="1"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sz="2800" b="1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b="1" i="1" smtClean="0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IN" sz="28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IN" sz="2800" b="1" i="1" smtClean="0">
                                <a:latin typeface="Cambria Math"/>
                              </a:rPr>
                              <m:t>𝒅𝒊𝒇𝒇𝒆𝒓𝒆𝒏𝒄𝒆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𝒃𝒆𝒕𝒘𝒆𝒆𝒏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𝟐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𝒔𝒑𝒆𝒆𝒅𝒔</m:t>
                            </m:r>
                          </m:e>
                        </m:d>
                        <m:r>
                          <a:rPr lang="en-IN" sz="2800" b="1" i="1" smtClean="0">
                            <a:latin typeface="Cambria Math"/>
                          </a:rPr>
                          <m:t>  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×  (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𝒑𝒓𝒐𝒅𝒖𝒄𝒕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𝒐𝒇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𝟐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𝒕𝒊𝒎𝒆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𝒕𝒂𝒌𝒆𝒏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IN" sz="2800" b="1" i="1" smtClean="0">
                            <a:latin typeface="Cambria Math"/>
                          </a:rPr>
                          <m:t>𝒅𝒊𝒇𝒇𝒆𝒓𝒏𝒄𝒆</m:t>
                        </m:r>
                        <m:r>
                          <a:rPr lang="en-IN" sz="2800" b="1" i="1" smtClean="0">
                            <a:latin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</a:rPr>
                          <m:t>𝒃𝒆𝒕𝒘𝒆𝒆𝒏</m:t>
                        </m:r>
                        <m:r>
                          <a:rPr lang="en-IN" sz="2800" b="1" i="1" smtClean="0">
                            <a:latin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</a:rPr>
                          <m:t>𝟐</m:t>
                        </m:r>
                        <m:r>
                          <a:rPr lang="en-IN" sz="2800" b="1" i="1" smtClean="0">
                            <a:latin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</a:rPr>
                          <m:t>𝒕𝒊𝒎𝒆</m:t>
                        </m:r>
                        <m:r>
                          <a:rPr lang="en-IN" sz="2800" b="1" i="1" smtClean="0">
                            <a:latin typeface="Cambria Math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/>
                          </a:rPr>
                          <m:t>𝒕𝒂𝒌𝒆𝒏</m:t>
                        </m:r>
                      </m:den>
                    </m:f>
                  </m:oMath>
                </a14:m>
                <a:endParaRPr lang="en-IN" sz="2800" b="1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348880"/>
                <a:ext cx="8496944" cy="782843"/>
              </a:xfrm>
              <a:prstGeom prst="rect">
                <a:avLst/>
              </a:prstGeom>
              <a:blipFill rotWithShape="1">
                <a:blip r:embed="rId2"/>
                <a:stretch>
                  <a:fillRect b="-22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411760" y="3717032"/>
                <a:ext cx="3888432" cy="902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800" b="1" i="1"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2800" b="1" i="1"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sz="2800" b="1" dirty="0"/>
                  <a:t> </a:t>
                </a:r>
                <a:r>
                  <a:rPr lang="en-IN" sz="2800" b="1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IN" sz="2800" b="1" i="1" smtClean="0">
                            <a:latin typeface="Cambria Math"/>
                          </a:rPr>
                          <m:t>  </m:t>
                        </m:r>
                        <m:d>
                          <m:dPr>
                            <m:ctrlPr>
                              <a:rPr lang="en-IN" sz="28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IN" sz="2800" b="1" i="1" smtClean="0">
                                <a:latin typeface="Cambria Math"/>
                              </a:rPr>
                              <m:t>𝟖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 −</m:t>
                            </m:r>
                            <m:r>
                              <a:rPr lang="en-IN" sz="2800" b="1" i="1" smtClean="0">
                                <a:latin typeface="Cambria Math"/>
                              </a:rPr>
                              <m:t>𝟒</m:t>
                            </m:r>
                          </m:e>
                        </m:d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× </m:t>
                        </m:r>
                        <m:f>
                          <m:fPr>
                            <m:ctrlPr>
                              <a:rPr lang="en-IN" sz="2800" b="1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IN" sz="2800" b="1" i="1" smtClean="0">
                                <a:latin typeface="Cambria Math"/>
                                <a:ea typeface="Cambria Math"/>
                              </a:rPr>
                              <m:t>𝟓</m:t>
                            </m:r>
                          </m:num>
                          <m:den>
                            <m:r>
                              <a:rPr lang="en-IN" sz="2800" b="1" i="1" smtClean="0">
                                <a:latin typeface="Cambria Math"/>
                                <a:ea typeface="Cambria Math"/>
                              </a:rPr>
                              <m:t>𝟏𝟖</m:t>
                            </m:r>
                          </m:den>
                        </m:f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  ×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𝟏𝟖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  ×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𝟐𝟎</m:t>
                        </m:r>
                        <m:r>
                          <a:rPr lang="en-IN" sz="2800" b="1" i="1" smtClean="0">
                            <a:latin typeface="Cambria Math"/>
                            <a:ea typeface="Cambria Math"/>
                          </a:rPr>
                          <m:t>  </m:t>
                        </m:r>
                      </m:num>
                      <m:den>
                        <m:r>
                          <a:rPr lang="en-IN" sz="2800" b="1" i="1" smtClean="0">
                            <a:latin typeface="Cambria Math"/>
                          </a:rPr>
                          <m:t>𝟐𝟎</m:t>
                        </m:r>
                        <m:r>
                          <a:rPr lang="en-IN" sz="2800" b="1" i="1" smtClean="0">
                            <a:latin typeface="Cambria Math"/>
                          </a:rPr>
                          <m:t> −</m:t>
                        </m:r>
                        <m:r>
                          <a:rPr lang="en-IN" sz="2800" b="1" i="1" smtClean="0">
                            <a:latin typeface="Cambria Math"/>
                          </a:rPr>
                          <m:t>𝟏𝟖</m:t>
                        </m:r>
                      </m:den>
                    </m:f>
                  </m:oMath>
                </a14:m>
                <a:endParaRPr lang="en-IN" sz="28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3717032"/>
                <a:ext cx="3888432" cy="902363"/>
              </a:xfrm>
              <a:prstGeom prst="rect">
                <a:avLst/>
              </a:prstGeom>
              <a:blipFill rotWithShape="1">
                <a:blip r:embed="rId3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275856" y="5373216"/>
                <a:ext cx="23762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6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36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IN" sz="36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sz="3600" b="1" dirty="0" smtClean="0">
                    <a:solidFill>
                      <a:srgbClr val="00B050"/>
                    </a:solidFill>
                  </a:rPr>
                  <a:t> = 200 m</a:t>
                </a:r>
                <a:endParaRPr lang="en-IN" sz="36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5373216"/>
                <a:ext cx="2376264" cy="646331"/>
              </a:xfrm>
              <a:prstGeom prst="rect">
                <a:avLst/>
              </a:prstGeom>
              <a:blipFill rotWithShape="1">
                <a:blip r:embed="rId4"/>
                <a:stretch>
                  <a:fillRect t="-14151" r="-1538" b="-349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6359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en-US" dirty="0" smtClean="0"/>
              <a:t>	Two </a:t>
            </a:r>
            <a:r>
              <a:rPr lang="en-US" dirty="0"/>
              <a:t>stations A and B are 110 km apart on a straight line. One train starts from A at 7 </a:t>
            </a:r>
            <a:r>
              <a:rPr lang="en-US" dirty="0" smtClean="0"/>
              <a:t>a.m. </a:t>
            </a:r>
            <a:r>
              <a:rPr lang="en-US" dirty="0"/>
              <a:t>and travels towards  B at 20 </a:t>
            </a:r>
            <a:r>
              <a:rPr lang="en-US" dirty="0" smtClean="0"/>
              <a:t>km/h</a:t>
            </a:r>
            <a:r>
              <a:rPr lang="en-US" dirty="0"/>
              <a:t>. Another train starts from B at 8 a.m. and travels towards A at a speed of </a:t>
            </a:r>
            <a:r>
              <a:rPr lang="en-US" dirty="0" smtClean="0"/>
              <a:t>              25 km/h</a:t>
            </a:r>
            <a:r>
              <a:rPr lang="en-US" dirty="0"/>
              <a:t>. At what they will </a:t>
            </a:r>
            <a:r>
              <a:rPr lang="en-US" dirty="0" smtClean="0"/>
              <a:t>meet each other?</a:t>
            </a:r>
            <a:endParaRPr lang="en-IN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a)9 </a:t>
            </a:r>
            <a:r>
              <a:rPr lang="en-US" dirty="0"/>
              <a:t>a.m.		</a:t>
            </a:r>
            <a:r>
              <a:rPr lang="en-US" dirty="0" smtClean="0"/>
              <a:t>	b)10 </a:t>
            </a:r>
            <a:r>
              <a:rPr lang="en-US" dirty="0"/>
              <a:t>a.m.		c)11 a.m.		</a:t>
            </a:r>
            <a:r>
              <a:rPr lang="en-US" dirty="0" smtClean="0"/>
              <a:t>	d)10.30 </a:t>
            </a:r>
            <a:r>
              <a:rPr lang="en-US" dirty="0"/>
              <a:t>a.m.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Q.16)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07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en-US" dirty="0" smtClean="0"/>
              <a:t>	Two </a:t>
            </a:r>
            <a:r>
              <a:rPr lang="en-US" dirty="0"/>
              <a:t>stations </a:t>
            </a:r>
            <a:r>
              <a:rPr lang="en-US" dirty="0" smtClean="0"/>
              <a:t>P </a:t>
            </a:r>
            <a:r>
              <a:rPr lang="en-US" dirty="0"/>
              <a:t>and </a:t>
            </a:r>
            <a:r>
              <a:rPr lang="en-US" dirty="0" smtClean="0"/>
              <a:t>Q </a:t>
            </a:r>
            <a:r>
              <a:rPr lang="en-US" dirty="0"/>
              <a:t>are </a:t>
            </a:r>
            <a:r>
              <a:rPr lang="en-US" dirty="0" smtClean="0"/>
              <a:t>420 </a:t>
            </a:r>
            <a:r>
              <a:rPr lang="en-US" dirty="0"/>
              <a:t>km apart on a straight line. One train starts from A at </a:t>
            </a:r>
            <a:r>
              <a:rPr lang="en-US" dirty="0" smtClean="0"/>
              <a:t>6 a.m. </a:t>
            </a:r>
            <a:r>
              <a:rPr lang="en-US" dirty="0"/>
              <a:t>and travels towards  B at </a:t>
            </a:r>
            <a:r>
              <a:rPr lang="en-US" dirty="0" smtClean="0"/>
              <a:t> 40 km/h</a:t>
            </a:r>
            <a:r>
              <a:rPr lang="en-US" dirty="0"/>
              <a:t>. Another train starts from B at </a:t>
            </a:r>
            <a:r>
              <a:rPr lang="en-US" dirty="0" smtClean="0"/>
              <a:t>7.30 </a:t>
            </a:r>
            <a:r>
              <a:rPr lang="en-US" dirty="0"/>
              <a:t>a.m. and travels towards A at a speed of </a:t>
            </a:r>
            <a:r>
              <a:rPr lang="en-US" dirty="0" smtClean="0"/>
              <a:t>              50 km/h</a:t>
            </a:r>
            <a:r>
              <a:rPr lang="en-US" dirty="0"/>
              <a:t>. At what they will </a:t>
            </a:r>
            <a:r>
              <a:rPr lang="en-US" dirty="0" smtClean="0"/>
              <a:t>meet each other?</a:t>
            </a:r>
            <a:endParaRPr lang="en-IN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a)9.30 </a:t>
            </a:r>
            <a:r>
              <a:rPr lang="en-US" dirty="0"/>
              <a:t>a.m.		</a:t>
            </a:r>
            <a:r>
              <a:rPr lang="en-US" dirty="0" smtClean="0"/>
              <a:t>	b)10 </a:t>
            </a:r>
            <a:r>
              <a:rPr lang="en-US" dirty="0"/>
              <a:t>a.m.		c)11 a.m.		</a:t>
            </a:r>
            <a:r>
              <a:rPr lang="en-US" dirty="0" smtClean="0"/>
              <a:t>	d)11.30 </a:t>
            </a:r>
            <a:r>
              <a:rPr lang="en-US" dirty="0"/>
              <a:t>a.m.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Q.17)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288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en-IN" dirty="0" smtClean="0"/>
              <a:t>	</a:t>
            </a:r>
            <a:r>
              <a:rPr lang="en-US" dirty="0" smtClean="0"/>
              <a:t>A </a:t>
            </a:r>
            <a:r>
              <a:rPr lang="en-US" dirty="0"/>
              <a:t>train starts from station P at 11 am and reaches station Q at 12 Noon. While an another train starts from station Q at 11 am and reaches station P at 12.30 pm. At what time these two trains will meet each other?</a:t>
            </a:r>
            <a:endParaRPr lang="en-IN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 smtClean="0"/>
              <a:t>a)11.36 </a:t>
            </a:r>
            <a:r>
              <a:rPr lang="en-US" dirty="0" smtClean="0"/>
              <a:t>am</a:t>
            </a:r>
            <a:r>
              <a:rPr lang="en-US" dirty="0"/>
              <a:t>		</a:t>
            </a:r>
            <a:r>
              <a:rPr lang="en-US" dirty="0" smtClean="0"/>
              <a:t>	b)11.42 </a:t>
            </a:r>
            <a:r>
              <a:rPr lang="en-US" dirty="0"/>
              <a:t>am </a:t>
            </a:r>
            <a:r>
              <a:rPr lang="en-US" dirty="0"/>
              <a:t>		c)11.24 </a:t>
            </a:r>
            <a:r>
              <a:rPr lang="en-US" dirty="0"/>
              <a:t>am </a:t>
            </a:r>
            <a:r>
              <a:rPr lang="en-US" dirty="0"/>
              <a:t>		</a:t>
            </a:r>
            <a:r>
              <a:rPr lang="en-US" dirty="0" smtClean="0"/>
              <a:t>	d)11.50 </a:t>
            </a:r>
            <a:r>
              <a:rPr lang="en-US" dirty="0"/>
              <a:t>am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Q.18)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867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en-US" dirty="0" smtClean="0"/>
              <a:t>	A </a:t>
            </a:r>
            <a:r>
              <a:rPr lang="en-US" dirty="0"/>
              <a:t>train starts from Chennai at 6 am and reaches Kovai at 11 am. While an another train starts from Kovai at 6 am and reaches Chennai at 1 pm. At what time these two trains will meet each other?</a:t>
            </a:r>
            <a:endParaRPr lang="en-IN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a)8.40 </a:t>
            </a:r>
            <a:r>
              <a:rPr lang="en-US" dirty="0"/>
              <a:t>am		</a:t>
            </a:r>
            <a:r>
              <a:rPr lang="en-US" dirty="0" smtClean="0"/>
              <a:t>	b)9.30 </a:t>
            </a:r>
            <a:r>
              <a:rPr lang="en-US" dirty="0"/>
              <a:t>am		c)8.55 am		</a:t>
            </a:r>
            <a:r>
              <a:rPr lang="en-US" dirty="0" smtClean="0"/>
              <a:t>	d)</a:t>
            </a:r>
            <a:r>
              <a:rPr lang="en-IN" dirty="0" smtClean="0"/>
              <a:t>7.30 am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Q.19)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917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352</TotalTime>
  <Words>2247</Words>
  <Application>Microsoft Office PowerPoint</Application>
  <PresentationFormat>On-screen Show (4:3)</PresentationFormat>
  <Paragraphs>596</Paragraphs>
  <Slides>54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Hardcover</vt:lpstr>
      <vt:lpstr>Problems on Trains</vt:lpstr>
      <vt:lpstr>Type 1:</vt:lpstr>
      <vt:lpstr>Variables in Type -1 Problems</vt:lpstr>
      <vt:lpstr>Type 1 - Questions</vt:lpstr>
      <vt:lpstr>Q.1)</vt:lpstr>
      <vt:lpstr>Q.1)Explanation</vt:lpstr>
      <vt:lpstr>Q.2)</vt:lpstr>
      <vt:lpstr>Q.2)Explanation</vt:lpstr>
      <vt:lpstr>Type 2:</vt:lpstr>
      <vt:lpstr>Variables in Type -2 Problems</vt:lpstr>
      <vt:lpstr>Type 2 - Questions</vt:lpstr>
      <vt:lpstr>Q.3)</vt:lpstr>
      <vt:lpstr>Q.3)Explanation</vt:lpstr>
      <vt:lpstr>Q.4)</vt:lpstr>
      <vt:lpstr>Q.4)Explanation</vt:lpstr>
      <vt:lpstr>Type 3: </vt:lpstr>
      <vt:lpstr>Variables in Type -3 Problems</vt:lpstr>
      <vt:lpstr>Type 3 - Questions</vt:lpstr>
      <vt:lpstr>Q.5)</vt:lpstr>
      <vt:lpstr>Q.5)Explanation</vt:lpstr>
      <vt:lpstr>Q.6)</vt:lpstr>
      <vt:lpstr>Q.6)Explanation</vt:lpstr>
      <vt:lpstr>Type 4:</vt:lpstr>
      <vt:lpstr>Variables in Type -4 Problems</vt:lpstr>
      <vt:lpstr>Type 4 - Questions</vt:lpstr>
      <vt:lpstr>Q.7)</vt:lpstr>
      <vt:lpstr>Q.7)Explanation</vt:lpstr>
      <vt:lpstr>Q.8)</vt:lpstr>
      <vt:lpstr>Q.8)Explanation</vt:lpstr>
      <vt:lpstr>Combination of  Type 1 &amp; 2 Problems</vt:lpstr>
      <vt:lpstr>Q.9)</vt:lpstr>
      <vt:lpstr>Q.9)Explanation</vt:lpstr>
      <vt:lpstr>Q.10)</vt:lpstr>
      <vt:lpstr>Q.10)Explanation</vt:lpstr>
      <vt:lpstr>Q.11)</vt:lpstr>
      <vt:lpstr>Q.11)Explanation</vt:lpstr>
      <vt:lpstr>Combination of  Type 2 &amp; 2 Problems</vt:lpstr>
      <vt:lpstr>Q.12)</vt:lpstr>
      <vt:lpstr>Q.12)Explanation</vt:lpstr>
      <vt:lpstr>Q.13)</vt:lpstr>
      <vt:lpstr>Q.13)Explanation</vt:lpstr>
      <vt:lpstr>Combination of  Type 3 &amp; 3 Problems</vt:lpstr>
      <vt:lpstr>Q.14)</vt:lpstr>
      <vt:lpstr>Q.14)Explanation</vt:lpstr>
      <vt:lpstr>Q.14)Explanation…</vt:lpstr>
      <vt:lpstr>Q.14)Shortcut</vt:lpstr>
      <vt:lpstr>Q.15)</vt:lpstr>
      <vt:lpstr>Q.15)Explanation</vt:lpstr>
      <vt:lpstr>Q.15)Explanation…</vt:lpstr>
      <vt:lpstr>Q.15)Shortcut</vt:lpstr>
      <vt:lpstr>Q.16)</vt:lpstr>
      <vt:lpstr>Q.17)</vt:lpstr>
      <vt:lpstr>Q.18)</vt:lpstr>
      <vt:lpstr>Q.19)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Combination of 1 &amp; 2</dc:title>
  <dc:creator>SENTHIL NATHAN V</dc:creator>
  <cp:lastModifiedBy>SENTHIL NATHAN V</cp:lastModifiedBy>
  <cp:revision>105</cp:revision>
  <dcterms:created xsi:type="dcterms:W3CDTF">2018-05-01T13:01:55Z</dcterms:created>
  <dcterms:modified xsi:type="dcterms:W3CDTF">2018-05-02T18:54:25Z</dcterms:modified>
</cp:coreProperties>
</file>